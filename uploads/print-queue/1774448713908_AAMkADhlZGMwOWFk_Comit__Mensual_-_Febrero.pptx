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3" r:id="rId15"/>
    <p:sldId id="269" r:id="rId16"/>
    <p:sldId id="270" r:id="rId17"/>
    <p:sldId id="271" r:id="rId18"/>
    <p:sldId id="272" r:id="rId19"/>
  </p:sldIdLst>
  <p:sldSz cx="18288000" cy="10287000"/>
  <p:notesSz cx="6858000" cy="9144000"/>
  <p:embeddedFontLst>
    <p:embeddedFont>
      <p:font typeface="Calibri" panose="020F0502020204030204" pitchFamily="34" charset="0"/>
      <p:regular r:id="rId20"/>
      <p:bold r:id="rId21"/>
      <p:italic r:id="rId22"/>
      <p:boldItalic r:id="rId23"/>
    </p:embeddedFont>
    <p:embeddedFont>
      <p:font typeface="Lovelo" panose="020B0604020202020204" charset="0"/>
      <p:regular r:id="rId24"/>
    </p:embeddedFont>
    <p:embeddedFont>
      <p:font typeface="Muli" panose="020B0604020202020204" charset="0"/>
      <p:regular r:id="rId25"/>
    </p:embeddedFont>
    <p:embeddedFont>
      <p:font typeface="Muli Bold" panose="020B0604020202020204" charset="0"/>
      <p:regular r:id="rId26"/>
    </p:embeddedFont>
    <p:embeddedFont>
      <p:font typeface="Poppins" panose="020B0604020202020204" charset="0"/>
      <p:regular r:id="rId27"/>
    </p:embeddedFont>
    <p:embeddedFont>
      <p:font typeface="Poppins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622" autoAdjust="0"/>
  </p:normalViewPr>
  <p:slideViewPr>
    <p:cSldViewPr>
      <p:cViewPr varScale="1">
        <p:scale>
          <a:sx n="49" d="100"/>
          <a:sy n="49" d="100"/>
        </p:scale>
        <p:origin x="384"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svg"/><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integratelcorp.sharepoint.com/:x:/r/sites/WorkplaceTI.TMHTP/_layouts/15/Doc.aspx?sourcedoc=%7B668DFBF4-24AB-4F91-8757-F381E69FCBA6%7D&amp;file=Gantt%20-%20Objetivos%202026%20(Unificado).xlsx&amp;action=default&amp;mobileredirect=true" TargetMode="External"/><Relationship Id="rId5" Type="http://schemas.openxmlformats.org/officeDocument/2006/relationships/image" Target="../media/image2.svg"/><Relationship Id="rId15" Type="http://schemas.openxmlformats.org/officeDocument/2006/relationships/image" Target="../media/image13.svg"/><Relationship Id="rId10"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8.svg"/><Relationship Id="rId1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1.svg"/><Relationship Id="rId18" Type="http://schemas.openxmlformats.org/officeDocument/2006/relationships/image" Target="../media/image18.svg"/><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10.png"/><Relationship Id="rId17" Type="http://schemas.openxmlformats.org/officeDocument/2006/relationships/image" Target="../media/image17.png"/><Relationship Id="rId2" Type="http://schemas.openxmlformats.org/officeDocument/2006/relationships/image" Target="../media/image3.png"/><Relationship Id="rId16" Type="http://schemas.openxmlformats.org/officeDocument/2006/relationships/slide" Target="slide18.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integratelcorp.sharepoint.com/:x:/r/sites/WorkplaceTI.TMHTP/_layouts/15/Doc.aspx?sourcedoc=%7B668DFBF4-24AB-4F91-8757-F381E69FCBA6%7D&amp;file=Gantt%20-%20Objetivos%202026%20(Unificado).xlsx&amp;action=default&amp;mobileredirect=true" TargetMode="External"/><Relationship Id="rId5" Type="http://schemas.openxmlformats.org/officeDocument/2006/relationships/image" Target="../media/image2.svg"/><Relationship Id="rId15" Type="http://schemas.openxmlformats.org/officeDocument/2006/relationships/image" Target="../media/image13.svg"/><Relationship Id="rId10" Type="http://schemas.openxmlformats.org/officeDocument/2006/relationships/image" Target="../media/image16.svg"/><Relationship Id="rId4" Type="http://schemas.openxmlformats.org/officeDocument/2006/relationships/image" Target="../media/image1.png"/><Relationship Id="rId9" Type="http://schemas.openxmlformats.org/officeDocument/2006/relationships/image" Target="../media/image15.pn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1.svg"/><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1.svg"/><Relationship Id="rId5" Type="http://schemas.openxmlformats.org/officeDocument/2006/relationships/image" Target="../media/image2.svg"/><Relationship Id="rId15" Type="http://schemas.openxmlformats.org/officeDocument/2006/relationships/image" Target="../media/image13.svg"/><Relationship Id="rId10" Type="http://schemas.openxmlformats.org/officeDocument/2006/relationships/image" Target="../media/image10.png"/><Relationship Id="rId4" Type="http://schemas.openxmlformats.org/officeDocument/2006/relationships/image" Target="../media/image1.png"/><Relationship Id="rId9" Type="http://schemas.openxmlformats.org/officeDocument/2006/relationships/hyperlink" Target="https://integratelcorp.sharepoint.com/:x:/r/sites/WorkplaceTI.TMHTP/_layouts/15/Doc.aspx?sourcedoc=%7B668DFBF4-24AB-4F91-8757-F381E69FCBA6%7D&amp;file=Gantt%20-%20Objetivos%202026%20(Unificado).xlsx&amp;action=default&amp;mobileredirect=true" TargetMode="External"/><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1.svg"/><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integratelcorp.sharepoint.com/:x:/r/sites/WorkplaceTI.TMHTP/_layouts/15/Doc.aspx?sourcedoc=%7B668DFBF4-24AB-4F91-8757-F381E69FCBA6%7D&amp;file=Gantt%20-%20Objetivos%202026%20(Unificado).xlsx&amp;action=default&amp;mobileredirect=true" TargetMode="External"/><Relationship Id="rId5" Type="http://schemas.openxmlformats.org/officeDocument/2006/relationships/image" Target="../media/image2.svg"/><Relationship Id="rId10" Type="http://schemas.openxmlformats.org/officeDocument/2006/relationships/image" Target="../media/image24.svg"/><Relationship Id="rId4" Type="http://schemas.openxmlformats.org/officeDocument/2006/relationships/image" Target="../media/image1.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11.svg"/><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integratelcorp.sharepoint.com/:x:/r/sites/WorkplaceTI.TMHTP/_layouts/15/Doc.aspx?sourcedoc=%7B668DFBF4-24AB-4F91-8757-F381E69FCBA6%7D&amp;file=Gantt%20-%20Objetivos%202026%20(Unificado).xlsx&amp;action=default&amp;mobileredirect=true" TargetMode="External"/><Relationship Id="rId5" Type="http://schemas.openxmlformats.org/officeDocument/2006/relationships/image" Target="../media/image2.svg"/><Relationship Id="rId15" Type="http://schemas.openxmlformats.org/officeDocument/2006/relationships/image" Target="../media/image13.svg"/><Relationship Id="rId10" Type="http://schemas.openxmlformats.org/officeDocument/2006/relationships/image" Target="../media/image27.svg"/><Relationship Id="rId4" Type="http://schemas.openxmlformats.org/officeDocument/2006/relationships/image" Target="../media/image1.png"/><Relationship Id="rId9" Type="http://schemas.openxmlformats.org/officeDocument/2006/relationships/image" Target="../media/image26.png"/><Relationship Id="rId1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hyperlink" Target="https://integratelcorp.sharepoint.com/:x:/r/sites/WorkplaceTI.TMHTP/_layouts/15/Doc.aspx?sourcedoc=%7B668DFBF4-24AB-4F91-8757-F381E69FCBA6%7D&amp;file=Gantt%20-%20Objetivos%202026%20(Unificado).xlsx&amp;action=default&amp;mobileredirect=true" TargetMode="External"/><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3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31.png"/><Relationship Id="rId5" Type="http://schemas.openxmlformats.org/officeDocument/2006/relationships/image" Target="../media/image2.svg"/><Relationship Id="rId15" Type="http://schemas.openxmlformats.org/officeDocument/2006/relationships/image" Target="../media/image11.svg"/><Relationship Id="rId10" Type="http://schemas.openxmlformats.org/officeDocument/2006/relationships/image" Target="../media/image30.png"/><Relationship Id="rId4" Type="http://schemas.openxmlformats.org/officeDocument/2006/relationships/image" Target="../media/image1.png"/><Relationship Id="rId9" Type="http://schemas.openxmlformats.org/officeDocument/2006/relationships/image" Target="../media/image29.png"/><Relationship Id="rId1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11.svg"/><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10.png"/><Relationship Id="rId2" Type="http://schemas.openxmlformats.org/officeDocument/2006/relationships/image" Target="../media/image3.png"/><Relationship Id="rId16"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integratelcorp.sharepoint.com/:x:/r/sites/WorkplaceTI.TMHTP/_layouts/15/Doc.aspx?sourcedoc=%7B668DFBF4-24AB-4F91-8757-F381E69FCBA6%7D&amp;file=Gantt%20-%20Objetivos%202026%20(Unificado).xlsx&amp;action=default&amp;mobileredirect=true" TargetMode="External"/><Relationship Id="rId5" Type="http://schemas.openxmlformats.org/officeDocument/2006/relationships/image" Target="../media/image2.svg"/><Relationship Id="rId15" Type="http://schemas.openxmlformats.org/officeDocument/2006/relationships/image" Target="../media/image17.png"/><Relationship Id="rId10" Type="http://schemas.openxmlformats.org/officeDocument/2006/relationships/image" Target="../media/image35.svg"/><Relationship Id="rId4" Type="http://schemas.openxmlformats.org/officeDocument/2006/relationships/image" Target="../media/image1.png"/><Relationship Id="rId9" Type="http://schemas.openxmlformats.org/officeDocument/2006/relationships/image" Target="../media/image34.png"/><Relationship Id="rId14" Type="http://schemas.openxmlformats.org/officeDocument/2006/relationships/slide" Target="slide15.xml"/></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1.svg"/><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integratelcorp.sharepoint.com/:x:/r/sites/WorkplaceTI.TMHTP/_layouts/15/Doc.aspx?sourcedoc=%7B668DFBF4-24AB-4F91-8757-F381E69FCBA6%7D&amp;file=Gantt%20-%20Objetivos%202026%20(Unificado).xlsx&amp;action=default&amp;mobileredirect=true" TargetMode="External"/><Relationship Id="rId5" Type="http://schemas.openxmlformats.org/officeDocument/2006/relationships/image" Target="../media/image2.svg"/><Relationship Id="rId15" Type="http://schemas.openxmlformats.org/officeDocument/2006/relationships/image" Target="../media/image13.svg"/><Relationship Id="rId10" Type="http://schemas.openxmlformats.org/officeDocument/2006/relationships/image" Target="../media/image38.svg"/><Relationship Id="rId4" Type="http://schemas.openxmlformats.org/officeDocument/2006/relationships/image" Target="../media/image1.png"/><Relationship Id="rId9" Type="http://schemas.openxmlformats.org/officeDocument/2006/relationships/image" Target="../media/image37.png"/><Relationship Id="rId1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11.svg"/><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10.png"/><Relationship Id="rId2" Type="http://schemas.openxmlformats.org/officeDocument/2006/relationships/image" Target="../media/image3.png"/><Relationship Id="rId16"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integratelcorp.sharepoint.com/:x:/r/sites/WorkplaceTI.TMHTP/_layouts/15/Doc.aspx?sourcedoc=%7B668DFBF4-24AB-4F91-8757-F381E69FCBA6%7D&amp;file=Gantt%20-%20Objetivos%202026%20(Unificado).xlsx&amp;action=default&amp;mobileredirect=true" TargetMode="External"/><Relationship Id="rId5" Type="http://schemas.openxmlformats.org/officeDocument/2006/relationships/image" Target="../media/image2.svg"/><Relationship Id="rId15" Type="http://schemas.openxmlformats.org/officeDocument/2006/relationships/image" Target="../media/image17.png"/><Relationship Id="rId10" Type="http://schemas.openxmlformats.org/officeDocument/2006/relationships/image" Target="../media/image41.svg"/><Relationship Id="rId4" Type="http://schemas.openxmlformats.org/officeDocument/2006/relationships/image" Target="../media/image1.png"/><Relationship Id="rId9" Type="http://schemas.openxmlformats.org/officeDocument/2006/relationships/image" Target="../media/image40.png"/><Relationship Id="rId14" Type="http://schemas.openxmlformats.org/officeDocument/2006/relationships/slide" Target="slide17.xml"/></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11.svg"/><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integratelcorp.sharepoint.com/:x:/r/sites/WorkplaceTI.TMHTP/_layouts/15/Doc.aspx?sourcedoc=%7B668DFBF4-24AB-4F91-8757-F381E69FCBA6%7D&amp;file=Gantt%20-%20Objetivos%202026%20(Unificado).xlsx&amp;action=default&amp;mobileredirect=true" TargetMode="External"/><Relationship Id="rId5" Type="http://schemas.openxmlformats.org/officeDocument/2006/relationships/image" Target="../media/image2.svg"/><Relationship Id="rId10" Type="http://schemas.openxmlformats.org/officeDocument/2006/relationships/image" Target="../media/image44.svg"/><Relationship Id="rId4" Type="http://schemas.openxmlformats.org/officeDocument/2006/relationships/image" Target="../media/image1.png"/><Relationship Id="rId9" Type="http://schemas.openxmlformats.org/officeDocument/2006/relationships/image" Target="../media/image43.png"/></Relationships>
</file>

<file path=ppt/slides/_rels/slide13.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11.svg"/><Relationship Id="rId3" Type="http://schemas.openxmlformats.org/officeDocument/2006/relationships/image" Target="../media/image4.svg"/><Relationship Id="rId7" Type="http://schemas.openxmlformats.org/officeDocument/2006/relationships/image" Target="../media/image6.svg"/><Relationship Id="rId12"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integratelcorp.sharepoint.com/:x:/r/sites/WorkplaceTI.TMHTP/_layouts/15/Doc.aspx?sourcedoc=%7B668DFBF4-24AB-4F91-8757-F381E69FCBA6%7D&amp;file=Gantt%20-%20Objetivos%202026%20(Unificado).xlsx&amp;action=default&amp;mobileredirect=true" TargetMode="External"/><Relationship Id="rId5" Type="http://schemas.openxmlformats.org/officeDocument/2006/relationships/image" Target="../media/image2.svg"/><Relationship Id="rId10" Type="http://schemas.openxmlformats.org/officeDocument/2006/relationships/image" Target="../media/image38.svg"/><Relationship Id="rId4" Type="http://schemas.openxmlformats.org/officeDocument/2006/relationships/image" Target="../media/image1.png"/><Relationship Id="rId9"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7.xml"/><Relationship Id="rId5" Type="http://schemas.openxmlformats.org/officeDocument/2006/relationships/image" Target="../media/image49.sv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4.svg"/><Relationship Id="rId7" Type="http://schemas.openxmlformats.org/officeDocument/2006/relationships/image" Target="../media/image51.svg"/><Relationship Id="rId12" Type="http://schemas.openxmlformats.org/officeDocument/2006/relationships/image" Target="../media/image1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17.png"/><Relationship Id="rId5" Type="http://schemas.openxmlformats.org/officeDocument/2006/relationships/image" Target="../media/image2.svg"/><Relationship Id="rId10" Type="http://schemas.openxmlformats.org/officeDocument/2006/relationships/slide" Target="slide16.xml"/><Relationship Id="rId4" Type="http://schemas.openxmlformats.org/officeDocument/2006/relationships/image" Target="../media/image1.png"/><Relationship Id="rId9" Type="http://schemas.openxmlformats.org/officeDocument/2006/relationships/image" Target="../media/image38.svg"/></Relationships>
</file>

<file path=ppt/slides/_rels/slide1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4.svg"/><Relationship Id="rId7" Type="http://schemas.openxmlformats.org/officeDocument/2006/relationships/image" Target="../media/image51.svg"/><Relationship Id="rId12" Type="http://schemas.openxmlformats.org/officeDocument/2006/relationships/image" Target="../media/image1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17.png"/><Relationship Id="rId5" Type="http://schemas.openxmlformats.org/officeDocument/2006/relationships/image" Target="../media/image2.svg"/><Relationship Id="rId10" Type="http://schemas.openxmlformats.org/officeDocument/2006/relationships/slide" Target="slide9.xml"/><Relationship Id="rId4" Type="http://schemas.openxmlformats.org/officeDocument/2006/relationships/image" Target="../media/image1.png"/><Relationship Id="rId9" Type="http://schemas.openxmlformats.org/officeDocument/2006/relationships/image" Target="../media/image38.svg"/></Relationships>
</file>

<file path=ppt/slides/_rels/slide1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svg"/><Relationship Id="rId7" Type="http://schemas.openxmlformats.org/officeDocument/2006/relationships/image" Target="../media/image51.svg"/><Relationship Id="rId12" Type="http://schemas.openxmlformats.org/officeDocument/2006/relationships/image" Target="../media/image1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17.png"/><Relationship Id="rId5" Type="http://schemas.openxmlformats.org/officeDocument/2006/relationships/image" Target="../media/image2.svg"/><Relationship Id="rId10" Type="http://schemas.openxmlformats.org/officeDocument/2006/relationships/slide" Target="slide11.xml"/><Relationship Id="rId4" Type="http://schemas.openxmlformats.org/officeDocument/2006/relationships/image" Target="../media/image1.png"/><Relationship Id="rId9" Type="http://schemas.openxmlformats.org/officeDocument/2006/relationships/image" Target="../media/image41.svg"/></Relationships>
</file>

<file path=ppt/slides/_rels/slide18.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18.svg"/><Relationship Id="rId3" Type="http://schemas.openxmlformats.org/officeDocument/2006/relationships/image" Target="../media/image4.svg"/><Relationship Id="rId7" Type="http://schemas.openxmlformats.org/officeDocument/2006/relationships/image" Target="../media/image51.svg"/><Relationship Id="rId12"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slide" Target="slide4.xml"/><Relationship Id="rId5" Type="http://schemas.openxmlformats.org/officeDocument/2006/relationships/image" Target="../media/image2.svg"/><Relationship Id="rId10" Type="http://schemas.openxmlformats.org/officeDocument/2006/relationships/image" Target="../media/image16.svg"/><Relationship Id="rId4" Type="http://schemas.openxmlformats.org/officeDocument/2006/relationships/image" Target="../media/image1.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9EF4"/>
        </a:solidFill>
        <a:effectLst/>
      </p:bgPr>
    </p:bg>
    <p:spTree>
      <p:nvGrpSpPr>
        <p:cNvPr id="1" name=""/>
        <p:cNvGrpSpPr/>
        <p:nvPr/>
      </p:nvGrpSpPr>
      <p:grpSpPr>
        <a:xfrm>
          <a:off x="0" y="0"/>
          <a:ext cx="0" cy="0"/>
          <a:chOff x="0" y="0"/>
          <a:chExt cx="0" cy="0"/>
        </a:xfrm>
      </p:grpSpPr>
      <p:grpSp>
        <p:nvGrpSpPr>
          <p:cNvPr id="2" name="Group 2"/>
          <p:cNvGrpSpPr/>
          <p:nvPr/>
        </p:nvGrpSpPr>
        <p:grpSpPr>
          <a:xfrm>
            <a:off x="11267399" y="329174"/>
            <a:ext cx="6658832" cy="9628651"/>
            <a:chOff x="0" y="0"/>
            <a:chExt cx="8878443" cy="12838201"/>
          </a:xfrm>
        </p:grpSpPr>
        <p:sp>
          <p:nvSpPr>
            <p:cNvPr id="3" name="Freeform 3"/>
            <p:cNvSpPr/>
            <p:nvPr/>
          </p:nvSpPr>
          <p:spPr>
            <a:xfrm>
              <a:off x="0" y="0"/>
              <a:ext cx="8878443" cy="12838176"/>
            </a:xfrm>
            <a:custGeom>
              <a:avLst/>
              <a:gdLst/>
              <a:ahLst/>
              <a:cxnLst/>
              <a:rect l="l" t="t" r="r" b="b"/>
              <a:pathLst>
                <a:path w="8878443" h="12838176">
                  <a:moveTo>
                    <a:pt x="8387842" y="12838176"/>
                  </a:moveTo>
                  <a:lnTo>
                    <a:pt x="490601" y="12838176"/>
                  </a:lnTo>
                  <a:cubicBezTo>
                    <a:pt x="220218" y="12838176"/>
                    <a:pt x="0" y="12617958"/>
                    <a:pt x="0" y="12347575"/>
                  </a:cubicBezTo>
                  <a:lnTo>
                    <a:pt x="0" y="490601"/>
                  </a:lnTo>
                  <a:cubicBezTo>
                    <a:pt x="0" y="220218"/>
                    <a:pt x="220218" y="0"/>
                    <a:pt x="490601" y="0"/>
                  </a:cubicBezTo>
                  <a:lnTo>
                    <a:pt x="8387842" y="0"/>
                  </a:lnTo>
                  <a:cubicBezTo>
                    <a:pt x="8658099" y="0"/>
                    <a:pt x="8878443" y="220218"/>
                    <a:pt x="8878443" y="490601"/>
                  </a:cubicBezTo>
                  <a:lnTo>
                    <a:pt x="8878443" y="12347575"/>
                  </a:lnTo>
                  <a:cubicBezTo>
                    <a:pt x="8878443" y="12617831"/>
                    <a:pt x="8658225" y="12838176"/>
                    <a:pt x="8387842" y="12838176"/>
                  </a:cubicBezTo>
                  <a:close/>
                </a:path>
              </a:pathLst>
            </a:custGeom>
            <a:solidFill>
              <a:srgbClr val="FFFFFF"/>
            </a:solidFill>
          </p:spPr>
        </p:sp>
      </p:grpSp>
      <p:grpSp>
        <p:nvGrpSpPr>
          <p:cNvPr id="4" name="Group 4"/>
          <p:cNvGrpSpPr/>
          <p:nvPr/>
        </p:nvGrpSpPr>
        <p:grpSpPr>
          <a:xfrm>
            <a:off x="361779" y="329174"/>
            <a:ext cx="10517000" cy="9628651"/>
            <a:chOff x="0" y="0"/>
            <a:chExt cx="14022667" cy="12838201"/>
          </a:xfrm>
        </p:grpSpPr>
        <p:sp>
          <p:nvSpPr>
            <p:cNvPr id="5" name="Freeform 5"/>
            <p:cNvSpPr/>
            <p:nvPr/>
          </p:nvSpPr>
          <p:spPr>
            <a:xfrm>
              <a:off x="0" y="0"/>
              <a:ext cx="14022705" cy="12838176"/>
            </a:xfrm>
            <a:custGeom>
              <a:avLst/>
              <a:gdLst/>
              <a:ahLst/>
              <a:cxnLst/>
              <a:rect l="l" t="t" r="r" b="b"/>
              <a:pathLst>
                <a:path w="14022705" h="12838176">
                  <a:moveTo>
                    <a:pt x="13532104" y="12838176"/>
                  </a:moveTo>
                  <a:lnTo>
                    <a:pt x="490601" y="12838176"/>
                  </a:lnTo>
                  <a:cubicBezTo>
                    <a:pt x="220218" y="12838176"/>
                    <a:pt x="0" y="12617958"/>
                    <a:pt x="0" y="12347575"/>
                  </a:cubicBezTo>
                  <a:lnTo>
                    <a:pt x="0" y="490601"/>
                  </a:lnTo>
                  <a:cubicBezTo>
                    <a:pt x="0" y="220218"/>
                    <a:pt x="220218" y="0"/>
                    <a:pt x="490601" y="0"/>
                  </a:cubicBezTo>
                  <a:lnTo>
                    <a:pt x="13532104" y="0"/>
                  </a:lnTo>
                  <a:cubicBezTo>
                    <a:pt x="13802361" y="0"/>
                    <a:pt x="14022705" y="220218"/>
                    <a:pt x="14022705" y="490601"/>
                  </a:cubicBezTo>
                  <a:lnTo>
                    <a:pt x="14022705" y="12347575"/>
                  </a:lnTo>
                  <a:cubicBezTo>
                    <a:pt x="14022705" y="12617831"/>
                    <a:pt x="13802488" y="12838176"/>
                    <a:pt x="13532104" y="12838176"/>
                  </a:cubicBezTo>
                  <a:close/>
                </a:path>
              </a:pathLst>
            </a:custGeom>
            <a:solidFill>
              <a:srgbClr val="FFFFFF"/>
            </a:solidFill>
          </p:spPr>
        </p:sp>
      </p:grpSp>
      <p:sp>
        <p:nvSpPr>
          <p:cNvPr id="6" name="Freeform 6"/>
          <p:cNvSpPr/>
          <p:nvPr/>
        </p:nvSpPr>
        <p:spPr>
          <a:xfrm>
            <a:off x="1028700"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2">
              <a:extLst>
                <a:ext uri="{96DAC541-7B7A-43D3-8B79-37D633B846F1}">
                  <asvg:svgBlip xmlns:asvg="http://schemas.microsoft.com/office/drawing/2016/SVG/main" r:embed="rId3"/>
                </a:ext>
              </a:extLst>
            </a:blip>
            <a:stretch>
              <a:fillRect t="-542" b="-544"/>
            </a:stretch>
          </a:blipFill>
        </p:spPr>
      </p:sp>
      <p:grpSp>
        <p:nvGrpSpPr>
          <p:cNvPr id="7" name="Group 7"/>
          <p:cNvGrpSpPr/>
          <p:nvPr/>
        </p:nvGrpSpPr>
        <p:grpSpPr>
          <a:xfrm>
            <a:off x="12391615" y="2157698"/>
            <a:ext cx="85725" cy="5946934"/>
            <a:chOff x="0" y="0"/>
            <a:chExt cx="114300" cy="7929245"/>
          </a:xfrm>
        </p:grpSpPr>
        <p:sp>
          <p:nvSpPr>
            <p:cNvPr id="8" name="Freeform 8"/>
            <p:cNvSpPr/>
            <p:nvPr/>
          </p:nvSpPr>
          <p:spPr>
            <a:xfrm>
              <a:off x="0" y="0"/>
              <a:ext cx="114300" cy="7929245"/>
            </a:xfrm>
            <a:custGeom>
              <a:avLst/>
              <a:gdLst/>
              <a:ahLst/>
              <a:cxnLst/>
              <a:rect l="l" t="t" r="r" b="b"/>
              <a:pathLst>
                <a:path w="114300" h="7929245">
                  <a:moveTo>
                    <a:pt x="0" y="7872095"/>
                  </a:moveTo>
                  <a:lnTo>
                    <a:pt x="0" y="57150"/>
                  </a:lnTo>
                  <a:cubicBezTo>
                    <a:pt x="0" y="25527"/>
                    <a:pt x="25527" y="0"/>
                    <a:pt x="57150" y="0"/>
                  </a:cubicBezTo>
                  <a:cubicBezTo>
                    <a:pt x="88773" y="0"/>
                    <a:pt x="114300" y="25527"/>
                    <a:pt x="114300" y="57150"/>
                  </a:cubicBezTo>
                  <a:lnTo>
                    <a:pt x="114300" y="7872095"/>
                  </a:lnTo>
                  <a:cubicBezTo>
                    <a:pt x="114300" y="7903718"/>
                    <a:pt x="88773" y="7929245"/>
                    <a:pt x="57150" y="7929245"/>
                  </a:cubicBezTo>
                  <a:cubicBezTo>
                    <a:pt x="25527" y="7929245"/>
                    <a:pt x="0" y="7903718"/>
                    <a:pt x="0" y="7872095"/>
                  </a:cubicBezTo>
                  <a:close/>
                </a:path>
              </a:pathLst>
            </a:custGeom>
            <a:solidFill>
              <a:srgbClr val="D5D8DB"/>
            </a:solidFill>
          </p:spPr>
        </p:sp>
      </p:grpSp>
      <p:grpSp>
        <p:nvGrpSpPr>
          <p:cNvPr id="9" name="Group 9"/>
          <p:cNvGrpSpPr/>
          <p:nvPr/>
        </p:nvGrpSpPr>
        <p:grpSpPr>
          <a:xfrm>
            <a:off x="12266114" y="3010252"/>
            <a:ext cx="336718" cy="336718"/>
            <a:chOff x="0" y="0"/>
            <a:chExt cx="448958" cy="448958"/>
          </a:xfrm>
        </p:grpSpPr>
        <p:sp>
          <p:nvSpPr>
            <p:cNvPr id="10" name="Freeform 10"/>
            <p:cNvSpPr/>
            <p:nvPr/>
          </p:nvSpPr>
          <p:spPr>
            <a:xfrm>
              <a:off x="0" y="0"/>
              <a:ext cx="449072" cy="448945"/>
            </a:xfrm>
            <a:custGeom>
              <a:avLst/>
              <a:gdLst/>
              <a:ahLst/>
              <a:cxnLst/>
              <a:rect l="l" t="t" r="r" b="b"/>
              <a:pathLst>
                <a:path w="449072" h="448945">
                  <a:moveTo>
                    <a:pt x="224536" y="0"/>
                  </a:moveTo>
                  <a:cubicBezTo>
                    <a:pt x="100457" y="0"/>
                    <a:pt x="0" y="100457"/>
                    <a:pt x="0" y="224536"/>
                  </a:cubicBezTo>
                  <a:cubicBezTo>
                    <a:pt x="0" y="348615"/>
                    <a:pt x="100457" y="448945"/>
                    <a:pt x="224536" y="448945"/>
                  </a:cubicBezTo>
                  <a:cubicBezTo>
                    <a:pt x="348615" y="448945"/>
                    <a:pt x="449072" y="348488"/>
                    <a:pt x="449072" y="224409"/>
                  </a:cubicBezTo>
                  <a:cubicBezTo>
                    <a:pt x="449072" y="100330"/>
                    <a:pt x="348488" y="0"/>
                    <a:pt x="224536" y="0"/>
                  </a:cubicBezTo>
                  <a:close/>
                </a:path>
              </a:pathLst>
            </a:custGeom>
            <a:solidFill>
              <a:srgbClr val="009BF8"/>
            </a:solidFill>
          </p:spPr>
        </p:sp>
      </p:grpSp>
      <p:grpSp>
        <p:nvGrpSpPr>
          <p:cNvPr id="11" name="Group 11"/>
          <p:cNvGrpSpPr/>
          <p:nvPr/>
        </p:nvGrpSpPr>
        <p:grpSpPr>
          <a:xfrm>
            <a:off x="12266114" y="5002997"/>
            <a:ext cx="336718" cy="336718"/>
            <a:chOff x="0" y="0"/>
            <a:chExt cx="448958" cy="448958"/>
          </a:xfrm>
        </p:grpSpPr>
        <p:sp>
          <p:nvSpPr>
            <p:cNvPr id="12" name="Freeform 12"/>
            <p:cNvSpPr/>
            <p:nvPr/>
          </p:nvSpPr>
          <p:spPr>
            <a:xfrm>
              <a:off x="0" y="0"/>
              <a:ext cx="449072" cy="448945"/>
            </a:xfrm>
            <a:custGeom>
              <a:avLst/>
              <a:gdLst/>
              <a:ahLst/>
              <a:cxnLst/>
              <a:rect l="l" t="t" r="r" b="b"/>
              <a:pathLst>
                <a:path w="449072" h="448945">
                  <a:moveTo>
                    <a:pt x="224536" y="0"/>
                  </a:moveTo>
                  <a:cubicBezTo>
                    <a:pt x="100457" y="0"/>
                    <a:pt x="0" y="100457"/>
                    <a:pt x="0" y="224536"/>
                  </a:cubicBezTo>
                  <a:cubicBezTo>
                    <a:pt x="0" y="348615"/>
                    <a:pt x="100457" y="448945"/>
                    <a:pt x="224536" y="448945"/>
                  </a:cubicBezTo>
                  <a:cubicBezTo>
                    <a:pt x="348615" y="448945"/>
                    <a:pt x="449072" y="348488"/>
                    <a:pt x="449072" y="224409"/>
                  </a:cubicBezTo>
                  <a:cubicBezTo>
                    <a:pt x="449072" y="100330"/>
                    <a:pt x="348488" y="0"/>
                    <a:pt x="224536" y="0"/>
                  </a:cubicBezTo>
                  <a:close/>
                </a:path>
              </a:pathLst>
            </a:custGeom>
            <a:solidFill>
              <a:srgbClr val="009BF8"/>
            </a:solidFill>
          </p:spPr>
        </p:sp>
      </p:grpSp>
      <p:grpSp>
        <p:nvGrpSpPr>
          <p:cNvPr id="13" name="Group 13"/>
          <p:cNvGrpSpPr/>
          <p:nvPr/>
        </p:nvGrpSpPr>
        <p:grpSpPr>
          <a:xfrm>
            <a:off x="12266114" y="6995741"/>
            <a:ext cx="336718" cy="336718"/>
            <a:chOff x="0" y="0"/>
            <a:chExt cx="448958" cy="448958"/>
          </a:xfrm>
        </p:grpSpPr>
        <p:sp>
          <p:nvSpPr>
            <p:cNvPr id="14" name="Freeform 14"/>
            <p:cNvSpPr/>
            <p:nvPr/>
          </p:nvSpPr>
          <p:spPr>
            <a:xfrm>
              <a:off x="0" y="0"/>
              <a:ext cx="449072" cy="448945"/>
            </a:xfrm>
            <a:custGeom>
              <a:avLst/>
              <a:gdLst/>
              <a:ahLst/>
              <a:cxnLst/>
              <a:rect l="l" t="t" r="r" b="b"/>
              <a:pathLst>
                <a:path w="449072" h="448945">
                  <a:moveTo>
                    <a:pt x="224536" y="0"/>
                  </a:moveTo>
                  <a:cubicBezTo>
                    <a:pt x="100457" y="0"/>
                    <a:pt x="0" y="100457"/>
                    <a:pt x="0" y="224536"/>
                  </a:cubicBezTo>
                  <a:cubicBezTo>
                    <a:pt x="0" y="348615"/>
                    <a:pt x="100457" y="448945"/>
                    <a:pt x="224536" y="448945"/>
                  </a:cubicBezTo>
                  <a:cubicBezTo>
                    <a:pt x="348615" y="448945"/>
                    <a:pt x="449072" y="348488"/>
                    <a:pt x="449072" y="224409"/>
                  </a:cubicBezTo>
                  <a:cubicBezTo>
                    <a:pt x="449072" y="100330"/>
                    <a:pt x="348488" y="0"/>
                    <a:pt x="224536" y="0"/>
                  </a:cubicBezTo>
                  <a:close/>
                </a:path>
              </a:pathLst>
            </a:custGeom>
            <a:solidFill>
              <a:srgbClr val="009BF8"/>
            </a:solidFill>
          </p:spPr>
        </p:sp>
      </p:grpSp>
      <p:sp>
        <p:nvSpPr>
          <p:cNvPr id="15" name="TextBox 15"/>
          <p:cNvSpPr txBox="1"/>
          <p:nvPr/>
        </p:nvSpPr>
        <p:spPr>
          <a:xfrm>
            <a:off x="1028700" y="3752955"/>
            <a:ext cx="8726576" cy="2214562"/>
          </a:xfrm>
          <a:prstGeom prst="rect">
            <a:avLst/>
          </a:prstGeom>
        </p:spPr>
        <p:txBody>
          <a:bodyPr lIns="0" tIns="0" rIns="0" bIns="0" rtlCol="0" anchor="t">
            <a:spAutoFit/>
          </a:bodyPr>
          <a:lstStyle/>
          <a:p>
            <a:pPr algn="l">
              <a:lnSpc>
                <a:spcPts val="8384"/>
              </a:lnSpc>
            </a:pPr>
            <a:r>
              <a:rPr lang="en-US" sz="6986" b="1" spc="-139" dirty="0">
                <a:solidFill>
                  <a:srgbClr val="191919"/>
                </a:solidFill>
                <a:latin typeface="Poppins Bold"/>
                <a:ea typeface="Poppins Bold"/>
                <a:cs typeface="Poppins Bold"/>
                <a:sym typeface="Poppins Bold"/>
              </a:rPr>
              <a:t>COMITÉ MENSUAL -</a:t>
            </a:r>
          </a:p>
          <a:p>
            <a:pPr algn="l">
              <a:lnSpc>
                <a:spcPts val="8384"/>
              </a:lnSpc>
            </a:pPr>
            <a:r>
              <a:rPr lang="en-US" sz="6986" b="1" spc="-139" dirty="0">
                <a:solidFill>
                  <a:srgbClr val="191919"/>
                </a:solidFill>
                <a:latin typeface="Poppins Bold"/>
                <a:ea typeface="Poppins Bold"/>
                <a:cs typeface="Poppins Bold"/>
                <a:sym typeface="Poppins Bold"/>
              </a:rPr>
              <a:t>OBJETIVOS 2026</a:t>
            </a:r>
          </a:p>
        </p:txBody>
      </p:sp>
      <p:sp>
        <p:nvSpPr>
          <p:cNvPr id="16" name="TextBox 16"/>
          <p:cNvSpPr txBox="1"/>
          <p:nvPr/>
        </p:nvSpPr>
        <p:spPr>
          <a:xfrm>
            <a:off x="1028700" y="6086370"/>
            <a:ext cx="7734300" cy="320601"/>
          </a:xfrm>
          <a:prstGeom prst="rect">
            <a:avLst/>
          </a:prstGeom>
        </p:spPr>
        <p:txBody>
          <a:bodyPr wrap="square" lIns="0" tIns="0" rIns="0" bIns="0" rtlCol="0" anchor="t">
            <a:spAutoFit/>
          </a:bodyPr>
          <a:lstStyle/>
          <a:p>
            <a:pPr algn="l">
              <a:lnSpc>
                <a:spcPts val="2515"/>
              </a:lnSpc>
            </a:pPr>
            <a:r>
              <a:rPr lang="en-US" sz="2096" dirty="0">
                <a:solidFill>
                  <a:srgbClr val="191919"/>
                </a:solidFill>
                <a:latin typeface="Poppins"/>
                <a:ea typeface="Poppins"/>
                <a:cs typeface="Poppins"/>
                <a:sym typeface="Poppins"/>
              </a:rPr>
              <a:t>WORKPLACE/HERRAMIENTAS - 05 DE MARZO DE 2026</a:t>
            </a:r>
          </a:p>
        </p:txBody>
      </p:sp>
      <p:sp>
        <p:nvSpPr>
          <p:cNvPr id="17" name="TextBox 17"/>
          <p:cNvSpPr txBox="1"/>
          <p:nvPr/>
        </p:nvSpPr>
        <p:spPr>
          <a:xfrm>
            <a:off x="13514556" y="2599925"/>
            <a:ext cx="3412950" cy="367351"/>
          </a:xfrm>
          <a:prstGeom prst="rect">
            <a:avLst/>
          </a:prstGeom>
        </p:spPr>
        <p:txBody>
          <a:bodyPr lIns="0" tIns="0" rIns="0" bIns="0" rtlCol="0" anchor="t">
            <a:spAutoFit/>
          </a:bodyPr>
          <a:lstStyle/>
          <a:p>
            <a:pPr algn="l">
              <a:lnSpc>
                <a:spcPts val="2860"/>
              </a:lnSpc>
            </a:pPr>
            <a:r>
              <a:rPr lang="en-US" sz="2200" b="1" spc="-65">
                <a:solidFill>
                  <a:srgbClr val="191919"/>
                </a:solidFill>
                <a:latin typeface="Muli Bold"/>
                <a:ea typeface="Muli Bold"/>
                <a:cs typeface="Muli Bold"/>
                <a:sym typeface="Muli Bold"/>
              </a:rPr>
              <a:t>01</a:t>
            </a:r>
          </a:p>
        </p:txBody>
      </p:sp>
      <p:sp>
        <p:nvSpPr>
          <p:cNvPr id="18" name="TextBox 18"/>
          <p:cNvSpPr txBox="1"/>
          <p:nvPr/>
        </p:nvSpPr>
        <p:spPr>
          <a:xfrm>
            <a:off x="13514556" y="3109903"/>
            <a:ext cx="3412950" cy="685162"/>
          </a:xfrm>
          <a:prstGeom prst="rect">
            <a:avLst/>
          </a:prstGeom>
        </p:spPr>
        <p:txBody>
          <a:bodyPr lIns="0" tIns="0" rIns="0" bIns="0" rtlCol="0" anchor="t">
            <a:spAutoFit/>
          </a:bodyPr>
          <a:lstStyle/>
          <a:p>
            <a:pPr algn="l">
              <a:lnSpc>
                <a:spcPts val="2660"/>
              </a:lnSpc>
            </a:pPr>
            <a:r>
              <a:rPr lang="en-US" sz="1900">
                <a:solidFill>
                  <a:srgbClr val="191919"/>
                </a:solidFill>
                <a:latin typeface="Muli"/>
                <a:ea typeface="Muli"/>
                <a:cs typeface="Muli"/>
                <a:sym typeface="Muli"/>
              </a:rPr>
              <a:t>Presentación de Status de los Objetivos (Vista General)</a:t>
            </a:r>
          </a:p>
        </p:txBody>
      </p:sp>
      <p:sp>
        <p:nvSpPr>
          <p:cNvPr id="19" name="TextBox 19"/>
          <p:cNvSpPr txBox="1"/>
          <p:nvPr/>
        </p:nvSpPr>
        <p:spPr>
          <a:xfrm>
            <a:off x="13514556" y="4592679"/>
            <a:ext cx="3412950" cy="367351"/>
          </a:xfrm>
          <a:prstGeom prst="rect">
            <a:avLst/>
          </a:prstGeom>
        </p:spPr>
        <p:txBody>
          <a:bodyPr lIns="0" tIns="0" rIns="0" bIns="0" rtlCol="0" anchor="t">
            <a:spAutoFit/>
          </a:bodyPr>
          <a:lstStyle/>
          <a:p>
            <a:pPr algn="l">
              <a:lnSpc>
                <a:spcPts val="2860"/>
              </a:lnSpc>
            </a:pPr>
            <a:r>
              <a:rPr lang="en-US" sz="2200" b="1" spc="-65">
                <a:solidFill>
                  <a:srgbClr val="191919"/>
                </a:solidFill>
                <a:latin typeface="Muli Bold"/>
                <a:ea typeface="Muli Bold"/>
                <a:cs typeface="Muli Bold"/>
                <a:sym typeface="Muli Bold"/>
              </a:rPr>
              <a:t>02</a:t>
            </a:r>
          </a:p>
        </p:txBody>
      </p:sp>
      <p:sp>
        <p:nvSpPr>
          <p:cNvPr id="20" name="TextBox 20"/>
          <p:cNvSpPr txBox="1"/>
          <p:nvPr/>
        </p:nvSpPr>
        <p:spPr>
          <a:xfrm>
            <a:off x="13514556" y="5102657"/>
            <a:ext cx="3412950" cy="685162"/>
          </a:xfrm>
          <a:prstGeom prst="rect">
            <a:avLst/>
          </a:prstGeom>
        </p:spPr>
        <p:txBody>
          <a:bodyPr lIns="0" tIns="0" rIns="0" bIns="0" rtlCol="0" anchor="t">
            <a:spAutoFit/>
          </a:bodyPr>
          <a:lstStyle/>
          <a:p>
            <a:pPr algn="l">
              <a:lnSpc>
                <a:spcPts val="2660"/>
              </a:lnSpc>
            </a:pPr>
            <a:r>
              <a:rPr lang="en-US" sz="1900">
                <a:solidFill>
                  <a:srgbClr val="191919"/>
                </a:solidFill>
                <a:latin typeface="Muli"/>
                <a:ea typeface="Muli"/>
                <a:cs typeface="Muli"/>
                <a:sym typeface="Muli"/>
              </a:rPr>
              <a:t>Presentación personalizada de cada objetivo</a:t>
            </a:r>
          </a:p>
        </p:txBody>
      </p:sp>
      <p:sp>
        <p:nvSpPr>
          <p:cNvPr id="21" name="TextBox 21"/>
          <p:cNvSpPr txBox="1"/>
          <p:nvPr/>
        </p:nvSpPr>
        <p:spPr>
          <a:xfrm>
            <a:off x="13514556" y="6585423"/>
            <a:ext cx="3412950" cy="367351"/>
          </a:xfrm>
          <a:prstGeom prst="rect">
            <a:avLst/>
          </a:prstGeom>
        </p:spPr>
        <p:txBody>
          <a:bodyPr lIns="0" tIns="0" rIns="0" bIns="0" rtlCol="0" anchor="t">
            <a:spAutoFit/>
          </a:bodyPr>
          <a:lstStyle/>
          <a:p>
            <a:pPr algn="l">
              <a:lnSpc>
                <a:spcPts val="2860"/>
              </a:lnSpc>
            </a:pPr>
            <a:r>
              <a:rPr lang="en-US" sz="2200" b="1" spc="-65">
                <a:solidFill>
                  <a:srgbClr val="191919"/>
                </a:solidFill>
                <a:latin typeface="Muli Bold"/>
                <a:ea typeface="Muli Bold"/>
                <a:cs typeface="Muli Bold"/>
                <a:sym typeface="Muli Bold"/>
              </a:rPr>
              <a:t>03</a:t>
            </a:r>
          </a:p>
        </p:txBody>
      </p:sp>
      <p:sp>
        <p:nvSpPr>
          <p:cNvPr id="22" name="TextBox 22"/>
          <p:cNvSpPr txBox="1"/>
          <p:nvPr/>
        </p:nvSpPr>
        <p:spPr>
          <a:xfrm>
            <a:off x="13514556" y="7095401"/>
            <a:ext cx="3412950" cy="685162"/>
          </a:xfrm>
          <a:prstGeom prst="rect">
            <a:avLst/>
          </a:prstGeom>
        </p:spPr>
        <p:txBody>
          <a:bodyPr lIns="0" tIns="0" rIns="0" bIns="0" rtlCol="0" anchor="t">
            <a:spAutoFit/>
          </a:bodyPr>
          <a:lstStyle/>
          <a:p>
            <a:pPr algn="l">
              <a:lnSpc>
                <a:spcPts val="2660"/>
              </a:lnSpc>
            </a:pPr>
            <a:r>
              <a:rPr lang="en-US" sz="1900">
                <a:solidFill>
                  <a:srgbClr val="191919"/>
                </a:solidFill>
                <a:latin typeface="Muli"/>
                <a:ea typeface="Muli"/>
                <a:cs typeface="Muli"/>
                <a:sym typeface="Muli"/>
              </a:rPr>
              <a:t>Revisión a detalle de cada Gantt</a:t>
            </a:r>
          </a:p>
        </p:txBody>
      </p:sp>
      <p:sp>
        <p:nvSpPr>
          <p:cNvPr id="23" name="TextBox 23"/>
          <p:cNvSpPr txBox="1"/>
          <p:nvPr/>
        </p:nvSpPr>
        <p:spPr>
          <a:xfrm>
            <a:off x="11699081" y="1396527"/>
            <a:ext cx="1470774" cy="476250"/>
          </a:xfrm>
          <a:prstGeom prst="rect">
            <a:avLst/>
          </a:prstGeom>
        </p:spPr>
        <p:txBody>
          <a:bodyPr lIns="0" tIns="0" rIns="0" bIns="0" rtlCol="0" anchor="t">
            <a:spAutoFit/>
          </a:bodyPr>
          <a:lstStyle/>
          <a:p>
            <a:pPr algn="l">
              <a:lnSpc>
                <a:spcPts val="3480"/>
              </a:lnSpc>
            </a:pPr>
            <a:r>
              <a:rPr lang="en-US" sz="2900" b="1" spc="-58">
                <a:solidFill>
                  <a:srgbClr val="191919"/>
                </a:solidFill>
                <a:latin typeface="Poppins Bold"/>
                <a:ea typeface="Poppins Bold"/>
                <a:cs typeface="Poppins Bold"/>
                <a:sym typeface="Poppins Bold"/>
              </a:rPr>
              <a:t>Agenda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89979" y="10139237"/>
            <a:ext cx="23130741" cy="2816588"/>
            <a:chOff x="0" y="0"/>
            <a:chExt cx="6092047" cy="741817"/>
          </a:xfrm>
        </p:grpSpPr>
        <p:sp>
          <p:nvSpPr>
            <p:cNvPr id="3" name="Freeform 3"/>
            <p:cNvSpPr/>
            <p:nvPr/>
          </p:nvSpPr>
          <p:spPr>
            <a:xfrm>
              <a:off x="0" y="0"/>
              <a:ext cx="6092047" cy="741817"/>
            </a:xfrm>
            <a:custGeom>
              <a:avLst/>
              <a:gdLst/>
              <a:ahLst/>
              <a:cxnLst/>
              <a:rect l="l" t="t" r="r" b="b"/>
              <a:pathLst>
                <a:path w="6092047" h="741817">
                  <a:moveTo>
                    <a:pt x="0" y="0"/>
                  </a:moveTo>
                  <a:lnTo>
                    <a:pt x="6092047" y="0"/>
                  </a:lnTo>
                  <a:lnTo>
                    <a:pt x="6092047" y="741817"/>
                  </a:lnTo>
                  <a:lnTo>
                    <a:pt x="0" y="741817"/>
                  </a:lnTo>
                  <a:close/>
                </a:path>
              </a:pathLst>
            </a:custGeom>
            <a:solidFill>
              <a:srgbClr val="009BF8"/>
            </a:solidFill>
          </p:spPr>
        </p:sp>
        <p:sp>
          <p:nvSpPr>
            <p:cNvPr id="4" name="TextBox 4"/>
            <p:cNvSpPr txBox="1"/>
            <p:nvPr/>
          </p:nvSpPr>
          <p:spPr>
            <a:xfrm>
              <a:off x="0" y="-19050"/>
              <a:ext cx="6092047" cy="760867"/>
            </a:xfrm>
            <a:prstGeom prst="rect">
              <a:avLst/>
            </a:prstGeom>
          </p:spPr>
          <p:txBody>
            <a:bodyPr lIns="50800" tIns="50800" rIns="50800" bIns="50800" rtlCol="0" anchor="ctr"/>
            <a:lstStyle/>
            <a:p>
              <a:pPr algn="ctr">
                <a:lnSpc>
                  <a:spcPts val="1655"/>
                </a:lnSpc>
              </a:pPr>
              <a:endParaRPr/>
            </a:p>
          </p:txBody>
        </p:sp>
      </p:grpSp>
      <p:sp>
        <p:nvSpPr>
          <p:cNvPr id="5" name="Freeform 5"/>
          <p:cNvSpPr/>
          <p:nvPr/>
        </p:nvSpPr>
        <p:spPr>
          <a:xfrm>
            <a:off x="16578051" y="704407"/>
            <a:ext cx="681249" cy="505443"/>
          </a:xfrm>
          <a:custGeom>
            <a:avLst/>
            <a:gdLst/>
            <a:ahLst/>
            <a:cxnLst/>
            <a:rect l="l" t="t" r="r" b="b"/>
            <a:pathLst>
              <a:path w="681249" h="505443">
                <a:moveTo>
                  <a:pt x="0" y="0"/>
                </a:moveTo>
                <a:lnTo>
                  <a:pt x="681249" y="0"/>
                </a:lnTo>
                <a:lnTo>
                  <a:pt x="681249" y="505443"/>
                </a:lnTo>
                <a:lnTo>
                  <a:pt x="0" y="505443"/>
                </a:lnTo>
                <a:lnTo>
                  <a:pt x="0" y="0"/>
                </a:lnTo>
                <a:close/>
              </a:path>
            </a:pathLst>
          </a:custGeom>
          <a:blipFill>
            <a:blip r:embed="rId2">
              <a:extLst>
                <a:ext uri="{96DAC541-7B7A-43D3-8B79-37D633B846F1}">
                  <asvg:svgBlip xmlns:asvg="http://schemas.microsoft.com/office/drawing/2016/SVG/main" r:embed="rId3"/>
                </a:ext>
              </a:extLst>
            </a:blip>
            <a:stretch>
              <a:fillRect t="-543" b="-543"/>
            </a:stretch>
          </a:blipFill>
        </p:spPr>
      </p:sp>
      <p:grpSp>
        <p:nvGrpSpPr>
          <p:cNvPr id="6" name="Group 6"/>
          <p:cNvGrpSpPr/>
          <p:nvPr/>
        </p:nvGrpSpPr>
        <p:grpSpPr>
          <a:xfrm rot="-5400000">
            <a:off x="10416829" y="-3254970"/>
            <a:ext cx="391093" cy="11592338"/>
            <a:chOff x="0" y="0"/>
            <a:chExt cx="89878" cy="2664061"/>
          </a:xfrm>
        </p:grpSpPr>
        <p:sp>
          <p:nvSpPr>
            <p:cNvPr id="7" name="Freeform 7"/>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8" name="TextBox 8"/>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9" name="Group 9"/>
          <p:cNvGrpSpPr/>
          <p:nvPr/>
        </p:nvGrpSpPr>
        <p:grpSpPr>
          <a:xfrm rot="-5400000">
            <a:off x="8793454" y="-1631595"/>
            <a:ext cx="391093" cy="8345587"/>
            <a:chOff x="0" y="0"/>
            <a:chExt cx="89878" cy="1917918"/>
          </a:xfrm>
        </p:grpSpPr>
        <p:sp>
          <p:nvSpPr>
            <p:cNvPr id="10" name="Freeform 10"/>
            <p:cNvSpPr/>
            <p:nvPr/>
          </p:nvSpPr>
          <p:spPr>
            <a:xfrm>
              <a:off x="0" y="0"/>
              <a:ext cx="89878" cy="1917918"/>
            </a:xfrm>
            <a:custGeom>
              <a:avLst/>
              <a:gdLst/>
              <a:ahLst/>
              <a:cxnLst/>
              <a:rect l="l" t="t" r="r" b="b"/>
              <a:pathLst>
                <a:path w="89878" h="1917918">
                  <a:moveTo>
                    <a:pt x="44939" y="0"/>
                  </a:moveTo>
                  <a:lnTo>
                    <a:pt x="44939" y="0"/>
                  </a:lnTo>
                  <a:cubicBezTo>
                    <a:pt x="56857" y="0"/>
                    <a:pt x="68288" y="4735"/>
                    <a:pt x="76716" y="13162"/>
                  </a:cubicBezTo>
                  <a:cubicBezTo>
                    <a:pt x="85143" y="21590"/>
                    <a:pt x="89878" y="33020"/>
                    <a:pt x="89878" y="44939"/>
                  </a:cubicBezTo>
                  <a:lnTo>
                    <a:pt x="89878" y="1872979"/>
                  </a:lnTo>
                  <a:cubicBezTo>
                    <a:pt x="89878" y="1897798"/>
                    <a:pt x="69758" y="1917918"/>
                    <a:pt x="44939" y="1917918"/>
                  </a:cubicBezTo>
                  <a:lnTo>
                    <a:pt x="44939" y="1917918"/>
                  </a:lnTo>
                  <a:cubicBezTo>
                    <a:pt x="20120" y="1917918"/>
                    <a:pt x="0" y="1897798"/>
                    <a:pt x="0" y="1872979"/>
                  </a:cubicBezTo>
                  <a:lnTo>
                    <a:pt x="0" y="44939"/>
                  </a:lnTo>
                  <a:cubicBezTo>
                    <a:pt x="0" y="20120"/>
                    <a:pt x="20120" y="0"/>
                    <a:pt x="44939" y="0"/>
                  </a:cubicBezTo>
                  <a:close/>
                </a:path>
              </a:pathLst>
            </a:custGeom>
            <a:solidFill>
              <a:srgbClr val="4225FA">
                <a:alpha val="12941"/>
              </a:srgbClr>
            </a:solidFill>
          </p:spPr>
        </p:sp>
        <p:sp>
          <p:nvSpPr>
            <p:cNvPr id="11" name="TextBox 11"/>
            <p:cNvSpPr txBox="1"/>
            <p:nvPr/>
          </p:nvSpPr>
          <p:spPr>
            <a:xfrm>
              <a:off x="0" y="-38100"/>
              <a:ext cx="89878" cy="1956018"/>
            </a:xfrm>
            <a:prstGeom prst="rect">
              <a:avLst/>
            </a:prstGeom>
          </p:spPr>
          <p:txBody>
            <a:bodyPr lIns="50800" tIns="50800" rIns="50800" bIns="50800" rtlCol="0" anchor="ctr"/>
            <a:lstStyle/>
            <a:p>
              <a:pPr algn="ctr">
                <a:lnSpc>
                  <a:spcPts val="2100"/>
                </a:lnSpc>
                <a:spcBef>
                  <a:spcPct val="0"/>
                </a:spcBef>
              </a:pPr>
              <a:endParaRPr/>
            </a:p>
          </p:txBody>
        </p:sp>
      </p:grpSp>
      <p:grpSp>
        <p:nvGrpSpPr>
          <p:cNvPr id="12" name="Group 12"/>
          <p:cNvGrpSpPr/>
          <p:nvPr/>
        </p:nvGrpSpPr>
        <p:grpSpPr>
          <a:xfrm rot="-5400000">
            <a:off x="6679280" y="482579"/>
            <a:ext cx="391093" cy="4117240"/>
            <a:chOff x="0" y="0"/>
            <a:chExt cx="89878" cy="946192"/>
          </a:xfrm>
        </p:grpSpPr>
        <p:sp>
          <p:nvSpPr>
            <p:cNvPr id="13" name="Freeform 13"/>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14" name="TextBox 14"/>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15" name="TextBox 15"/>
          <p:cNvSpPr txBox="1"/>
          <p:nvPr/>
        </p:nvSpPr>
        <p:spPr>
          <a:xfrm>
            <a:off x="4676252" y="1830825"/>
            <a:ext cx="1146226" cy="316921"/>
          </a:xfrm>
          <a:prstGeom prst="rect">
            <a:avLst/>
          </a:prstGeom>
        </p:spPr>
        <p:txBody>
          <a:bodyPr lIns="0" tIns="0" rIns="0" bIns="0" rtlCol="0" anchor="t">
            <a:spAutoFit/>
          </a:bodyPr>
          <a:lstStyle/>
          <a:p>
            <a:pPr marL="0" lvl="0" indent="0" algn="ctr">
              <a:lnSpc>
                <a:spcPts val="2481"/>
              </a:lnSpc>
              <a:spcBef>
                <a:spcPct val="0"/>
              </a:spcBef>
            </a:pPr>
            <a:r>
              <a:rPr lang="en-US" sz="1772">
                <a:solidFill>
                  <a:srgbClr val="000000"/>
                </a:solidFill>
                <a:latin typeface="Poppins"/>
                <a:ea typeface="Poppins"/>
                <a:cs typeface="Poppins"/>
                <a:sym typeface="Poppins"/>
              </a:rPr>
              <a:t>ENE</a:t>
            </a:r>
          </a:p>
        </p:txBody>
      </p:sp>
      <p:sp>
        <p:nvSpPr>
          <p:cNvPr id="16" name="TextBox 16"/>
          <p:cNvSpPr txBox="1"/>
          <p:nvPr/>
        </p:nvSpPr>
        <p:spPr>
          <a:xfrm>
            <a:off x="6451128" y="1830825"/>
            <a:ext cx="1143439" cy="316921"/>
          </a:xfrm>
          <a:prstGeom prst="rect">
            <a:avLst/>
          </a:prstGeom>
        </p:spPr>
        <p:txBody>
          <a:bodyPr lIns="0" tIns="0" rIns="0" bIns="0" rtlCol="0" anchor="t">
            <a:spAutoFit/>
          </a:bodyPr>
          <a:lstStyle/>
          <a:p>
            <a:pPr marL="0" lvl="0" indent="0" algn="ctr">
              <a:lnSpc>
                <a:spcPts val="2481"/>
              </a:lnSpc>
              <a:spcBef>
                <a:spcPct val="0"/>
              </a:spcBef>
            </a:pPr>
            <a:r>
              <a:rPr lang="en-US" sz="1772">
                <a:solidFill>
                  <a:srgbClr val="000000"/>
                </a:solidFill>
                <a:latin typeface="Poppins"/>
                <a:ea typeface="Poppins"/>
                <a:cs typeface="Poppins"/>
                <a:sym typeface="Poppins"/>
              </a:rPr>
              <a:t>FEB</a:t>
            </a:r>
          </a:p>
        </p:txBody>
      </p:sp>
      <p:sp>
        <p:nvSpPr>
          <p:cNvPr id="17" name="TextBox 17"/>
          <p:cNvSpPr txBox="1"/>
          <p:nvPr/>
        </p:nvSpPr>
        <p:spPr>
          <a:xfrm>
            <a:off x="8068070" y="1830825"/>
            <a:ext cx="1429360" cy="316921"/>
          </a:xfrm>
          <a:prstGeom prst="rect">
            <a:avLst/>
          </a:prstGeom>
        </p:spPr>
        <p:txBody>
          <a:bodyPr lIns="0" tIns="0" rIns="0" bIns="0" rtlCol="0" anchor="t">
            <a:spAutoFit/>
          </a:bodyPr>
          <a:lstStyle/>
          <a:p>
            <a:pPr marL="0" lvl="0" indent="0" algn="ctr">
              <a:lnSpc>
                <a:spcPts val="2481"/>
              </a:lnSpc>
              <a:spcBef>
                <a:spcPct val="0"/>
              </a:spcBef>
            </a:pPr>
            <a:r>
              <a:rPr lang="en-US" sz="1772">
                <a:solidFill>
                  <a:srgbClr val="000000"/>
                </a:solidFill>
                <a:latin typeface="Poppins"/>
                <a:ea typeface="Poppins"/>
                <a:cs typeface="Poppins"/>
                <a:sym typeface="Poppins"/>
              </a:rPr>
              <a:t>MAR</a:t>
            </a:r>
          </a:p>
        </p:txBody>
      </p:sp>
      <p:sp>
        <p:nvSpPr>
          <p:cNvPr id="18" name="TextBox 18"/>
          <p:cNvSpPr txBox="1"/>
          <p:nvPr/>
        </p:nvSpPr>
        <p:spPr>
          <a:xfrm>
            <a:off x="10002255" y="1830825"/>
            <a:ext cx="1429360" cy="316921"/>
          </a:xfrm>
          <a:prstGeom prst="rect">
            <a:avLst/>
          </a:prstGeom>
        </p:spPr>
        <p:txBody>
          <a:bodyPr lIns="0" tIns="0" rIns="0" bIns="0" rtlCol="0" anchor="t">
            <a:spAutoFit/>
          </a:bodyPr>
          <a:lstStyle/>
          <a:p>
            <a:pPr marL="0" lvl="0" indent="0" algn="ctr">
              <a:lnSpc>
                <a:spcPts val="2481"/>
              </a:lnSpc>
              <a:spcBef>
                <a:spcPct val="0"/>
              </a:spcBef>
            </a:pPr>
            <a:r>
              <a:rPr lang="en-US" sz="1772">
                <a:solidFill>
                  <a:srgbClr val="000000"/>
                </a:solidFill>
                <a:latin typeface="Poppins"/>
                <a:ea typeface="Poppins"/>
                <a:cs typeface="Poppins"/>
                <a:sym typeface="Poppins"/>
              </a:rPr>
              <a:t>ABR</a:t>
            </a:r>
          </a:p>
        </p:txBody>
      </p:sp>
      <p:sp>
        <p:nvSpPr>
          <p:cNvPr id="19" name="TextBox 19"/>
          <p:cNvSpPr txBox="1"/>
          <p:nvPr/>
        </p:nvSpPr>
        <p:spPr>
          <a:xfrm>
            <a:off x="11732434" y="1815214"/>
            <a:ext cx="1429360" cy="316921"/>
          </a:xfrm>
          <a:prstGeom prst="rect">
            <a:avLst/>
          </a:prstGeom>
        </p:spPr>
        <p:txBody>
          <a:bodyPr lIns="0" tIns="0" rIns="0" bIns="0" rtlCol="0" anchor="t">
            <a:spAutoFit/>
          </a:bodyPr>
          <a:lstStyle/>
          <a:p>
            <a:pPr marL="0" lvl="0" indent="0" algn="ctr">
              <a:lnSpc>
                <a:spcPts val="2481"/>
              </a:lnSpc>
              <a:spcBef>
                <a:spcPct val="0"/>
              </a:spcBef>
            </a:pPr>
            <a:r>
              <a:rPr lang="en-US" sz="1772">
                <a:solidFill>
                  <a:srgbClr val="000000"/>
                </a:solidFill>
                <a:latin typeface="Poppins"/>
                <a:ea typeface="Poppins"/>
                <a:cs typeface="Poppins"/>
                <a:sym typeface="Poppins"/>
              </a:rPr>
              <a:t>MAY</a:t>
            </a:r>
          </a:p>
        </p:txBody>
      </p:sp>
      <p:sp>
        <p:nvSpPr>
          <p:cNvPr id="20" name="TextBox 20"/>
          <p:cNvSpPr txBox="1"/>
          <p:nvPr/>
        </p:nvSpPr>
        <p:spPr>
          <a:xfrm>
            <a:off x="13348313" y="1815214"/>
            <a:ext cx="1429360" cy="316921"/>
          </a:xfrm>
          <a:prstGeom prst="rect">
            <a:avLst/>
          </a:prstGeom>
        </p:spPr>
        <p:txBody>
          <a:bodyPr lIns="0" tIns="0" rIns="0" bIns="0" rtlCol="0" anchor="t">
            <a:spAutoFit/>
          </a:bodyPr>
          <a:lstStyle/>
          <a:p>
            <a:pPr marL="0" lvl="0" indent="0" algn="ctr">
              <a:lnSpc>
                <a:spcPts val="2481"/>
              </a:lnSpc>
              <a:spcBef>
                <a:spcPct val="0"/>
              </a:spcBef>
            </a:pPr>
            <a:r>
              <a:rPr lang="en-US" sz="1772">
                <a:solidFill>
                  <a:srgbClr val="000000"/>
                </a:solidFill>
                <a:latin typeface="Poppins"/>
                <a:ea typeface="Poppins"/>
                <a:cs typeface="Poppins"/>
                <a:sym typeface="Poppins"/>
              </a:rPr>
              <a:t>JUN</a:t>
            </a:r>
          </a:p>
        </p:txBody>
      </p:sp>
      <p:sp>
        <p:nvSpPr>
          <p:cNvPr id="21" name="TextBox 21"/>
          <p:cNvSpPr txBox="1"/>
          <p:nvPr/>
        </p:nvSpPr>
        <p:spPr>
          <a:xfrm>
            <a:off x="15259018" y="1815214"/>
            <a:ext cx="1429360" cy="316921"/>
          </a:xfrm>
          <a:prstGeom prst="rect">
            <a:avLst/>
          </a:prstGeom>
        </p:spPr>
        <p:txBody>
          <a:bodyPr lIns="0" tIns="0" rIns="0" bIns="0" rtlCol="0" anchor="t">
            <a:spAutoFit/>
          </a:bodyPr>
          <a:lstStyle/>
          <a:p>
            <a:pPr marL="0" lvl="0" indent="0" algn="ctr">
              <a:lnSpc>
                <a:spcPts val="2481"/>
              </a:lnSpc>
              <a:spcBef>
                <a:spcPct val="0"/>
              </a:spcBef>
            </a:pPr>
            <a:r>
              <a:rPr lang="en-US" sz="1772">
                <a:solidFill>
                  <a:srgbClr val="000000"/>
                </a:solidFill>
                <a:latin typeface="Poppins"/>
                <a:ea typeface="Poppins"/>
                <a:cs typeface="Poppins"/>
                <a:sym typeface="Poppins"/>
              </a:rPr>
              <a:t>JUL</a:t>
            </a:r>
          </a:p>
        </p:txBody>
      </p:sp>
      <p:grpSp>
        <p:nvGrpSpPr>
          <p:cNvPr id="22" name="Group 22"/>
          <p:cNvGrpSpPr/>
          <p:nvPr/>
        </p:nvGrpSpPr>
        <p:grpSpPr>
          <a:xfrm rot="-5400000">
            <a:off x="2363207" y="661313"/>
            <a:ext cx="391093" cy="3759772"/>
            <a:chOff x="0" y="0"/>
            <a:chExt cx="89878" cy="864041"/>
          </a:xfrm>
        </p:grpSpPr>
        <p:sp>
          <p:nvSpPr>
            <p:cNvPr id="23" name="Freeform 23"/>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215C1"/>
            </a:solidFill>
          </p:spPr>
        </p:sp>
        <p:sp>
          <p:nvSpPr>
            <p:cNvPr id="24" name="TextBox 24"/>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25" name="Group 25"/>
          <p:cNvGrpSpPr/>
          <p:nvPr/>
        </p:nvGrpSpPr>
        <p:grpSpPr>
          <a:xfrm rot="-5400000">
            <a:off x="2363207" y="1257312"/>
            <a:ext cx="391093" cy="3759772"/>
            <a:chOff x="0" y="0"/>
            <a:chExt cx="89878" cy="864041"/>
          </a:xfrm>
        </p:grpSpPr>
        <p:sp>
          <p:nvSpPr>
            <p:cNvPr id="26" name="Freeform 26"/>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215C1"/>
            </a:solidFill>
          </p:spPr>
        </p:sp>
        <p:sp>
          <p:nvSpPr>
            <p:cNvPr id="27" name="TextBox 27"/>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28" name="Group 28"/>
          <p:cNvGrpSpPr/>
          <p:nvPr/>
        </p:nvGrpSpPr>
        <p:grpSpPr>
          <a:xfrm rot="-5400000">
            <a:off x="2363207" y="1832827"/>
            <a:ext cx="391093" cy="3759772"/>
            <a:chOff x="0" y="0"/>
            <a:chExt cx="89878" cy="864041"/>
          </a:xfrm>
        </p:grpSpPr>
        <p:sp>
          <p:nvSpPr>
            <p:cNvPr id="29" name="Freeform 29"/>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215C1"/>
            </a:solidFill>
          </p:spPr>
        </p:sp>
        <p:sp>
          <p:nvSpPr>
            <p:cNvPr id="30" name="TextBox 30"/>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31" name="Group 31"/>
          <p:cNvGrpSpPr/>
          <p:nvPr/>
        </p:nvGrpSpPr>
        <p:grpSpPr>
          <a:xfrm rot="-5400000">
            <a:off x="2363207" y="2419810"/>
            <a:ext cx="391093" cy="3759772"/>
            <a:chOff x="0" y="0"/>
            <a:chExt cx="89878" cy="864041"/>
          </a:xfrm>
        </p:grpSpPr>
        <p:sp>
          <p:nvSpPr>
            <p:cNvPr id="32" name="Freeform 32"/>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19DF4"/>
            </a:solidFill>
          </p:spPr>
        </p:sp>
        <p:sp>
          <p:nvSpPr>
            <p:cNvPr id="33" name="TextBox 33"/>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sp>
        <p:nvSpPr>
          <p:cNvPr id="34" name="TextBox 34"/>
          <p:cNvSpPr txBox="1"/>
          <p:nvPr/>
        </p:nvSpPr>
        <p:spPr>
          <a:xfrm>
            <a:off x="1025592" y="2362175"/>
            <a:ext cx="3066322"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SISTEMA UNIFICADO</a:t>
            </a:r>
          </a:p>
        </p:txBody>
      </p:sp>
      <p:sp>
        <p:nvSpPr>
          <p:cNvPr id="35" name="TextBox 35"/>
          <p:cNvSpPr txBox="1"/>
          <p:nvPr/>
        </p:nvSpPr>
        <p:spPr>
          <a:xfrm>
            <a:off x="678867" y="609157"/>
            <a:ext cx="4520863" cy="766332"/>
          </a:xfrm>
          <a:prstGeom prst="rect">
            <a:avLst/>
          </a:prstGeom>
        </p:spPr>
        <p:txBody>
          <a:bodyPr lIns="0" tIns="0" rIns="0" bIns="0" rtlCol="0" anchor="t">
            <a:spAutoFit/>
          </a:bodyPr>
          <a:lstStyle/>
          <a:p>
            <a:pPr marL="0" lvl="0" indent="0" algn="l">
              <a:lnSpc>
                <a:spcPts val="6229"/>
              </a:lnSpc>
              <a:spcBef>
                <a:spcPct val="0"/>
              </a:spcBef>
            </a:pPr>
            <a:r>
              <a:rPr lang="en-US" sz="4449">
                <a:solidFill>
                  <a:srgbClr val="009BF8"/>
                </a:solidFill>
                <a:latin typeface="Lovelo"/>
                <a:ea typeface="Lovelo"/>
                <a:cs typeface="Lovelo"/>
                <a:sym typeface="Lovelo"/>
              </a:rPr>
              <a:t>OBJETIVOS 2026 </a:t>
            </a:r>
          </a:p>
        </p:txBody>
      </p:sp>
      <p:grpSp>
        <p:nvGrpSpPr>
          <p:cNvPr id="36" name="Group 36"/>
          <p:cNvGrpSpPr/>
          <p:nvPr/>
        </p:nvGrpSpPr>
        <p:grpSpPr>
          <a:xfrm rot="-5400000">
            <a:off x="10416829" y="-2670439"/>
            <a:ext cx="391093" cy="11592338"/>
            <a:chOff x="0" y="0"/>
            <a:chExt cx="89878" cy="2664061"/>
          </a:xfrm>
        </p:grpSpPr>
        <p:sp>
          <p:nvSpPr>
            <p:cNvPr id="37" name="Freeform 37"/>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38" name="TextBox 38"/>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39" name="Group 39"/>
          <p:cNvGrpSpPr/>
          <p:nvPr/>
        </p:nvGrpSpPr>
        <p:grpSpPr>
          <a:xfrm rot="-5400000">
            <a:off x="9554285" y="-1807895"/>
            <a:ext cx="391093" cy="9867251"/>
            <a:chOff x="0" y="0"/>
            <a:chExt cx="89878" cy="2267615"/>
          </a:xfrm>
        </p:grpSpPr>
        <p:sp>
          <p:nvSpPr>
            <p:cNvPr id="40" name="Freeform 40"/>
            <p:cNvSpPr/>
            <p:nvPr/>
          </p:nvSpPr>
          <p:spPr>
            <a:xfrm>
              <a:off x="0" y="0"/>
              <a:ext cx="89878" cy="2267615"/>
            </a:xfrm>
            <a:custGeom>
              <a:avLst/>
              <a:gdLst/>
              <a:ahLst/>
              <a:cxnLst/>
              <a:rect l="l" t="t" r="r" b="b"/>
              <a:pathLst>
                <a:path w="89878" h="2267615">
                  <a:moveTo>
                    <a:pt x="44939" y="0"/>
                  </a:moveTo>
                  <a:lnTo>
                    <a:pt x="44939" y="0"/>
                  </a:lnTo>
                  <a:cubicBezTo>
                    <a:pt x="56857" y="0"/>
                    <a:pt x="68288" y="4735"/>
                    <a:pt x="76716" y="13162"/>
                  </a:cubicBezTo>
                  <a:cubicBezTo>
                    <a:pt x="85143" y="21590"/>
                    <a:pt x="89878" y="33020"/>
                    <a:pt x="89878" y="44939"/>
                  </a:cubicBezTo>
                  <a:lnTo>
                    <a:pt x="89878" y="2222676"/>
                  </a:lnTo>
                  <a:cubicBezTo>
                    <a:pt x="89878" y="2247495"/>
                    <a:pt x="69758" y="2267615"/>
                    <a:pt x="44939" y="2267615"/>
                  </a:cubicBezTo>
                  <a:lnTo>
                    <a:pt x="44939" y="2267615"/>
                  </a:lnTo>
                  <a:cubicBezTo>
                    <a:pt x="20120" y="2267615"/>
                    <a:pt x="0" y="2247495"/>
                    <a:pt x="0" y="2222676"/>
                  </a:cubicBezTo>
                  <a:lnTo>
                    <a:pt x="0" y="44939"/>
                  </a:lnTo>
                  <a:cubicBezTo>
                    <a:pt x="0" y="20120"/>
                    <a:pt x="20120" y="0"/>
                    <a:pt x="44939" y="0"/>
                  </a:cubicBezTo>
                  <a:close/>
                </a:path>
              </a:pathLst>
            </a:custGeom>
            <a:solidFill>
              <a:srgbClr val="4225FA">
                <a:alpha val="12941"/>
              </a:srgbClr>
            </a:solidFill>
          </p:spPr>
        </p:sp>
        <p:sp>
          <p:nvSpPr>
            <p:cNvPr id="41" name="TextBox 41"/>
            <p:cNvSpPr txBox="1"/>
            <p:nvPr/>
          </p:nvSpPr>
          <p:spPr>
            <a:xfrm>
              <a:off x="0" y="-38100"/>
              <a:ext cx="89878" cy="2305715"/>
            </a:xfrm>
            <a:prstGeom prst="rect">
              <a:avLst/>
            </a:prstGeom>
          </p:spPr>
          <p:txBody>
            <a:bodyPr lIns="50800" tIns="50800" rIns="50800" bIns="50800" rtlCol="0" anchor="ctr"/>
            <a:lstStyle/>
            <a:p>
              <a:pPr algn="ctr">
                <a:lnSpc>
                  <a:spcPts val="2100"/>
                </a:lnSpc>
                <a:spcBef>
                  <a:spcPct val="0"/>
                </a:spcBef>
              </a:pPr>
              <a:endParaRPr/>
            </a:p>
          </p:txBody>
        </p:sp>
      </p:grpSp>
      <p:grpSp>
        <p:nvGrpSpPr>
          <p:cNvPr id="42" name="Group 42"/>
          <p:cNvGrpSpPr/>
          <p:nvPr/>
        </p:nvGrpSpPr>
        <p:grpSpPr>
          <a:xfrm rot="-5400000">
            <a:off x="6679280" y="1067111"/>
            <a:ext cx="391093" cy="4117240"/>
            <a:chOff x="0" y="0"/>
            <a:chExt cx="89878" cy="946192"/>
          </a:xfrm>
        </p:grpSpPr>
        <p:sp>
          <p:nvSpPr>
            <p:cNvPr id="43" name="Freeform 43"/>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44" name="TextBox 44"/>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45" name="TextBox 45"/>
          <p:cNvSpPr txBox="1"/>
          <p:nvPr/>
        </p:nvSpPr>
        <p:spPr>
          <a:xfrm>
            <a:off x="918624" y="2946706"/>
            <a:ext cx="3208946"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RENTING O COMPRA LAPTOP</a:t>
            </a:r>
          </a:p>
        </p:txBody>
      </p:sp>
      <p:grpSp>
        <p:nvGrpSpPr>
          <p:cNvPr id="46" name="Group 46"/>
          <p:cNvGrpSpPr/>
          <p:nvPr/>
        </p:nvGrpSpPr>
        <p:grpSpPr>
          <a:xfrm rot="-5400000">
            <a:off x="10416829" y="-2083456"/>
            <a:ext cx="391093" cy="11592338"/>
            <a:chOff x="0" y="0"/>
            <a:chExt cx="89878" cy="2664061"/>
          </a:xfrm>
        </p:grpSpPr>
        <p:sp>
          <p:nvSpPr>
            <p:cNvPr id="47" name="Freeform 47"/>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48" name="TextBox 48"/>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49" name="Group 49"/>
          <p:cNvGrpSpPr/>
          <p:nvPr/>
        </p:nvGrpSpPr>
        <p:grpSpPr>
          <a:xfrm rot="-5400000">
            <a:off x="7816840" y="516533"/>
            <a:ext cx="391093" cy="6392361"/>
            <a:chOff x="0" y="0"/>
            <a:chExt cx="89878" cy="1469043"/>
          </a:xfrm>
        </p:grpSpPr>
        <p:sp>
          <p:nvSpPr>
            <p:cNvPr id="50" name="Freeform 50"/>
            <p:cNvSpPr/>
            <p:nvPr/>
          </p:nvSpPr>
          <p:spPr>
            <a:xfrm>
              <a:off x="0" y="0"/>
              <a:ext cx="89878" cy="1469043"/>
            </a:xfrm>
            <a:custGeom>
              <a:avLst/>
              <a:gdLst/>
              <a:ahLst/>
              <a:cxnLst/>
              <a:rect l="l" t="t" r="r" b="b"/>
              <a:pathLst>
                <a:path w="89878" h="1469043">
                  <a:moveTo>
                    <a:pt x="44939" y="0"/>
                  </a:moveTo>
                  <a:lnTo>
                    <a:pt x="44939" y="0"/>
                  </a:lnTo>
                  <a:cubicBezTo>
                    <a:pt x="56857" y="0"/>
                    <a:pt x="68288" y="4735"/>
                    <a:pt x="76716" y="13162"/>
                  </a:cubicBezTo>
                  <a:cubicBezTo>
                    <a:pt x="85143" y="21590"/>
                    <a:pt x="89878" y="33020"/>
                    <a:pt x="89878" y="44939"/>
                  </a:cubicBezTo>
                  <a:lnTo>
                    <a:pt x="89878" y="1424104"/>
                  </a:lnTo>
                  <a:cubicBezTo>
                    <a:pt x="89878" y="1448923"/>
                    <a:pt x="69758" y="1469043"/>
                    <a:pt x="44939" y="1469043"/>
                  </a:cubicBezTo>
                  <a:lnTo>
                    <a:pt x="44939" y="1469043"/>
                  </a:lnTo>
                  <a:cubicBezTo>
                    <a:pt x="20120" y="1469043"/>
                    <a:pt x="0" y="1448923"/>
                    <a:pt x="0" y="1424104"/>
                  </a:cubicBezTo>
                  <a:lnTo>
                    <a:pt x="0" y="44939"/>
                  </a:lnTo>
                  <a:cubicBezTo>
                    <a:pt x="0" y="20120"/>
                    <a:pt x="20120" y="0"/>
                    <a:pt x="44939" y="0"/>
                  </a:cubicBezTo>
                  <a:close/>
                </a:path>
              </a:pathLst>
            </a:custGeom>
            <a:solidFill>
              <a:srgbClr val="4225FA">
                <a:alpha val="12941"/>
              </a:srgbClr>
            </a:solidFill>
          </p:spPr>
        </p:sp>
        <p:sp>
          <p:nvSpPr>
            <p:cNvPr id="51" name="TextBox 51"/>
            <p:cNvSpPr txBox="1"/>
            <p:nvPr/>
          </p:nvSpPr>
          <p:spPr>
            <a:xfrm>
              <a:off x="0" y="-38100"/>
              <a:ext cx="89878" cy="1507143"/>
            </a:xfrm>
            <a:prstGeom prst="rect">
              <a:avLst/>
            </a:prstGeom>
          </p:spPr>
          <p:txBody>
            <a:bodyPr lIns="50800" tIns="50800" rIns="50800" bIns="50800" rtlCol="0" anchor="ctr"/>
            <a:lstStyle/>
            <a:p>
              <a:pPr algn="ctr">
                <a:lnSpc>
                  <a:spcPts val="2100"/>
                </a:lnSpc>
                <a:spcBef>
                  <a:spcPct val="0"/>
                </a:spcBef>
              </a:pPr>
              <a:endParaRPr/>
            </a:p>
          </p:txBody>
        </p:sp>
      </p:grpSp>
      <p:grpSp>
        <p:nvGrpSpPr>
          <p:cNvPr id="52" name="Group 52"/>
          <p:cNvGrpSpPr/>
          <p:nvPr/>
        </p:nvGrpSpPr>
        <p:grpSpPr>
          <a:xfrm rot="-5400000">
            <a:off x="6679280" y="1654093"/>
            <a:ext cx="391093" cy="4117240"/>
            <a:chOff x="0" y="0"/>
            <a:chExt cx="89878" cy="946192"/>
          </a:xfrm>
        </p:grpSpPr>
        <p:sp>
          <p:nvSpPr>
            <p:cNvPr id="53" name="Freeform 53"/>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54" name="TextBox 54"/>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55" name="TextBox 55"/>
          <p:cNvSpPr txBox="1"/>
          <p:nvPr/>
        </p:nvSpPr>
        <p:spPr>
          <a:xfrm>
            <a:off x="954280" y="3533689"/>
            <a:ext cx="3208946"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EQUIPO DIGITALIZACIÓN</a:t>
            </a:r>
          </a:p>
        </p:txBody>
      </p:sp>
      <p:grpSp>
        <p:nvGrpSpPr>
          <p:cNvPr id="56" name="Group 56"/>
          <p:cNvGrpSpPr/>
          <p:nvPr/>
        </p:nvGrpSpPr>
        <p:grpSpPr>
          <a:xfrm rot="-5400000">
            <a:off x="10416829" y="-1496474"/>
            <a:ext cx="391093" cy="11592338"/>
            <a:chOff x="0" y="0"/>
            <a:chExt cx="89878" cy="2664061"/>
          </a:xfrm>
        </p:grpSpPr>
        <p:sp>
          <p:nvSpPr>
            <p:cNvPr id="57" name="Freeform 57"/>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58" name="TextBox 58"/>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59" name="Group 59"/>
          <p:cNvGrpSpPr/>
          <p:nvPr/>
        </p:nvGrpSpPr>
        <p:grpSpPr>
          <a:xfrm rot="-5400000">
            <a:off x="7100252" y="1820103"/>
            <a:ext cx="391093" cy="4959185"/>
            <a:chOff x="0" y="0"/>
            <a:chExt cx="89878" cy="1139681"/>
          </a:xfrm>
        </p:grpSpPr>
        <p:sp>
          <p:nvSpPr>
            <p:cNvPr id="60" name="Freeform 60"/>
            <p:cNvSpPr/>
            <p:nvPr/>
          </p:nvSpPr>
          <p:spPr>
            <a:xfrm>
              <a:off x="0" y="0"/>
              <a:ext cx="89878" cy="1139681"/>
            </a:xfrm>
            <a:custGeom>
              <a:avLst/>
              <a:gdLst/>
              <a:ahLst/>
              <a:cxnLst/>
              <a:rect l="l" t="t" r="r" b="b"/>
              <a:pathLst>
                <a:path w="89878" h="1139681">
                  <a:moveTo>
                    <a:pt x="44939" y="0"/>
                  </a:moveTo>
                  <a:lnTo>
                    <a:pt x="44939" y="0"/>
                  </a:lnTo>
                  <a:cubicBezTo>
                    <a:pt x="56857" y="0"/>
                    <a:pt x="68288" y="4735"/>
                    <a:pt x="76716" y="13162"/>
                  </a:cubicBezTo>
                  <a:cubicBezTo>
                    <a:pt x="85143" y="21590"/>
                    <a:pt x="89878" y="33020"/>
                    <a:pt x="89878" y="44939"/>
                  </a:cubicBezTo>
                  <a:lnTo>
                    <a:pt x="89878" y="1094742"/>
                  </a:lnTo>
                  <a:cubicBezTo>
                    <a:pt x="89878" y="1119561"/>
                    <a:pt x="69758" y="1139681"/>
                    <a:pt x="44939" y="1139681"/>
                  </a:cubicBezTo>
                  <a:lnTo>
                    <a:pt x="44939" y="1139681"/>
                  </a:lnTo>
                  <a:cubicBezTo>
                    <a:pt x="20120" y="1139681"/>
                    <a:pt x="0" y="1119561"/>
                    <a:pt x="0" y="1094742"/>
                  </a:cubicBezTo>
                  <a:lnTo>
                    <a:pt x="0" y="44939"/>
                  </a:lnTo>
                  <a:cubicBezTo>
                    <a:pt x="0" y="20120"/>
                    <a:pt x="20120" y="0"/>
                    <a:pt x="44939" y="0"/>
                  </a:cubicBezTo>
                  <a:close/>
                </a:path>
              </a:pathLst>
            </a:custGeom>
            <a:solidFill>
              <a:srgbClr val="4225FA">
                <a:alpha val="12941"/>
              </a:srgbClr>
            </a:solidFill>
          </p:spPr>
        </p:sp>
        <p:sp>
          <p:nvSpPr>
            <p:cNvPr id="61" name="TextBox 61"/>
            <p:cNvSpPr txBox="1"/>
            <p:nvPr/>
          </p:nvSpPr>
          <p:spPr>
            <a:xfrm>
              <a:off x="0" y="-38100"/>
              <a:ext cx="89878" cy="1177781"/>
            </a:xfrm>
            <a:prstGeom prst="rect">
              <a:avLst/>
            </a:prstGeom>
          </p:spPr>
          <p:txBody>
            <a:bodyPr lIns="50800" tIns="50800" rIns="50800" bIns="50800" rtlCol="0" anchor="ctr"/>
            <a:lstStyle/>
            <a:p>
              <a:pPr algn="ctr">
                <a:lnSpc>
                  <a:spcPts val="2100"/>
                </a:lnSpc>
                <a:spcBef>
                  <a:spcPct val="0"/>
                </a:spcBef>
              </a:pPr>
              <a:endParaRPr/>
            </a:p>
          </p:txBody>
        </p:sp>
      </p:grpSp>
      <p:grpSp>
        <p:nvGrpSpPr>
          <p:cNvPr id="62" name="Group 62"/>
          <p:cNvGrpSpPr/>
          <p:nvPr/>
        </p:nvGrpSpPr>
        <p:grpSpPr>
          <a:xfrm rot="-5400000">
            <a:off x="6679280" y="2241076"/>
            <a:ext cx="391093" cy="4117240"/>
            <a:chOff x="0" y="0"/>
            <a:chExt cx="89878" cy="946192"/>
          </a:xfrm>
        </p:grpSpPr>
        <p:sp>
          <p:nvSpPr>
            <p:cNvPr id="63" name="Freeform 63"/>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64" name="TextBox 64"/>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65" name="TextBox 65"/>
          <p:cNvSpPr txBox="1"/>
          <p:nvPr/>
        </p:nvSpPr>
        <p:spPr>
          <a:xfrm>
            <a:off x="954280" y="4126405"/>
            <a:ext cx="3208946"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PROCESOS DOCUMENTADOS</a:t>
            </a:r>
          </a:p>
        </p:txBody>
      </p:sp>
      <p:grpSp>
        <p:nvGrpSpPr>
          <p:cNvPr id="66" name="Group 66"/>
          <p:cNvGrpSpPr/>
          <p:nvPr/>
        </p:nvGrpSpPr>
        <p:grpSpPr>
          <a:xfrm rot="-5400000">
            <a:off x="2363207" y="2997464"/>
            <a:ext cx="391093" cy="3759772"/>
            <a:chOff x="0" y="0"/>
            <a:chExt cx="89878" cy="864041"/>
          </a:xfrm>
        </p:grpSpPr>
        <p:sp>
          <p:nvSpPr>
            <p:cNvPr id="67" name="Freeform 67"/>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19DF4"/>
            </a:solidFill>
          </p:spPr>
        </p:sp>
        <p:sp>
          <p:nvSpPr>
            <p:cNvPr id="68" name="TextBox 68"/>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69" name="Group 69"/>
          <p:cNvGrpSpPr/>
          <p:nvPr/>
        </p:nvGrpSpPr>
        <p:grpSpPr>
          <a:xfrm rot="-5400000">
            <a:off x="2363207" y="3584446"/>
            <a:ext cx="391093" cy="3759772"/>
            <a:chOff x="0" y="0"/>
            <a:chExt cx="89878" cy="864041"/>
          </a:xfrm>
        </p:grpSpPr>
        <p:sp>
          <p:nvSpPr>
            <p:cNvPr id="70" name="Freeform 70"/>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19DF4"/>
            </a:solidFill>
          </p:spPr>
        </p:sp>
        <p:sp>
          <p:nvSpPr>
            <p:cNvPr id="71" name="TextBox 71"/>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72" name="Group 72"/>
          <p:cNvGrpSpPr/>
          <p:nvPr/>
        </p:nvGrpSpPr>
        <p:grpSpPr>
          <a:xfrm rot="-5400000">
            <a:off x="10416829" y="-918819"/>
            <a:ext cx="391093" cy="11592338"/>
            <a:chOff x="0" y="0"/>
            <a:chExt cx="89878" cy="2664061"/>
          </a:xfrm>
        </p:grpSpPr>
        <p:sp>
          <p:nvSpPr>
            <p:cNvPr id="73" name="Freeform 73"/>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74" name="TextBox 74"/>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75" name="Group 75"/>
          <p:cNvGrpSpPr/>
          <p:nvPr/>
        </p:nvGrpSpPr>
        <p:grpSpPr>
          <a:xfrm rot="-5400000">
            <a:off x="7673965" y="1824044"/>
            <a:ext cx="391093" cy="6106611"/>
            <a:chOff x="0" y="0"/>
            <a:chExt cx="89878" cy="1403374"/>
          </a:xfrm>
        </p:grpSpPr>
        <p:sp>
          <p:nvSpPr>
            <p:cNvPr id="76" name="Freeform 76"/>
            <p:cNvSpPr/>
            <p:nvPr/>
          </p:nvSpPr>
          <p:spPr>
            <a:xfrm>
              <a:off x="0" y="0"/>
              <a:ext cx="89878" cy="1403374"/>
            </a:xfrm>
            <a:custGeom>
              <a:avLst/>
              <a:gdLst/>
              <a:ahLst/>
              <a:cxnLst/>
              <a:rect l="l" t="t" r="r" b="b"/>
              <a:pathLst>
                <a:path w="89878" h="1403374">
                  <a:moveTo>
                    <a:pt x="44939" y="0"/>
                  </a:moveTo>
                  <a:lnTo>
                    <a:pt x="44939" y="0"/>
                  </a:lnTo>
                  <a:cubicBezTo>
                    <a:pt x="56857" y="0"/>
                    <a:pt x="68288" y="4735"/>
                    <a:pt x="76716" y="13162"/>
                  </a:cubicBezTo>
                  <a:cubicBezTo>
                    <a:pt x="85143" y="21590"/>
                    <a:pt x="89878" y="33020"/>
                    <a:pt x="89878" y="44939"/>
                  </a:cubicBezTo>
                  <a:lnTo>
                    <a:pt x="89878" y="1358435"/>
                  </a:lnTo>
                  <a:cubicBezTo>
                    <a:pt x="89878" y="1383254"/>
                    <a:pt x="69758" y="1403374"/>
                    <a:pt x="44939" y="1403374"/>
                  </a:cubicBezTo>
                  <a:lnTo>
                    <a:pt x="44939" y="1403374"/>
                  </a:lnTo>
                  <a:cubicBezTo>
                    <a:pt x="33020" y="1403374"/>
                    <a:pt x="21590" y="1398639"/>
                    <a:pt x="13162" y="1390211"/>
                  </a:cubicBezTo>
                  <a:cubicBezTo>
                    <a:pt x="4735" y="1381784"/>
                    <a:pt x="0" y="1370353"/>
                    <a:pt x="0" y="1358435"/>
                  </a:cubicBezTo>
                  <a:lnTo>
                    <a:pt x="0" y="44939"/>
                  </a:lnTo>
                  <a:cubicBezTo>
                    <a:pt x="0" y="20120"/>
                    <a:pt x="20120" y="0"/>
                    <a:pt x="44939" y="0"/>
                  </a:cubicBezTo>
                  <a:close/>
                </a:path>
              </a:pathLst>
            </a:custGeom>
            <a:solidFill>
              <a:srgbClr val="4225FA">
                <a:alpha val="12941"/>
              </a:srgbClr>
            </a:solidFill>
          </p:spPr>
        </p:sp>
        <p:sp>
          <p:nvSpPr>
            <p:cNvPr id="77" name="TextBox 77"/>
            <p:cNvSpPr txBox="1"/>
            <p:nvPr/>
          </p:nvSpPr>
          <p:spPr>
            <a:xfrm>
              <a:off x="0" y="-38100"/>
              <a:ext cx="89878" cy="1441474"/>
            </a:xfrm>
            <a:prstGeom prst="rect">
              <a:avLst/>
            </a:prstGeom>
          </p:spPr>
          <p:txBody>
            <a:bodyPr lIns="50800" tIns="50800" rIns="50800" bIns="50800" rtlCol="0" anchor="ctr"/>
            <a:lstStyle/>
            <a:p>
              <a:pPr algn="ctr">
                <a:lnSpc>
                  <a:spcPts val="2100"/>
                </a:lnSpc>
                <a:spcBef>
                  <a:spcPct val="0"/>
                </a:spcBef>
              </a:pPr>
              <a:endParaRPr/>
            </a:p>
          </p:txBody>
        </p:sp>
      </p:grpSp>
      <p:grpSp>
        <p:nvGrpSpPr>
          <p:cNvPr id="78" name="Group 78"/>
          <p:cNvGrpSpPr/>
          <p:nvPr/>
        </p:nvGrpSpPr>
        <p:grpSpPr>
          <a:xfrm rot="-5400000">
            <a:off x="6679280" y="2818730"/>
            <a:ext cx="391093" cy="4117240"/>
            <a:chOff x="0" y="0"/>
            <a:chExt cx="89878" cy="946192"/>
          </a:xfrm>
        </p:grpSpPr>
        <p:sp>
          <p:nvSpPr>
            <p:cNvPr id="79" name="Freeform 79"/>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80" name="TextBox 80"/>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81" name="TextBox 81"/>
          <p:cNvSpPr txBox="1"/>
          <p:nvPr/>
        </p:nvSpPr>
        <p:spPr>
          <a:xfrm>
            <a:off x="954280" y="4698326"/>
            <a:ext cx="3208946"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PLIEGO UNIFICADO </a:t>
            </a:r>
          </a:p>
        </p:txBody>
      </p:sp>
      <p:grpSp>
        <p:nvGrpSpPr>
          <p:cNvPr id="82" name="Group 82"/>
          <p:cNvGrpSpPr/>
          <p:nvPr/>
        </p:nvGrpSpPr>
        <p:grpSpPr>
          <a:xfrm rot="-5400000">
            <a:off x="10416829" y="-331837"/>
            <a:ext cx="391093" cy="11592338"/>
            <a:chOff x="0" y="0"/>
            <a:chExt cx="89878" cy="2664061"/>
          </a:xfrm>
        </p:grpSpPr>
        <p:sp>
          <p:nvSpPr>
            <p:cNvPr id="83" name="Freeform 83"/>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84" name="TextBox 84"/>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85" name="Group 85"/>
          <p:cNvGrpSpPr/>
          <p:nvPr/>
        </p:nvGrpSpPr>
        <p:grpSpPr>
          <a:xfrm rot="-5400000">
            <a:off x="7100252" y="2984740"/>
            <a:ext cx="391093" cy="4959185"/>
            <a:chOff x="0" y="0"/>
            <a:chExt cx="89878" cy="1139681"/>
          </a:xfrm>
        </p:grpSpPr>
        <p:sp>
          <p:nvSpPr>
            <p:cNvPr id="86" name="Freeform 86"/>
            <p:cNvSpPr/>
            <p:nvPr/>
          </p:nvSpPr>
          <p:spPr>
            <a:xfrm>
              <a:off x="0" y="0"/>
              <a:ext cx="89878" cy="1139681"/>
            </a:xfrm>
            <a:custGeom>
              <a:avLst/>
              <a:gdLst/>
              <a:ahLst/>
              <a:cxnLst/>
              <a:rect l="l" t="t" r="r" b="b"/>
              <a:pathLst>
                <a:path w="89878" h="1139681">
                  <a:moveTo>
                    <a:pt x="44939" y="0"/>
                  </a:moveTo>
                  <a:lnTo>
                    <a:pt x="44939" y="0"/>
                  </a:lnTo>
                  <a:cubicBezTo>
                    <a:pt x="56857" y="0"/>
                    <a:pt x="68288" y="4735"/>
                    <a:pt x="76716" y="13162"/>
                  </a:cubicBezTo>
                  <a:cubicBezTo>
                    <a:pt x="85143" y="21590"/>
                    <a:pt x="89878" y="33020"/>
                    <a:pt x="89878" y="44939"/>
                  </a:cubicBezTo>
                  <a:lnTo>
                    <a:pt x="89878" y="1094742"/>
                  </a:lnTo>
                  <a:cubicBezTo>
                    <a:pt x="89878" y="1119561"/>
                    <a:pt x="69758" y="1139681"/>
                    <a:pt x="44939" y="1139681"/>
                  </a:cubicBezTo>
                  <a:lnTo>
                    <a:pt x="44939" y="1139681"/>
                  </a:lnTo>
                  <a:cubicBezTo>
                    <a:pt x="20120" y="1139681"/>
                    <a:pt x="0" y="1119561"/>
                    <a:pt x="0" y="1094742"/>
                  </a:cubicBezTo>
                  <a:lnTo>
                    <a:pt x="0" y="44939"/>
                  </a:lnTo>
                  <a:cubicBezTo>
                    <a:pt x="0" y="20120"/>
                    <a:pt x="20120" y="0"/>
                    <a:pt x="44939" y="0"/>
                  </a:cubicBezTo>
                  <a:close/>
                </a:path>
              </a:pathLst>
            </a:custGeom>
            <a:solidFill>
              <a:srgbClr val="4225FA">
                <a:alpha val="12941"/>
              </a:srgbClr>
            </a:solidFill>
          </p:spPr>
        </p:sp>
        <p:sp>
          <p:nvSpPr>
            <p:cNvPr id="87" name="TextBox 87"/>
            <p:cNvSpPr txBox="1"/>
            <p:nvPr/>
          </p:nvSpPr>
          <p:spPr>
            <a:xfrm>
              <a:off x="0" y="-38100"/>
              <a:ext cx="89878" cy="1177781"/>
            </a:xfrm>
            <a:prstGeom prst="rect">
              <a:avLst/>
            </a:prstGeom>
          </p:spPr>
          <p:txBody>
            <a:bodyPr lIns="50800" tIns="50800" rIns="50800" bIns="50800" rtlCol="0" anchor="ctr"/>
            <a:lstStyle/>
            <a:p>
              <a:pPr algn="ctr">
                <a:lnSpc>
                  <a:spcPts val="2100"/>
                </a:lnSpc>
                <a:spcBef>
                  <a:spcPct val="0"/>
                </a:spcBef>
              </a:pPr>
              <a:endParaRPr/>
            </a:p>
          </p:txBody>
        </p:sp>
      </p:grpSp>
      <p:grpSp>
        <p:nvGrpSpPr>
          <p:cNvPr id="88" name="Group 88"/>
          <p:cNvGrpSpPr/>
          <p:nvPr/>
        </p:nvGrpSpPr>
        <p:grpSpPr>
          <a:xfrm rot="-5400000">
            <a:off x="6679280" y="3405712"/>
            <a:ext cx="391093" cy="4117240"/>
            <a:chOff x="0" y="0"/>
            <a:chExt cx="89878" cy="946192"/>
          </a:xfrm>
        </p:grpSpPr>
        <p:sp>
          <p:nvSpPr>
            <p:cNvPr id="89" name="Freeform 89"/>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90" name="TextBox 90"/>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91" name="TextBox 91"/>
          <p:cNvSpPr txBox="1"/>
          <p:nvPr/>
        </p:nvSpPr>
        <p:spPr>
          <a:xfrm>
            <a:off x="816574" y="5291042"/>
            <a:ext cx="3484359"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PY MIGRACIÓN REMEDY A JIRA</a:t>
            </a:r>
          </a:p>
        </p:txBody>
      </p:sp>
      <p:grpSp>
        <p:nvGrpSpPr>
          <p:cNvPr id="92" name="Group 92"/>
          <p:cNvGrpSpPr/>
          <p:nvPr/>
        </p:nvGrpSpPr>
        <p:grpSpPr>
          <a:xfrm rot="-5400000">
            <a:off x="2363207" y="4162101"/>
            <a:ext cx="391093" cy="3759772"/>
            <a:chOff x="0" y="0"/>
            <a:chExt cx="89878" cy="864041"/>
          </a:xfrm>
        </p:grpSpPr>
        <p:sp>
          <p:nvSpPr>
            <p:cNvPr id="93" name="Freeform 93"/>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0C3F7"/>
            </a:solidFill>
          </p:spPr>
        </p:sp>
        <p:sp>
          <p:nvSpPr>
            <p:cNvPr id="94" name="TextBox 94"/>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95" name="Group 95"/>
          <p:cNvGrpSpPr/>
          <p:nvPr/>
        </p:nvGrpSpPr>
        <p:grpSpPr>
          <a:xfrm rot="-5400000">
            <a:off x="10416829" y="245818"/>
            <a:ext cx="391093" cy="11592338"/>
            <a:chOff x="0" y="0"/>
            <a:chExt cx="89878" cy="2664061"/>
          </a:xfrm>
        </p:grpSpPr>
        <p:sp>
          <p:nvSpPr>
            <p:cNvPr id="96" name="Freeform 96"/>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97" name="TextBox 97"/>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98" name="Group 98"/>
          <p:cNvGrpSpPr/>
          <p:nvPr/>
        </p:nvGrpSpPr>
        <p:grpSpPr>
          <a:xfrm rot="-5400000">
            <a:off x="7816840" y="2845806"/>
            <a:ext cx="391093" cy="6392361"/>
            <a:chOff x="0" y="0"/>
            <a:chExt cx="89878" cy="1469043"/>
          </a:xfrm>
        </p:grpSpPr>
        <p:sp>
          <p:nvSpPr>
            <p:cNvPr id="99" name="Freeform 99"/>
            <p:cNvSpPr/>
            <p:nvPr/>
          </p:nvSpPr>
          <p:spPr>
            <a:xfrm>
              <a:off x="0" y="0"/>
              <a:ext cx="89878" cy="1469043"/>
            </a:xfrm>
            <a:custGeom>
              <a:avLst/>
              <a:gdLst/>
              <a:ahLst/>
              <a:cxnLst/>
              <a:rect l="l" t="t" r="r" b="b"/>
              <a:pathLst>
                <a:path w="89878" h="1469043">
                  <a:moveTo>
                    <a:pt x="44939" y="0"/>
                  </a:moveTo>
                  <a:lnTo>
                    <a:pt x="44939" y="0"/>
                  </a:lnTo>
                  <a:cubicBezTo>
                    <a:pt x="56857" y="0"/>
                    <a:pt x="68288" y="4735"/>
                    <a:pt x="76716" y="13162"/>
                  </a:cubicBezTo>
                  <a:cubicBezTo>
                    <a:pt x="85143" y="21590"/>
                    <a:pt x="89878" y="33020"/>
                    <a:pt x="89878" y="44939"/>
                  </a:cubicBezTo>
                  <a:lnTo>
                    <a:pt x="89878" y="1424104"/>
                  </a:lnTo>
                  <a:cubicBezTo>
                    <a:pt x="89878" y="1448923"/>
                    <a:pt x="69758" y="1469043"/>
                    <a:pt x="44939" y="1469043"/>
                  </a:cubicBezTo>
                  <a:lnTo>
                    <a:pt x="44939" y="1469043"/>
                  </a:lnTo>
                  <a:cubicBezTo>
                    <a:pt x="20120" y="1469043"/>
                    <a:pt x="0" y="1448923"/>
                    <a:pt x="0" y="1424104"/>
                  </a:cubicBezTo>
                  <a:lnTo>
                    <a:pt x="0" y="44939"/>
                  </a:lnTo>
                  <a:cubicBezTo>
                    <a:pt x="0" y="20120"/>
                    <a:pt x="20120" y="0"/>
                    <a:pt x="44939" y="0"/>
                  </a:cubicBezTo>
                  <a:close/>
                </a:path>
              </a:pathLst>
            </a:custGeom>
            <a:solidFill>
              <a:srgbClr val="4225FA">
                <a:alpha val="12941"/>
              </a:srgbClr>
            </a:solidFill>
          </p:spPr>
        </p:sp>
        <p:sp>
          <p:nvSpPr>
            <p:cNvPr id="100" name="TextBox 100"/>
            <p:cNvSpPr txBox="1"/>
            <p:nvPr/>
          </p:nvSpPr>
          <p:spPr>
            <a:xfrm>
              <a:off x="0" y="-38100"/>
              <a:ext cx="89878" cy="1507143"/>
            </a:xfrm>
            <a:prstGeom prst="rect">
              <a:avLst/>
            </a:prstGeom>
          </p:spPr>
          <p:txBody>
            <a:bodyPr lIns="50800" tIns="50800" rIns="50800" bIns="50800" rtlCol="0" anchor="ctr"/>
            <a:lstStyle/>
            <a:p>
              <a:pPr algn="ctr">
                <a:lnSpc>
                  <a:spcPts val="2100"/>
                </a:lnSpc>
                <a:spcBef>
                  <a:spcPct val="0"/>
                </a:spcBef>
              </a:pPr>
              <a:endParaRPr/>
            </a:p>
          </p:txBody>
        </p:sp>
      </p:grpSp>
      <p:grpSp>
        <p:nvGrpSpPr>
          <p:cNvPr id="101" name="Group 101"/>
          <p:cNvGrpSpPr/>
          <p:nvPr/>
        </p:nvGrpSpPr>
        <p:grpSpPr>
          <a:xfrm rot="-5400000">
            <a:off x="6679280" y="3983367"/>
            <a:ext cx="391093" cy="4117240"/>
            <a:chOff x="0" y="0"/>
            <a:chExt cx="89878" cy="946192"/>
          </a:xfrm>
        </p:grpSpPr>
        <p:sp>
          <p:nvSpPr>
            <p:cNvPr id="102" name="Freeform 102"/>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103" name="TextBox 103"/>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104" name="TextBox 104"/>
          <p:cNvSpPr txBox="1"/>
          <p:nvPr/>
        </p:nvSpPr>
        <p:spPr>
          <a:xfrm>
            <a:off x="954280" y="5868696"/>
            <a:ext cx="3208946"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MICROSOFT 365</a:t>
            </a:r>
          </a:p>
        </p:txBody>
      </p:sp>
      <p:grpSp>
        <p:nvGrpSpPr>
          <p:cNvPr id="105" name="Group 105"/>
          <p:cNvGrpSpPr/>
          <p:nvPr/>
        </p:nvGrpSpPr>
        <p:grpSpPr>
          <a:xfrm rot="-5400000">
            <a:off x="2363207" y="4739755"/>
            <a:ext cx="391093" cy="3759772"/>
            <a:chOff x="0" y="0"/>
            <a:chExt cx="89878" cy="864041"/>
          </a:xfrm>
        </p:grpSpPr>
        <p:sp>
          <p:nvSpPr>
            <p:cNvPr id="106" name="Freeform 106"/>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0C3F7"/>
            </a:solidFill>
          </p:spPr>
        </p:sp>
        <p:sp>
          <p:nvSpPr>
            <p:cNvPr id="107" name="TextBox 107"/>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108" name="Group 108"/>
          <p:cNvGrpSpPr/>
          <p:nvPr/>
        </p:nvGrpSpPr>
        <p:grpSpPr>
          <a:xfrm rot="-5400000">
            <a:off x="2363207" y="5326738"/>
            <a:ext cx="391093" cy="3759772"/>
            <a:chOff x="0" y="0"/>
            <a:chExt cx="89878" cy="864041"/>
          </a:xfrm>
        </p:grpSpPr>
        <p:sp>
          <p:nvSpPr>
            <p:cNvPr id="109" name="Freeform 109"/>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00468"/>
            </a:solidFill>
          </p:spPr>
        </p:sp>
        <p:sp>
          <p:nvSpPr>
            <p:cNvPr id="110" name="TextBox 110"/>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111" name="Group 111"/>
          <p:cNvGrpSpPr/>
          <p:nvPr/>
        </p:nvGrpSpPr>
        <p:grpSpPr>
          <a:xfrm rot="-5400000">
            <a:off x="10416829" y="823472"/>
            <a:ext cx="391093" cy="11592338"/>
            <a:chOff x="0" y="0"/>
            <a:chExt cx="89878" cy="2664061"/>
          </a:xfrm>
        </p:grpSpPr>
        <p:sp>
          <p:nvSpPr>
            <p:cNvPr id="112" name="Freeform 112"/>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113" name="TextBox 113"/>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114" name="Group 114"/>
          <p:cNvGrpSpPr/>
          <p:nvPr/>
        </p:nvGrpSpPr>
        <p:grpSpPr>
          <a:xfrm rot="-5400000">
            <a:off x="7100252" y="4140049"/>
            <a:ext cx="391093" cy="4959185"/>
            <a:chOff x="0" y="0"/>
            <a:chExt cx="89878" cy="1139681"/>
          </a:xfrm>
        </p:grpSpPr>
        <p:sp>
          <p:nvSpPr>
            <p:cNvPr id="115" name="Freeform 115"/>
            <p:cNvSpPr/>
            <p:nvPr/>
          </p:nvSpPr>
          <p:spPr>
            <a:xfrm>
              <a:off x="0" y="0"/>
              <a:ext cx="89878" cy="1139681"/>
            </a:xfrm>
            <a:custGeom>
              <a:avLst/>
              <a:gdLst/>
              <a:ahLst/>
              <a:cxnLst/>
              <a:rect l="l" t="t" r="r" b="b"/>
              <a:pathLst>
                <a:path w="89878" h="1139681">
                  <a:moveTo>
                    <a:pt x="44939" y="0"/>
                  </a:moveTo>
                  <a:lnTo>
                    <a:pt x="44939" y="0"/>
                  </a:lnTo>
                  <a:cubicBezTo>
                    <a:pt x="56857" y="0"/>
                    <a:pt x="68288" y="4735"/>
                    <a:pt x="76716" y="13162"/>
                  </a:cubicBezTo>
                  <a:cubicBezTo>
                    <a:pt x="85143" y="21590"/>
                    <a:pt x="89878" y="33020"/>
                    <a:pt x="89878" y="44939"/>
                  </a:cubicBezTo>
                  <a:lnTo>
                    <a:pt x="89878" y="1094742"/>
                  </a:lnTo>
                  <a:cubicBezTo>
                    <a:pt x="89878" y="1119561"/>
                    <a:pt x="69758" y="1139681"/>
                    <a:pt x="44939" y="1139681"/>
                  </a:cubicBezTo>
                  <a:lnTo>
                    <a:pt x="44939" y="1139681"/>
                  </a:lnTo>
                  <a:cubicBezTo>
                    <a:pt x="20120" y="1139681"/>
                    <a:pt x="0" y="1119561"/>
                    <a:pt x="0" y="1094742"/>
                  </a:cubicBezTo>
                  <a:lnTo>
                    <a:pt x="0" y="44939"/>
                  </a:lnTo>
                  <a:cubicBezTo>
                    <a:pt x="0" y="20120"/>
                    <a:pt x="20120" y="0"/>
                    <a:pt x="44939" y="0"/>
                  </a:cubicBezTo>
                  <a:close/>
                </a:path>
              </a:pathLst>
            </a:custGeom>
            <a:solidFill>
              <a:srgbClr val="4225FA">
                <a:alpha val="12941"/>
              </a:srgbClr>
            </a:solidFill>
          </p:spPr>
        </p:sp>
        <p:sp>
          <p:nvSpPr>
            <p:cNvPr id="116" name="TextBox 116"/>
            <p:cNvSpPr txBox="1"/>
            <p:nvPr/>
          </p:nvSpPr>
          <p:spPr>
            <a:xfrm>
              <a:off x="0" y="-38100"/>
              <a:ext cx="89878" cy="1177781"/>
            </a:xfrm>
            <a:prstGeom prst="rect">
              <a:avLst/>
            </a:prstGeom>
          </p:spPr>
          <p:txBody>
            <a:bodyPr lIns="50800" tIns="50800" rIns="50800" bIns="50800" rtlCol="0" anchor="ctr"/>
            <a:lstStyle/>
            <a:p>
              <a:pPr algn="ctr">
                <a:lnSpc>
                  <a:spcPts val="2100"/>
                </a:lnSpc>
                <a:spcBef>
                  <a:spcPct val="0"/>
                </a:spcBef>
              </a:pPr>
              <a:endParaRPr/>
            </a:p>
          </p:txBody>
        </p:sp>
      </p:grpSp>
      <p:grpSp>
        <p:nvGrpSpPr>
          <p:cNvPr id="117" name="Group 117"/>
          <p:cNvGrpSpPr/>
          <p:nvPr/>
        </p:nvGrpSpPr>
        <p:grpSpPr>
          <a:xfrm rot="-5400000">
            <a:off x="6679280" y="4561021"/>
            <a:ext cx="391093" cy="4117240"/>
            <a:chOff x="0" y="0"/>
            <a:chExt cx="89878" cy="946192"/>
          </a:xfrm>
        </p:grpSpPr>
        <p:sp>
          <p:nvSpPr>
            <p:cNvPr id="118" name="Freeform 118"/>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119" name="TextBox 119"/>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120" name="TextBox 120"/>
          <p:cNvSpPr txBox="1"/>
          <p:nvPr/>
        </p:nvSpPr>
        <p:spPr>
          <a:xfrm>
            <a:off x="954280" y="6440617"/>
            <a:ext cx="3208946"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SHAREPOINT</a:t>
            </a:r>
          </a:p>
        </p:txBody>
      </p:sp>
      <p:grpSp>
        <p:nvGrpSpPr>
          <p:cNvPr id="121" name="Group 121"/>
          <p:cNvGrpSpPr/>
          <p:nvPr/>
        </p:nvGrpSpPr>
        <p:grpSpPr>
          <a:xfrm rot="-5400000">
            <a:off x="10416829" y="1410455"/>
            <a:ext cx="391093" cy="11592338"/>
            <a:chOff x="0" y="0"/>
            <a:chExt cx="89878" cy="2664061"/>
          </a:xfrm>
        </p:grpSpPr>
        <p:sp>
          <p:nvSpPr>
            <p:cNvPr id="122" name="Freeform 122"/>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123" name="TextBox 123"/>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124" name="Group 124"/>
          <p:cNvGrpSpPr/>
          <p:nvPr/>
        </p:nvGrpSpPr>
        <p:grpSpPr>
          <a:xfrm rot="-5400000">
            <a:off x="7816840" y="4010443"/>
            <a:ext cx="391093" cy="6392361"/>
            <a:chOff x="0" y="0"/>
            <a:chExt cx="89878" cy="1469043"/>
          </a:xfrm>
        </p:grpSpPr>
        <p:sp>
          <p:nvSpPr>
            <p:cNvPr id="125" name="Freeform 125"/>
            <p:cNvSpPr/>
            <p:nvPr/>
          </p:nvSpPr>
          <p:spPr>
            <a:xfrm>
              <a:off x="0" y="0"/>
              <a:ext cx="89878" cy="1469043"/>
            </a:xfrm>
            <a:custGeom>
              <a:avLst/>
              <a:gdLst/>
              <a:ahLst/>
              <a:cxnLst/>
              <a:rect l="l" t="t" r="r" b="b"/>
              <a:pathLst>
                <a:path w="89878" h="1469043">
                  <a:moveTo>
                    <a:pt x="44939" y="0"/>
                  </a:moveTo>
                  <a:lnTo>
                    <a:pt x="44939" y="0"/>
                  </a:lnTo>
                  <a:cubicBezTo>
                    <a:pt x="56857" y="0"/>
                    <a:pt x="68288" y="4735"/>
                    <a:pt x="76716" y="13162"/>
                  </a:cubicBezTo>
                  <a:cubicBezTo>
                    <a:pt x="85143" y="21590"/>
                    <a:pt x="89878" y="33020"/>
                    <a:pt x="89878" y="44939"/>
                  </a:cubicBezTo>
                  <a:lnTo>
                    <a:pt x="89878" y="1424104"/>
                  </a:lnTo>
                  <a:cubicBezTo>
                    <a:pt x="89878" y="1448923"/>
                    <a:pt x="69758" y="1469043"/>
                    <a:pt x="44939" y="1469043"/>
                  </a:cubicBezTo>
                  <a:lnTo>
                    <a:pt x="44939" y="1469043"/>
                  </a:lnTo>
                  <a:cubicBezTo>
                    <a:pt x="20120" y="1469043"/>
                    <a:pt x="0" y="1448923"/>
                    <a:pt x="0" y="1424104"/>
                  </a:cubicBezTo>
                  <a:lnTo>
                    <a:pt x="0" y="44939"/>
                  </a:lnTo>
                  <a:cubicBezTo>
                    <a:pt x="0" y="20120"/>
                    <a:pt x="20120" y="0"/>
                    <a:pt x="44939" y="0"/>
                  </a:cubicBezTo>
                  <a:close/>
                </a:path>
              </a:pathLst>
            </a:custGeom>
            <a:solidFill>
              <a:srgbClr val="4225FA">
                <a:alpha val="12941"/>
              </a:srgbClr>
            </a:solidFill>
          </p:spPr>
        </p:sp>
        <p:sp>
          <p:nvSpPr>
            <p:cNvPr id="126" name="TextBox 126"/>
            <p:cNvSpPr txBox="1"/>
            <p:nvPr/>
          </p:nvSpPr>
          <p:spPr>
            <a:xfrm>
              <a:off x="0" y="-38100"/>
              <a:ext cx="89878" cy="1507143"/>
            </a:xfrm>
            <a:prstGeom prst="rect">
              <a:avLst/>
            </a:prstGeom>
          </p:spPr>
          <p:txBody>
            <a:bodyPr lIns="50800" tIns="50800" rIns="50800" bIns="50800" rtlCol="0" anchor="ctr"/>
            <a:lstStyle/>
            <a:p>
              <a:pPr algn="ctr">
                <a:lnSpc>
                  <a:spcPts val="2100"/>
                </a:lnSpc>
                <a:spcBef>
                  <a:spcPct val="0"/>
                </a:spcBef>
              </a:pPr>
              <a:endParaRPr/>
            </a:p>
          </p:txBody>
        </p:sp>
      </p:grpSp>
      <p:grpSp>
        <p:nvGrpSpPr>
          <p:cNvPr id="127" name="Group 127"/>
          <p:cNvGrpSpPr/>
          <p:nvPr/>
        </p:nvGrpSpPr>
        <p:grpSpPr>
          <a:xfrm rot="-5400000">
            <a:off x="6679280" y="5148004"/>
            <a:ext cx="391093" cy="4117240"/>
            <a:chOff x="0" y="0"/>
            <a:chExt cx="89878" cy="946192"/>
          </a:xfrm>
        </p:grpSpPr>
        <p:sp>
          <p:nvSpPr>
            <p:cNvPr id="128" name="Freeform 128"/>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129" name="TextBox 129"/>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130" name="TextBox 130"/>
          <p:cNvSpPr txBox="1"/>
          <p:nvPr/>
        </p:nvSpPr>
        <p:spPr>
          <a:xfrm>
            <a:off x="954280" y="7033333"/>
            <a:ext cx="3208946"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ANTIVIRUS</a:t>
            </a:r>
          </a:p>
        </p:txBody>
      </p:sp>
      <p:grpSp>
        <p:nvGrpSpPr>
          <p:cNvPr id="131" name="Group 131"/>
          <p:cNvGrpSpPr/>
          <p:nvPr/>
        </p:nvGrpSpPr>
        <p:grpSpPr>
          <a:xfrm rot="-5400000">
            <a:off x="2363207" y="5904392"/>
            <a:ext cx="391093" cy="3759772"/>
            <a:chOff x="0" y="0"/>
            <a:chExt cx="89878" cy="864041"/>
          </a:xfrm>
        </p:grpSpPr>
        <p:sp>
          <p:nvSpPr>
            <p:cNvPr id="132" name="Freeform 132"/>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00468"/>
            </a:solidFill>
          </p:spPr>
        </p:sp>
        <p:sp>
          <p:nvSpPr>
            <p:cNvPr id="133" name="TextBox 133"/>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134" name="Group 134"/>
          <p:cNvGrpSpPr/>
          <p:nvPr/>
        </p:nvGrpSpPr>
        <p:grpSpPr>
          <a:xfrm rot="-5400000">
            <a:off x="10416829" y="1988109"/>
            <a:ext cx="391093" cy="11592338"/>
            <a:chOff x="0" y="0"/>
            <a:chExt cx="89878" cy="2664061"/>
          </a:xfrm>
        </p:grpSpPr>
        <p:sp>
          <p:nvSpPr>
            <p:cNvPr id="135" name="Freeform 135"/>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136" name="TextBox 136"/>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137" name="Group 137"/>
          <p:cNvGrpSpPr/>
          <p:nvPr/>
        </p:nvGrpSpPr>
        <p:grpSpPr>
          <a:xfrm rot="-5400000">
            <a:off x="7087473" y="5317465"/>
            <a:ext cx="391093" cy="4933625"/>
            <a:chOff x="0" y="0"/>
            <a:chExt cx="89878" cy="1133807"/>
          </a:xfrm>
        </p:grpSpPr>
        <p:sp>
          <p:nvSpPr>
            <p:cNvPr id="138" name="Freeform 138"/>
            <p:cNvSpPr/>
            <p:nvPr/>
          </p:nvSpPr>
          <p:spPr>
            <a:xfrm>
              <a:off x="0" y="0"/>
              <a:ext cx="89878" cy="1133807"/>
            </a:xfrm>
            <a:custGeom>
              <a:avLst/>
              <a:gdLst/>
              <a:ahLst/>
              <a:cxnLst/>
              <a:rect l="l" t="t" r="r" b="b"/>
              <a:pathLst>
                <a:path w="89878" h="1133807">
                  <a:moveTo>
                    <a:pt x="44939" y="0"/>
                  </a:moveTo>
                  <a:lnTo>
                    <a:pt x="44939" y="0"/>
                  </a:lnTo>
                  <a:cubicBezTo>
                    <a:pt x="56857" y="0"/>
                    <a:pt x="68288" y="4735"/>
                    <a:pt x="76716" y="13162"/>
                  </a:cubicBezTo>
                  <a:cubicBezTo>
                    <a:pt x="85143" y="21590"/>
                    <a:pt x="89878" y="33020"/>
                    <a:pt x="89878" y="44939"/>
                  </a:cubicBezTo>
                  <a:lnTo>
                    <a:pt x="89878" y="1088868"/>
                  </a:lnTo>
                  <a:cubicBezTo>
                    <a:pt x="89878" y="1113688"/>
                    <a:pt x="69758" y="1133807"/>
                    <a:pt x="44939" y="1133807"/>
                  </a:cubicBezTo>
                  <a:lnTo>
                    <a:pt x="44939" y="1133807"/>
                  </a:lnTo>
                  <a:cubicBezTo>
                    <a:pt x="33020" y="1133807"/>
                    <a:pt x="21590" y="1129073"/>
                    <a:pt x="13162" y="1120645"/>
                  </a:cubicBezTo>
                  <a:cubicBezTo>
                    <a:pt x="4735" y="1112217"/>
                    <a:pt x="0" y="1100787"/>
                    <a:pt x="0" y="1088868"/>
                  </a:cubicBezTo>
                  <a:lnTo>
                    <a:pt x="0" y="44939"/>
                  </a:lnTo>
                  <a:cubicBezTo>
                    <a:pt x="0" y="20120"/>
                    <a:pt x="20120" y="0"/>
                    <a:pt x="44939" y="0"/>
                  </a:cubicBezTo>
                  <a:close/>
                </a:path>
              </a:pathLst>
            </a:custGeom>
            <a:solidFill>
              <a:srgbClr val="4225FA">
                <a:alpha val="12941"/>
              </a:srgbClr>
            </a:solidFill>
          </p:spPr>
        </p:sp>
        <p:sp>
          <p:nvSpPr>
            <p:cNvPr id="139" name="TextBox 139"/>
            <p:cNvSpPr txBox="1"/>
            <p:nvPr/>
          </p:nvSpPr>
          <p:spPr>
            <a:xfrm>
              <a:off x="0" y="-38100"/>
              <a:ext cx="89878" cy="1171907"/>
            </a:xfrm>
            <a:prstGeom prst="rect">
              <a:avLst/>
            </a:prstGeom>
          </p:spPr>
          <p:txBody>
            <a:bodyPr lIns="50800" tIns="50800" rIns="50800" bIns="50800" rtlCol="0" anchor="ctr"/>
            <a:lstStyle/>
            <a:p>
              <a:pPr algn="ctr">
                <a:lnSpc>
                  <a:spcPts val="2100"/>
                </a:lnSpc>
                <a:spcBef>
                  <a:spcPct val="0"/>
                </a:spcBef>
              </a:pPr>
              <a:endParaRPr/>
            </a:p>
          </p:txBody>
        </p:sp>
      </p:grpSp>
      <p:grpSp>
        <p:nvGrpSpPr>
          <p:cNvPr id="140" name="Group 140"/>
          <p:cNvGrpSpPr/>
          <p:nvPr/>
        </p:nvGrpSpPr>
        <p:grpSpPr>
          <a:xfrm rot="-5400000">
            <a:off x="6679280" y="5725658"/>
            <a:ext cx="391093" cy="4117240"/>
            <a:chOff x="0" y="0"/>
            <a:chExt cx="89878" cy="946192"/>
          </a:xfrm>
        </p:grpSpPr>
        <p:sp>
          <p:nvSpPr>
            <p:cNvPr id="141" name="Freeform 141"/>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142" name="TextBox 142"/>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143" name="TextBox 143"/>
          <p:cNvSpPr txBox="1"/>
          <p:nvPr/>
        </p:nvSpPr>
        <p:spPr>
          <a:xfrm>
            <a:off x="954280" y="7610988"/>
            <a:ext cx="3208946"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PROYECTO TENANT</a:t>
            </a:r>
          </a:p>
        </p:txBody>
      </p:sp>
      <p:grpSp>
        <p:nvGrpSpPr>
          <p:cNvPr id="144" name="Group 144"/>
          <p:cNvGrpSpPr/>
          <p:nvPr/>
        </p:nvGrpSpPr>
        <p:grpSpPr>
          <a:xfrm rot="-5400000">
            <a:off x="2363207" y="6482047"/>
            <a:ext cx="391093" cy="3759772"/>
            <a:chOff x="0" y="0"/>
            <a:chExt cx="89878" cy="864041"/>
          </a:xfrm>
        </p:grpSpPr>
        <p:sp>
          <p:nvSpPr>
            <p:cNvPr id="145" name="Freeform 145"/>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00468"/>
            </a:solidFill>
          </p:spPr>
        </p:sp>
        <p:sp>
          <p:nvSpPr>
            <p:cNvPr id="146" name="TextBox 146"/>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147" name="Group 147"/>
          <p:cNvGrpSpPr/>
          <p:nvPr/>
        </p:nvGrpSpPr>
        <p:grpSpPr>
          <a:xfrm rot="-5400000">
            <a:off x="2363207" y="7069029"/>
            <a:ext cx="391093" cy="3759772"/>
            <a:chOff x="0" y="0"/>
            <a:chExt cx="89878" cy="864041"/>
          </a:xfrm>
        </p:grpSpPr>
        <p:sp>
          <p:nvSpPr>
            <p:cNvPr id="148" name="Freeform 148"/>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00468"/>
            </a:solidFill>
          </p:spPr>
        </p:sp>
        <p:sp>
          <p:nvSpPr>
            <p:cNvPr id="149" name="TextBox 149"/>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150" name="Group 150"/>
          <p:cNvGrpSpPr/>
          <p:nvPr/>
        </p:nvGrpSpPr>
        <p:grpSpPr>
          <a:xfrm rot="-5400000">
            <a:off x="10416829" y="2565763"/>
            <a:ext cx="391093" cy="11592338"/>
            <a:chOff x="0" y="0"/>
            <a:chExt cx="89878" cy="2664061"/>
          </a:xfrm>
        </p:grpSpPr>
        <p:sp>
          <p:nvSpPr>
            <p:cNvPr id="151" name="Freeform 151"/>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152" name="TextBox 152"/>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153" name="Group 153"/>
          <p:cNvGrpSpPr/>
          <p:nvPr/>
        </p:nvGrpSpPr>
        <p:grpSpPr>
          <a:xfrm rot="-5400000">
            <a:off x="8793454" y="4189139"/>
            <a:ext cx="391093" cy="8345587"/>
            <a:chOff x="0" y="0"/>
            <a:chExt cx="89878" cy="1917918"/>
          </a:xfrm>
        </p:grpSpPr>
        <p:sp>
          <p:nvSpPr>
            <p:cNvPr id="154" name="Freeform 154"/>
            <p:cNvSpPr/>
            <p:nvPr/>
          </p:nvSpPr>
          <p:spPr>
            <a:xfrm>
              <a:off x="0" y="0"/>
              <a:ext cx="89878" cy="1917918"/>
            </a:xfrm>
            <a:custGeom>
              <a:avLst/>
              <a:gdLst/>
              <a:ahLst/>
              <a:cxnLst/>
              <a:rect l="l" t="t" r="r" b="b"/>
              <a:pathLst>
                <a:path w="89878" h="1917918">
                  <a:moveTo>
                    <a:pt x="44939" y="0"/>
                  </a:moveTo>
                  <a:lnTo>
                    <a:pt x="44939" y="0"/>
                  </a:lnTo>
                  <a:cubicBezTo>
                    <a:pt x="56857" y="0"/>
                    <a:pt x="68288" y="4735"/>
                    <a:pt x="76716" y="13162"/>
                  </a:cubicBezTo>
                  <a:cubicBezTo>
                    <a:pt x="85143" y="21590"/>
                    <a:pt x="89878" y="33020"/>
                    <a:pt x="89878" y="44939"/>
                  </a:cubicBezTo>
                  <a:lnTo>
                    <a:pt x="89878" y="1872979"/>
                  </a:lnTo>
                  <a:cubicBezTo>
                    <a:pt x="89878" y="1897798"/>
                    <a:pt x="69758" y="1917918"/>
                    <a:pt x="44939" y="1917918"/>
                  </a:cubicBezTo>
                  <a:lnTo>
                    <a:pt x="44939" y="1917918"/>
                  </a:lnTo>
                  <a:cubicBezTo>
                    <a:pt x="20120" y="1917918"/>
                    <a:pt x="0" y="1897798"/>
                    <a:pt x="0" y="1872979"/>
                  </a:cubicBezTo>
                  <a:lnTo>
                    <a:pt x="0" y="44939"/>
                  </a:lnTo>
                  <a:cubicBezTo>
                    <a:pt x="0" y="20120"/>
                    <a:pt x="20120" y="0"/>
                    <a:pt x="44939" y="0"/>
                  </a:cubicBezTo>
                  <a:close/>
                </a:path>
              </a:pathLst>
            </a:custGeom>
            <a:solidFill>
              <a:srgbClr val="4225FA">
                <a:alpha val="12941"/>
              </a:srgbClr>
            </a:solidFill>
          </p:spPr>
        </p:sp>
        <p:sp>
          <p:nvSpPr>
            <p:cNvPr id="155" name="TextBox 155"/>
            <p:cNvSpPr txBox="1"/>
            <p:nvPr/>
          </p:nvSpPr>
          <p:spPr>
            <a:xfrm>
              <a:off x="0" y="-38100"/>
              <a:ext cx="89878" cy="1956018"/>
            </a:xfrm>
            <a:prstGeom prst="rect">
              <a:avLst/>
            </a:prstGeom>
          </p:spPr>
          <p:txBody>
            <a:bodyPr lIns="50800" tIns="50800" rIns="50800" bIns="50800" rtlCol="0" anchor="ctr"/>
            <a:lstStyle/>
            <a:p>
              <a:pPr algn="ctr">
                <a:lnSpc>
                  <a:spcPts val="2100"/>
                </a:lnSpc>
                <a:spcBef>
                  <a:spcPct val="0"/>
                </a:spcBef>
              </a:pPr>
              <a:endParaRPr/>
            </a:p>
          </p:txBody>
        </p:sp>
      </p:grpSp>
      <p:grpSp>
        <p:nvGrpSpPr>
          <p:cNvPr id="156" name="Group 156"/>
          <p:cNvGrpSpPr/>
          <p:nvPr/>
        </p:nvGrpSpPr>
        <p:grpSpPr>
          <a:xfrm rot="-5400000">
            <a:off x="6679280" y="6303312"/>
            <a:ext cx="391093" cy="4117240"/>
            <a:chOff x="0" y="0"/>
            <a:chExt cx="89878" cy="946192"/>
          </a:xfrm>
        </p:grpSpPr>
        <p:sp>
          <p:nvSpPr>
            <p:cNvPr id="157" name="Freeform 157"/>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158" name="TextBox 158"/>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159" name="TextBox 159"/>
          <p:cNvSpPr txBox="1"/>
          <p:nvPr/>
        </p:nvSpPr>
        <p:spPr>
          <a:xfrm>
            <a:off x="954280" y="8182908"/>
            <a:ext cx="3208946"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PROYECTO INTUNE</a:t>
            </a:r>
          </a:p>
        </p:txBody>
      </p:sp>
      <p:grpSp>
        <p:nvGrpSpPr>
          <p:cNvPr id="160" name="Group 160"/>
          <p:cNvGrpSpPr/>
          <p:nvPr/>
        </p:nvGrpSpPr>
        <p:grpSpPr>
          <a:xfrm rot="-5400000">
            <a:off x="10416829" y="3152746"/>
            <a:ext cx="391093" cy="11592338"/>
            <a:chOff x="0" y="0"/>
            <a:chExt cx="89878" cy="2664061"/>
          </a:xfrm>
        </p:grpSpPr>
        <p:sp>
          <p:nvSpPr>
            <p:cNvPr id="161" name="Freeform 161"/>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162" name="TextBox 162"/>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163" name="Group 163"/>
          <p:cNvGrpSpPr/>
          <p:nvPr/>
        </p:nvGrpSpPr>
        <p:grpSpPr>
          <a:xfrm rot="-5400000">
            <a:off x="8793454" y="4776121"/>
            <a:ext cx="391093" cy="8345587"/>
            <a:chOff x="0" y="0"/>
            <a:chExt cx="89878" cy="1917918"/>
          </a:xfrm>
        </p:grpSpPr>
        <p:sp>
          <p:nvSpPr>
            <p:cNvPr id="164" name="Freeform 164"/>
            <p:cNvSpPr/>
            <p:nvPr/>
          </p:nvSpPr>
          <p:spPr>
            <a:xfrm>
              <a:off x="0" y="0"/>
              <a:ext cx="89878" cy="1917918"/>
            </a:xfrm>
            <a:custGeom>
              <a:avLst/>
              <a:gdLst/>
              <a:ahLst/>
              <a:cxnLst/>
              <a:rect l="l" t="t" r="r" b="b"/>
              <a:pathLst>
                <a:path w="89878" h="1917918">
                  <a:moveTo>
                    <a:pt x="44939" y="0"/>
                  </a:moveTo>
                  <a:lnTo>
                    <a:pt x="44939" y="0"/>
                  </a:lnTo>
                  <a:cubicBezTo>
                    <a:pt x="56857" y="0"/>
                    <a:pt x="68288" y="4735"/>
                    <a:pt x="76716" y="13162"/>
                  </a:cubicBezTo>
                  <a:cubicBezTo>
                    <a:pt x="85143" y="21590"/>
                    <a:pt x="89878" y="33020"/>
                    <a:pt x="89878" y="44939"/>
                  </a:cubicBezTo>
                  <a:lnTo>
                    <a:pt x="89878" y="1872979"/>
                  </a:lnTo>
                  <a:cubicBezTo>
                    <a:pt x="89878" y="1897798"/>
                    <a:pt x="69758" y="1917918"/>
                    <a:pt x="44939" y="1917918"/>
                  </a:cubicBezTo>
                  <a:lnTo>
                    <a:pt x="44939" y="1917918"/>
                  </a:lnTo>
                  <a:cubicBezTo>
                    <a:pt x="20120" y="1917918"/>
                    <a:pt x="0" y="1897798"/>
                    <a:pt x="0" y="1872979"/>
                  </a:cubicBezTo>
                  <a:lnTo>
                    <a:pt x="0" y="44939"/>
                  </a:lnTo>
                  <a:cubicBezTo>
                    <a:pt x="0" y="20120"/>
                    <a:pt x="20120" y="0"/>
                    <a:pt x="44939" y="0"/>
                  </a:cubicBezTo>
                  <a:close/>
                </a:path>
              </a:pathLst>
            </a:custGeom>
            <a:solidFill>
              <a:srgbClr val="4225FA">
                <a:alpha val="12941"/>
              </a:srgbClr>
            </a:solidFill>
          </p:spPr>
        </p:sp>
        <p:sp>
          <p:nvSpPr>
            <p:cNvPr id="165" name="TextBox 165"/>
            <p:cNvSpPr txBox="1"/>
            <p:nvPr/>
          </p:nvSpPr>
          <p:spPr>
            <a:xfrm>
              <a:off x="0" y="-38100"/>
              <a:ext cx="89878" cy="1956018"/>
            </a:xfrm>
            <a:prstGeom prst="rect">
              <a:avLst/>
            </a:prstGeom>
          </p:spPr>
          <p:txBody>
            <a:bodyPr lIns="50800" tIns="50800" rIns="50800" bIns="50800" rtlCol="0" anchor="ctr"/>
            <a:lstStyle/>
            <a:p>
              <a:pPr algn="ctr">
                <a:lnSpc>
                  <a:spcPts val="2100"/>
                </a:lnSpc>
                <a:spcBef>
                  <a:spcPct val="0"/>
                </a:spcBef>
              </a:pPr>
              <a:endParaRPr/>
            </a:p>
          </p:txBody>
        </p:sp>
      </p:grpSp>
      <p:grpSp>
        <p:nvGrpSpPr>
          <p:cNvPr id="166" name="Group 166"/>
          <p:cNvGrpSpPr/>
          <p:nvPr/>
        </p:nvGrpSpPr>
        <p:grpSpPr>
          <a:xfrm rot="-5400000">
            <a:off x="6679280" y="6890295"/>
            <a:ext cx="391093" cy="4117240"/>
            <a:chOff x="0" y="0"/>
            <a:chExt cx="89878" cy="946192"/>
          </a:xfrm>
        </p:grpSpPr>
        <p:sp>
          <p:nvSpPr>
            <p:cNvPr id="167" name="Freeform 167"/>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168" name="TextBox 168"/>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169" name="TextBox 169"/>
          <p:cNvSpPr txBox="1"/>
          <p:nvPr/>
        </p:nvSpPr>
        <p:spPr>
          <a:xfrm>
            <a:off x="816574" y="8775624"/>
            <a:ext cx="3484359"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PROYECTO COPILOT CHAT</a:t>
            </a:r>
          </a:p>
        </p:txBody>
      </p:sp>
      <p:grpSp>
        <p:nvGrpSpPr>
          <p:cNvPr id="170" name="Group 170"/>
          <p:cNvGrpSpPr/>
          <p:nvPr/>
        </p:nvGrpSpPr>
        <p:grpSpPr>
          <a:xfrm rot="-5400000">
            <a:off x="2363207" y="7646683"/>
            <a:ext cx="391093" cy="3759772"/>
            <a:chOff x="0" y="0"/>
            <a:chExt cx="89878" cy="864041"/>
          </a:xfrm>
        </p:grpSpPr>
        <p:sp>
          <p:nvSpPr>
            <p:cNvPr id="171" name="Freeform 171"/>
            <p:cNvSpPr/>
            <p:nvPr/>
          </p:nvSpPr>
          <p:spPr>
            <a:xfrm>
              <a:off x="0" y="0"/>
              <a:ext cx="89878" cy="864041"/>
            </a:xfrm>
            <a:custGeom>
              <a:avLst/>
              <a:gdLst/>
              <a:ahLst/>
              <a:cxnLst/>
              <a:rect l="l" t="t" r="r" b="b"/>
              <a:pathLst>
                <a:path w="89878" h="864041">
                  <a:moveTo>
                    <a:pt x="44939" y="0"/>
                  </a:moveTo>
                  <a:lnTo>
                    <a:pt x="44939" y="0"/>
                  </a:lnTo>
                  <a:cubicBezTo>
                    <a:pt x="56857" y="0"/>
                    <a:pt x="68288" y="4735"/>
                    <a:pt x="76716" y="13162"/>
                  </a:cubicBezTo>
                  <a:cubicBezTo>
                    <a:pt x="85143" y="21590"/>
                    <a:pt x="89878" y="33020"/>
                    <a:pt x="89878" y="44939"/>
                  </a:cubicBezTo>
                  <a:lnTo>
                    <a:pt x="89878" y="819103"/>
                  </a:lnTo>
                  <a:cubicBezTo>
                    <a:pt x="89878" y="843922"/>
                    <a:pt x="69758" y="864041"/>
                    <a:pt x="44939" y="864041"/>
                  </a:cubicBezTo>
                  <a:lnTo>
                    <a:pt x="44939" y="864041"/>
                  </a:lnTo>
                  <a:cubicBezTo>
                    <a:pt x="20120" y="864041"/>
                    <a:pt x="0" y="843922"/>
                    <a:pt x="0" y="819103"/>
                  </a:cubicBezTo>
                  <a:lnTo>
                    <a:pt x="0" y="44939"/>
                  </a:lnTo>
                  <a:cubicBezTo>
                    <a:pt x="0" y="20120"/>
                    <a:pt x="20120" y="0"/>
                    <a:pt x="44939" y="0"/>
                  </a:cubicBezTo>
                  <a:close/>
                </a:path>
              </a:pathLst>
            </a:custGeom>
            <a:solidFill>
              <a:srgbClr val="000468"/>
            </a:solidFill>
          </p:spPr>
        </p:sp>
        <p:sp>
          <p:nvSpPr>
            <p:cNvPr id="172" name="TextBox 172"/>
            <p:cNvSpPr txBox="1"/>
            <p:nvPr/>
          </p:nvSpPr>
          <p:spPr>
            <a:xfrm>
              <a:off x="0" y="-47625"/>
              <a:ext cx="89878" cy="911666"/>
            </a:xfrm>
            <a:prstGeom prst="rect">
              <a:avLst/>
            </a:prstGeom>
          </p:spPr>
          <p:txBody>
            <a:bodyPr lIns="50800" tIns="50800" rIns="50800" bIns="50800" rtlCol="0" anchor="ctr"/>
            <a:lstStyle/>
            <a:p>
              <a:pPr algn="ctr">
                <a:lnSpc>
                  <a:spcPts val="2100"/>
                </a:lnSpc>
                <a:spcBef>
                  <a:spcPct val="0"/>
                </a:spcBef>
              </a:pPr>
              <a:endParaRPr/>
            </a:p>
          </p:txBody>
        </p:sp>
      </p:grpSp>
      <p:grpSp>
        <p:nvGrpSpPr>
          <p:cNvPr id="173" name="Group 173"/>
          <p:cNvGrpSpPr/>
          <p:nvPr/>
        </p:nvGrpSpPr>
        <p:grpSpPr>
          <a:xfrm rot="-5400000">
            <a:off x="10416829" y="3730400"/>
            <a:ext cx="391093" cy="11592338"/>
            <a:chOff x="0" y="0"/>
            <a:chExt cx="89878" cy="2664061"/>
          </a:xfrm>
        </p:grpSpPr>
        <p:sp>
          <p:nvSpPr>
            <p:cNvPr id="174" name="Freeform 174"/>
            <p:cNvSpPr/>
            <p:nvPr/>
          </p:nvSpPr>
          <p:spPr>
            <a:xfrm>
              <a:off x="0" y="0"/>
              <a:ext cx="89878" cy="2664061"/>
            </a:xfrm>
            <a:custGeom>
              <a:avLst/>
              <a:gdLst/>
              <a:ahLst/>
              <a:cxnLst/>
              <a:rect l="l" t="t" r="r" b="b"/>
              <a:pathLst>
                <a:path w="89878" h="2664061">
                  <a:moveTo>
                    <a:pt x="44939" y="0"/>
                  </a:moveTo>
                  <a:lnTo>
                    <a:pt x="44939" y="0"/>
                  </a:lnTo>
                  <a:cubicBezTo>
                    <a:pt x="56857" y="0"/>
                    <a:pt x="68288" y="4735"/>
                    <a:pt x="76716" y="13162"/>
                  </a:cubicBezTo>
                  <a:cubicBezTo>
                    <a:pt x="85143" y="21590"/>
                    <a:pt x="89878" y="33020"/>
                    <a:pt x="89878" y="44939"/>
                  </a:cubicBezTo>
                  <a:lnTo>
                    <a:pt x="89878" y="2619122"/>
                  </a:lnTo>
                  <a:cubicBezTo>
                    <a:pt x="89878" y="2643941"/>
                    <a:pt x="69758" y="2664061"/>
                    <a:pt x="44939" y="2664061"/>
                  </a:cubicBezTo>
                  <a:lnTo>
                    <a:pt x="44939" y="2664061"/>
                  </a:lnTo>
                  <a:cubicBezTo>
                    <a:pt x="20120" y="2664061"/>
                    <a:pt x="0" y="2643941"/>
                    <a:pt x="0" y="2619122"/>
                  </a:cubicBezTo>
                  <a:lnTo>
                    <a:pt x="0" y="44939"/>
                  </a:lnTo>
                  <a:cubicBezTo>
                    <a:pt x="0" y="20120"/>
                    <a:pt x="20120" y="0"/>
                    <a:pt x="44939" y="0"/>
                  </a:cubicBezTo>
                  <a:close/>
                </a:path>
              </a:pathLst>
            </a:custGeom>
            <a:solidFill>
              <a:srgbClr val="D9D9D9"/>
            </a:solidFill>
          </p:spPr>
        </p:sp>
        <p:sp>
          <p:nvSpPr>
            <p:cNvPr id="175" name="TextBox 175"/>
            <p:cNvSpPr txBox="1"/>
            <p:nvPr/>
          </p:nvSpPr>
          <p:spPr>
            <a:xfrm>
              <a:off x="0" y="-38100"/>
              <a:ext cx="89878" cy="2702161"/>
            </a:xfrm>
            <a:prstGeom prst="rect">
              <a:avLst/>
            </a:prstGeom>
          </p:spPr>
          <p:txBody>
            <a:bodyPr lIns="50800" tIns="50800" rIns="50800" bIns="50800" rtlCol="0" anchor="ctr"/>
            <a:lstStyle/>
            <a:p>
              <a:pPr algn="ctr">
                <a:lnSpc>
                  <a:spcPts val="2100"/>
                </a:lnSpc>
                <a:spcBef>
                  <a:spcPct val="0"/>
                </a:spcBef>
              </a:pPr>
              <a:endParaRPr/>
            </a:p>
          </p:txBody>
        </p:sp>
      </p:grpSp>
      <p:grpSp>
        <p:nvGrpSpPr>
          <p:cNvPr id="176" name="Group 176"/>
          <p:cNvGrpSpPr/>
          <p:nvPr/>
        </p:nvGrpSpPr>
        <p:grpSpPr>
          <a:xfrm rot="-5400000">
            <a:off x="8793454" y="5353776"/>
            <a:ext cx="391093" cy="8345587"/>
            <a:chOff x="0" y="0"/>
            <a:chExt cx="89878" cy="1917918"/>
          </a:xfrm>
        </p:grpSpPr>
        <p:sp>
          <p:nvSpPr>
            <p:cNvPr id="177" name="Freeform 177"/>
            <p:cNvSpPr/>
            <p:nvPr/>
          </p:nvSpPr>
          <p:spPr>
            <a:xfrm>
              <a:off x="0" y="0"/>
              <a:ext cx="89878" cy="1917918"/>
            </a:xfrm>
            <a:custGeom>
              <a:avLst/>
              <a:gdLst/>
              <a:ahLst/>
              <a:cxnLst/>
              <a:rect l="l" t="t" r="r" b="b"/>
              <a:pathLst>
                <a:path w="89878" h="1917918">
                  <a:moveTo>
                    <a:pt x="44939" y="0"/>
                  </a:moveTo>
                  <a:lnTo>
                    <a:pt x="44939" y="0"/>
                  </a:lnTo>
                  <a:cubicBezTo>
                    <a:pt x="56857" y="0"/>
                    <a:pt x="68288" y="4735"/>
                    <a:pt x="76716" y="13162"/>
                  </a:cubicBezTo>
                  <a:cubicBezTo>
                    <a:pt x="85143" y="21590"/>
                    <a:pt x="89878" y="33020"/>
                    <a:pt x="89878" y="44939"/>
                  </a:cubicBezTo>
                  <a:lnTo>
                    <a:pt x="89878" y="1872979"/>
                  </a:lnTo>
                  <a:cubicBezTo>
                    <a:pt x="89878" y="1897798"/>
                    <a:pt x="69758" y="1917918"/>
                    <a:pt x="44939" y="1917918"/>
                  </a:cubicBezTo>
                  <a:lnTo>
                    <a:pt x="44939" y="1917918"/>
                  </a:lnTo>
                  <a:cubicBezTo>
                    <a:pt x="20120" y="1917918"/>
                    <a:pt x="0" y="1897798"/>
                    <a:pt x="0" y="1872979"/>
                  </a:cubicBezTo>
                  <a:lnTo>
                    <a:pt x="0" y="44939"/>
                  </a:lnTo>
                  <a:cubicBezTo>
                    <a:pt x="0" y="20120"/>
                    <a:pt x="20120" y="0"/>
                    <a:pt x="44939" y="0"/>
                  </a:cubicBezTo>
                  <a:close/>
                </a:path>
              </a:pathLst>
            </a:custGeom>
            <a:solidFill>
              <a:srgbClr val="4225FA">
                <a:alpha val="12941"/>
              </a:srgbClr>
            </a:solidFill>
          </p:spPr>
        </p:sp>
        <p:sp>
          <p:nvSpPr>
            <p:cNvPr id="178" name="TextBox 178"/>
            <p:cNvSpPr txBox="1"/>
            <p:nvPr/>
          </p:nvSpPr>
          <p:spPr>
            <a:xfrm>
              <a:off x="0" y="-38100"/>
              <a:ext cx="89878" cy="1956018"/>
            </a:xfrm>
            <a:prstGeom prst="rect">
              <a:avLst/>
            </a:prstGeom>
          </p:spPr>
          <p:txBody>
            <a:bodyPr lIns="50800" tIns="50800" rIns="50800" bIns="50800" rtlCol="0" anchor="ctr"/>
            <a:lstStyle/>
            <a:p>
              <a:pPr algn="ctr">
                <a:lnSpc>
                  <a:spcPts val="2100"/>
                </a:lnSpc>
                <a:spcBef>
                  <a:spcPct val="0"/>
                </a:spcBef>
              </a:pPr>
              <a:endParaRPr/>
            </a:p>
          </p:txBody>
        </p:sp>
      </p:grpSp>
      <p:grpSp>
        <p:nvGrpSpPr>
          <p:cNvPr id="179" name="Group 179"/>
          <p:cNvGrpSpPr/>
          <p:nvPr/>
        </p:nvGrpSpPr>
        <p:grpSpPr>
          <a:xfrm rot="-5400000">
            <a:off x="6679280" y="7467949"/>
            <a:ext cx="391093" cy="4117240"/>
            <a:chOff x="0" y="0"/>
            <a:chExt cx="89878" cy="946192"/>
          </a:xfrm>
        </p:grpSpPr>
        <p:sp>
          <p:nvSpPr>
            <p:cNvPr id="180" name="Freeform 180"/>
            <p:cNvSpPr/>
            <p:nvPr/>
          </p:nvSpPr>
          <p:spPr>
            <a:xfrm>
              <a:off x="0" y="0"/>
              <a:ext cx="89878" cy="946192"/>
            </a:xfrm>
            <a:custGeom>
              <a:avLst/>
              <a:gdLst/>
              <a:ahLst/>
              <a:cxnLst/>
              <a:rect l="l" t="t" r="r" b="b"/>
              <a:pathLst>
                <a:path w="89878" h="946192">
                  <a:moveTo>
                    <a:pt x="44939" y="0"/>
                  </a:moveTo>
                  <a:lnTo>
                    <a:pt x="44939" y="0"/>
                  </a:lnTo>
                  <a:cubicBezTo>
                    <a:pt x="56857" y="0"/>
                    <a:pt x="68288" y="4735"/>
                    <a:pt x="76716" y="13162"/>
                  </a:cubicBezTo>
                  <a:cubicBezTo>
                    <a:pt x="85143" y="21590"/>
                    <a:pt x="89878" y="33020"/>
                    <a:pt x="89878" y="44939"/>
                  </a:cubicBezTo>
                  <a:lnTo>
                    <a:pt x="89878" y="901253"/>
                  </a:lnTo>
                  <a:cubicBezTo>
                    <a:pt x="89878" y="926072"/>
                    <a:pt x="69758" y="946192"/>
                    <a:pt x="44939" y="946192"/>
                  </a:cubicBezTo>
                  <a:lnTo>
                    <a:pt x="44939" y="946192"/>
                  </a:lnTo>
                  <a:cubicBezTo>
                    <a:pt x="20120" y="946192"/>
                    <a:pt x="0" y="926072"/>
                    <a:pt x="0" y="901253"/>
                  </a:cubicBezTo>
                  <a:lnTo>
                    <a:pt x="0" y="44939"/>
                  </a:lnTo>
                  <a:cubicBezTo>
                    <a:pt x="0" y="20120"/>
                    <a:pt x="20120" y="0"/>
                    <a:pt x="44939" y="0"/>
                  </a:cubicBezTo>
                  <a:close/>
                </a:path>
              </a:pathLst>
            </a:custGeom>
            <a:solidFill>
              <a:srgbClr val="4225FA"/>
            </a:solidFill>
          </p:spPr>
        </p:sp>
        <p:sp>
          <p:nvSpPr>
            <p:cNvPr id="181" name="TextBox 181"/>
            <p:cNvSpPr txBox="1"/>
            <p:nvPr/>
          </p:nvSpPr>
          <p:spPr>
            <a:xfrm>
              <a:off x="0" y="-38100"/>
              <a:ext cx="89878" cy="984292"/>
            </a:xfrm>
            <a:prstGeom prst="rect">
              <a:avLst/>
            </a:prstGeom>
          </p:spPr>
          <p:txBody>
            <a:bodyPr lIns="50800" tIns="50800" rIns="50800" bIns="50800" rtlCol="0" anchor="ctr"/>
            <a:lstStyle/>
            <a:p>
              <a:pPr algn="ctr">
                <a:lnSpc>
                  <a:spcPts val="2100"/>
                </a:lnSpc>
                <a:spcBef>
                  <a:spcPct val="0"/>
                </a:spcBef>
              </a:pPr>
              <a:endParaRPr/>
            </a:p>
          </p:txBody>
        </p:sp>
      </p:grpSp>
      <p:sp>
        <p:nvSpPr>
          <p:cNvPr id="182" name="TextBox 182"/>
          <p:cNvSpPr txBox="1"/>
          <p:nvPr/>
        </p:nvSpPr>
        <p:spPr>
          <a:xfrm>
            <a:off x="816574" y="9353279"/>
            <a:ext cx="3484359" cy="310423"/>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FFFFFF"/>
                </a:solidFill>
                <a:latin typeface="Poppins Bold"/>
                <a:ea typeface="Poppins Bold"/>
                <a:cs typeface="Poppins Bold"/>
                <a:sym typeface="Poppins Bold"/>
              </a:rPr>
              <a:t>RESETEO CON OFFICE</a:t>
            </a:r>
          </a:p>
        </p:txBody>
      </p:sp>
      <p:sp>
        <p:nvSpPr>
          <p:cNvPr id="183" name="TextBox 183"/>
          <p:cNvSpPr txBox="1"/>
          <p:nvPr/>
        </p:nvSpPr>
        <p:spPr>
          <a:xfrm>
            <a:off x="16701581" y="2355677"/>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58%</a:t>
            </a:r>
          </a:p>
        </p:txBody>
      </p:sp>
      <p:sp>
        <p:nvSpPr>
          <p:cNvPr id="184" name="TextBox 184"/>
          <p:cNvSpPr txBox="1"/>
          <p:nvPr/>
        </p:nvSpPr>
        <p:spPr>
          <a:xfrm>
            <a:off x="16701581" y="2943457"/>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53%</a:t>
            </a:r>
          </a:p>
        </p:txBody>
      </p:sp>
      <p:sp>
        <p:nvSpPr>
          <p:cNvPr id="185" name="TextBox 185"/>
          <p:cNvSpPr txBox="1"/>
          <p:nvPr/>
        </p:nvSpPr>
        <p:spPr>
          <a:xfrm>
            <a:off x="16701581" y="3533689"/>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40%</a:t>
            </a:r>
          </a:p>
        </p:txBody>
      </p:sp>
      <p:sp>
        <p:nvSpPr>
          <p:cNvPr id="186" name="TextBox 186"/>
          <p:cNvSpPr txBox="1"/>
          <p:nvPr/>
        </p:nvSpPr>
        <p:spPr>
          <a:xfrm>
            <a:off x="16701581" y="4117310"/>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40%</a:t>
            </a:r>
          </a:p>
        </p:txBody>
      </p:sp>
      <p:sp>
        <p:nvSpPr>
          <p:cNvPr id="187" name="TextBox 187"/>
          <p:cNvSpPr txBox="1"/>
          <p:nvPr/>
        </p:nvSpPr>
        <p:spPr>
          <a:xfrm>
            <a:off x="16701581" y="4710456"/>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37%</a:t>
            </a:r>
          </a:p>
        </p:txBody>
      </p:sp>
      <p:sp>
        <p:nvSpPr>
          <p:cNvPr id="188" name="TextBox 188"/>
          <p:cNvSpPr txBox="1"/>
          <p:nvPr/>
        </p:nvSpPr>
        <p:spPr>
          <a:xfrm>
            <a:off x="16701581" y="5303602"/>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93%</a:t>
            </a:r>
          </a:p>
        </p:txBody>
      </p:sp>
      <p:sp>
        <p:nvSpPr>
          <p:cNvPr id="189" name="TextBox 189"/>
          <p:cNvSpPr txBox="1"/>
          <p:nvPr/>
        </p:nvSpPr>
        <p:spPr>
          <a:xfrm>
            <a:off x="16701581" y="5849123"/>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68%</a:t>
            </a:r>
          </a:p>
        </p:txBody>
      </p:sp>
      <p:sp>
        <p:nvSpPr>
          <p:cNvPr id="190" name="TextBox 190"/>
          <p:cNvSpPr txBox="1"/>
          <p:nvPr/>
        </p:nvSpPr>
        <p:spPr>
          <a:xfrm>
            <a:off x="16701581" y="6394645"/>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80%</a:t>
            </a:r>
          </a:p>
        </p:txBody>
      </p:sp>
      <p:sp>
        <p:nvSpPr>
          <p:cNvPr id="191" name="TextBox 191"/>
          <p:cNvSpPr txBox="1"/>
          <p:nvPr/>
        </p:nvSpPr>
        <p:spPr>
          <a:xfrm>
            <a:off x="16701581" y="7033333"/>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80%</a:t>
            </a:r>
          </a:p>
        </p:txBody>
      </p:sp>
      <p:sp>
        <p:nvSpPr>
          <p:cNvPr id="192" name="TextBox 192"/>
          <p:cNvSpPr txBox="1"/>
          <p:nvPr/>
        </p:nvSpPr>
        <p:spPr>
          <a:xfrm>
            <a:off x="16701581" y="7578854"/>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68%</a:t>
            </a:r>
          </a:p>
        </p:txBody>
      </p:sp>
      <p:sp>
        <p:nvSpPr>
          <p:cNvPr id="193" name="TextBox 193"/>
          <p:cNvSpPr txBox="1"/>
          <p:nvPr/>
        </p:nvSpPr>
        <p:spPr>
          <a:xfrm>
            <a:off x="16701581" y="8124375"/>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53%</a:t>
            </a:r>
          </a:p>
        </p:txBody>
      </p:sp>
      <p:sp>
        <p:nvSpPr>
          <p:cNvPr id="194" name="TextBox 194"/>
          <p:cNvSpPr txBox="1"/>
          <p:nvPr/>
        </p:nvSpPr>
        <p:spPr>
          <a:xfrm>
            <a:off x="16701581" y="8765147"/>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52%</a:t>
            </a:r>
          </a:p>
        </p:txBody>
      </p:sp>
      <p:sp>
        <p:nvSpPr>
          <p:cNvPr id="195" name="TextBox 195"/>
          <p:cNvSpPr txBox="1"/>
          <p:nvPr/>
        </p:nvSpPr>
        <p:spPr>
          <a:xfrm>
            <a:off x="16701581" y="9310668"/>
            <a:ext cx="907552"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33%</a:t>
            </a:r>
          </a:p>
        </p:txBody>
      </p:sp>
      <p:sp>
        <p:nvSpPr>
          <p:cNvPr id="196" name="TextBox 196"/>
          <p:cNvSpPr txBox="1"/>
          <p:nvPr/>
        </p:nvSpPr>
        <p:spPr>
          <a:xfrm>
            <a:off x="13295729" y="2355677"/>
            <a:ext cx="780863"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MAYO</a:t>
            </a:r>
          </a:p>
        </p:txBody>
      </p:sp>
      <p:sp>
        <p:nvSpPr>
          <p:cNvPr id="198" name="TextBox 198"/>
          <p:cNvSpPr txBox="1"/>
          <p:nvPr/>
        </p:nvSpPr>
        <p:spPr>
          <a:xfrm>
            <a:off x="11274245" y="3533689"/>
            <a:ext cx="866041"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ABRIL</a:t>
            </a:r>
          </a:p>
        </p:txBody>
      </p:sp>
      <p:sp>
        <p:nvSpPr>
          <p:cNvPr id="199" name="TextBox 199"/>
          <p:cNvSpPr txBox="1"/>
          <p:nvPr/>
        </p:nvSpPr>
        <p:spPr>
          <a:xfrm>
            <a:off x="9850894" y="4123156"/>
            <a:ext cx="866041"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MARZO</a:t>
            </a:r>
          </a:p>
        </p:txBody>
      </p:sp>
      <p:sp>
        <p:nvSpPr>
          <p:cNvPr id="200" name="TextBox 200"/>
          <p:cNvSpPr txBox="1"/>
          <p:nvPr/>
        </p:nvSpPr>
        <p:spPr>
          <a:xfrm>
            <a:off x="11014812" y="4698326"/>
            <a:ext cx="866041"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JUNIO</a:t>
            </a:r>
          </a:p>
        </p:txBody>
      </p:sp>
      <p:sp>
        <p:nvSpPr>
          <p:cNvPr id="201" name="TextBox 201"/>
          <p:cNvSpPr txBox="1"/>
          <p:nvPr/>
        </p:nvSpPr>
        <p:spPr>
          <a:xfrm>
            <a:off x="11208567" y="5849123"/>
            <a:ext cx="997397"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ABRIL</a:t>
            </a:r>
          </a:p>
        </p:txBody>
      </p:sp>
      <p:sp>
        <p:nvSpPr>
          <p:cNvPr id="202" name="TextBox 202"/>
          <p:cNvSpPr txBox="1"/>
          <p:nvPr/>
        </p:nvSpPr>
        <p:spPr>
          <a:xfrm>
            <a:off x="9785216" y="6442032"/>
            <a:ext cx="997397"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MARZO</a:t>
            </a:r>
          </a:p>
        </p:txBody>
      </p:sp>
      <p:sp>
        <p:nvSpPr>
          <p:cNvPr id="203" name="TextBox 203"/>
          <p:cNvSpPr txBox="1"/>
          <p:nvPr/>
        </p:nvSpPr>
        <p:spPr>
          <a:xfrm>
            <a:off x="11208567" y="7026835"/>
            <a:ext cx="997397"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ABRIL</a:t>
            </a:r>
          </a:p>
        </p:txBody>
      </p:sp>
      <p:sp>
        <p:nvSpPr>
          <p:cNvPr id="204" name="TextBox 204"/>
          <p:cNvSpPr txBox="1"/>
          <p:nvPr/>
        </p:nvSpPr>
        <p:spPr>
          <a:xfrm>
            <a:off x="9850894" y="7602005"/>
            <a:ext cx="866041"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MARZO</a:t>
            </a:r>
          </a:p>
        </p:txBody>
      </p:sp>
      <p:sp>
        <p:nvSpPr>
          <p:cNvPr id="205" name="TextBox 205"/>
          <p:cNvSpPr txBox="1"/>
          <p:nvPr/>
        </p:nvSpPr>
        <p:spPr>
          <a:xfrm>
            <a:off x="13253141" y="8176410"/>
            <a:ext cx="866041"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MAYO</a:t>
            </a:r>
          </a:p>
        </p:txBody>
      </p:sp>
      <p:sp>
        <p:nvSpPr>
          <p:cNvPr id="206" name="TextBox 206"/>
          <p:cNvSpPr txBox="1"/>
          <p:nvPr/>
        </p:nvSpPr>
        <p:spPr>
          <a:xfrm>
            <a:off x="13253141" y="8775624"/>
            <a:ext cx="866041"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MAYO</a:t>
            </a:r>
          </a:p>
        </p:txBody>
      </p:sp>
      <p:sp>
        <p:nvSpPr>
          <p:cNvPr id="207" name="TextBox 207"/>
          <p:cNvSpPr txBox="1"/>
          <p:nvPr/>
        </p:nvSpPr>
        <p:spPr>
          <a:xfrm>
            <a:off x="13253141" y="9344296"/>
            <a:ext cx="866041"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MAYO</a:t>
            </a:r>
          </a:p>
        </p:txBody>
      </p:sp>
      <p:sp>
        <p:nvSpPr>
          <p:cNvPr id="208" name="TextBox 208"/>
          <p:cNvSpPr txBox="1"/>
          <p:nvPr/>
        </p:nvSpPr>
        <p:spPr>
          <a:xfrm>
            <a:off x="9850894" y="5303602"/>
            <a:ext cx="866041"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MARZO</a:t>
            </a:r>
          </a:p>
        </p:txBody>
      </p:sp>
      <p:sp>
        <p:nvSpPr>
          <p:cNvPr id="209" name="TextBox 209"/>
          <p:cNvSpPr txBox="1"/>
          <p:nvPr/>
        </p:nvSpPr>
        <p:spPr>
          <a:xfrm>
            <a:off x="14710642" y="2954925"/>
            <a:ext cx="866041" cy="316921"/>
          </a:xfrm>
          <a:prstGeom prst="rect">
            <a:avLst/>
          </a:prstGeom>
        </p:spPr>
        <p:txBody>
          <a:bodyPr lIns="0" tIns="0" rIns="0" bIns="0" rtlCol="0" anchor="t">
            <a:spAutoFit/>
          </a:bodyPr>
          <a:lstStyle/>
          <a:p>
            <a:pPr marL="0" lvl="0" indent="0" algn="ctr">
              <a:lnSpc>
                <a:spcPts val="2481"/>
              </a:lnSpc>
              <a:spcBef>
                <a:spcPct val="0"/>
              </a:spcBef>
            </a:pPr>
            <a:r>
              <a:rPr lang="en-US" sz="1772" b="1">
                <a:solidFill>
                  <a:srgbClr val="4225FA"/>
                </a:solidFill>
                <a:latin typeface="Poppins Bold"/>
                <a:ea typeface="Poppins Bold"/>
                <a:cs typeface="Poppins Bold"/>
                <a:sym typeface="Poppins Bold"/>
              </a:rPr>
              <a:t>JUNIO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578053"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TextBox 4"/>
          <p:cNvSpPr txBox="1"/>
          <p:nvPr/>
        </p:nvSpPr>
        <p:spPr>
          <a:xfrm>
            <a:off x="7931363" y="3212106"/>
            <a:ext cx="8987314" cy="317185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Evaluar herramienta (ITSM, CMDB, inventario) </a:t>
            </a:r>
          </a:p>
          <a:p>
            <a:pPr marL="971982" lvl="2" indent="-323994" algn="l">
              <a:lnSpc>
                <a:spcPts val="3150"/>
              </a:lnSpc>
              <a:buFont typeface="Arial"/>
              <a:buChar char="⚬"/>
            </a:pPr>
            <a:r>
              <a:rPr lang="en-US" sz="2251">
                <a:solidFill>
                  <a:srgbClr val="191919"/>
                </a:solidFill>
                <a:latin typeface="Poppins"/>
                <a:ea typeface="Poppins"/>
                <a:cs typeface="Poppins"/>
                <a:sym typeface="Poppins"/>
              </a:rPr>
              <a:t>Definir estructura de base de datos. </a:t>
            </a:r>
          </a:p>
          <a:p>
            <a:pPr marL="971982" lvl="2" indent="-323994" algn="l">
              <a:lnSpc>
                <a:spcPts val="3150"/>
              </a:lnSpc>
              <a:buFont typeface="Arial"/>
              <a:buChar char="⚬"/>
            </a:pPr>
            <a:r>
              <a:rPr lang="en-US" sz="2251">
                <a:solidFill>
                  <a:srgbClr val="191919"/>
                </a:solidFill>
                <a:latin typeface="Poppins"/>
                <a:ea typeface="Poppins"/>
                <a:cs typeface="Poppins"/>
                <a:sym typeface="Poppins"/>
              </a:rPr>
              <a:t>Configurar categorías y atributos.</a:t>
            </a:r>
          </a:p>
          <a:p>
            <a:pPr marL="971981" lvl="2" indent="-323994" algn="l">
              <a:lnSpc>
                <a:spcPts val="3149"/>
              </a:lnSpc>
              <a:buFont typeface="Arial"/>
              <a:buChar char="⚬"/>
            </a:pPr>
            <a:r>
              <a:rPr lang="en-US" sz="2250">
                <a:solidFill>
                  <a:srgbClr val="191919"/>
                </a:solidFill>
                <a:latin typeface="Poppins"/>
                <a:ea typeface="Poppins"/>
                <a:cs typeface="Poppins"/>
                <a:sym typeface="Poppins"/>
              </a:rPr>
              <a:t>Configurar reportes.</a:t>
            </a:r>
          </a:p>
          <a:p>
            <a:pPr marL="971981" lvl="2" indent="-323994" algn="l">
              <a:lnSpc>
                <a:spcPts val="3149"/>
              </a:lnSpc>
              <a:buFont typeface="Arial"/>
              <a:buChar char="⚬"/>
            </a:pPr>
            <a:r>
              <a:rPr lang="en-US" sz="2250">
                <a:solidFill>
                  <a:srgbClr val="191919"/>
                </a:solidFill>
                <a:latin typeface="Poppins"/>
                <a:ea typeface="Poppins"/>
                <a:cs typeface="Poppins"/>
                <a:sym typeface="Poppins"/>
              </a:rPr>
              <a:t>Registrar activos en el sistema.</a:t>
            </a:r>
          </a:p>
          <a:p>
            <a:pPr marL="971981" lvl="2" indent="-323994" algn="l">
              <a:lnSpc>
                <a:spcPts val="3149"/>
              </a:lnSpc>
              <a:buFont typeface="Arial"/>
              <a:buChar char="⚬"/>
            </a:pPr>
            <a:r>
              <a:rPr lang="en-US" sz="2250">
                <a:solidFill>
                  <a:srgbClr val="191919"/>
                </a:solidFill>
                <a:latin typeface="Poppins"/>
                <a:ea typeface="Poppins"/>
                <a:cs typeface="Poppins"/>
                <a:sym typeface="Poppins"/>
              </a:rPr>
              <a:t>Pruebas funcionales.</a:t>
            </a:r>
          </a:p>
          <a:p>
            <a:pPr marL="971981" lvl="2" indent="-323994" algn="l">
              <a:lnSpc>
                <a:spcPts val="3149"/>
              </a:lnSpc>
              <a:buFont typeface="Arial"/>
              <a:buChar char="⚬"/>
            </a:pPr>
            <a:r>
              <a:rPr lang="en-US" sz="2250">
                <a:solidFill>
                  <a:srgbClr val="191919"/>
                </a:solidFill>
                <a:latin typeface="Poppins"/>
                <a:ea typeface="Poppins"/>
                <a:cs typeface="Poppins"/>
                <a:sym typeface="Poppins"/>
              </a:rPr>
              <a:t>Documentación y capacitación. </a:t>
            </a:r>
          </a:p>
          <a:p>
            <a:pPr marL="971981" lvl="2" indent="-323994" algn="l">
              <a:lnSpc>
                <a:spcPts val="3150"/>
              </a:lnSpc>
              <a:buFont typeface="Arial"/>
              <a:buChar char="⚬"/>
            </a:pPr>
            <a:r>
              <a:rPr lang="en-US" sz="2250">
                <a:solidFill>
                  <a:srgbClr val="191919"/>
                </a:solidFill>
                <a:latin typeface="Poppins"/>
                <a:ea typeface="Poppins"/>
                <a:cs typeface="Poppins"/>
                <a:sym typeface="Poppins"/>
              </a:rPr>
              <a:t>Pase a producción.</a:t>
            </a:r>
          </a:p>
        </p:txBody>
      </p:sp>
      <p:grpSp>
        <p:nvGrpSpPr>
          <p:cNvPr id="5" name="Group 5"/>
          <p:cNvGrpSpPr/>
          <p:nvPr/>
        </p:nvGrpSpPr>
        <p:grpSpPr>
          <a:xfrm>
            <a:off x="1369324" y="2396174"/>
            <a:ext cx="6562039" cy="6148273"/>
            <a:chOff x="0" y="0"/>
            <a:chExt cx="8749386" cy="8197698"/>
          </a:xfrm>
        </p:grpSpPr>
        <p:sp>
          <p:nvSpPr>
            <p:cNvPr id="6" name="Freeform 6"/>
            <p:cNvSpPr/>
            <p:nvPr/>
          </p:nvSpPr>
          <p:spPr>
            <a:xfrm>
              <a:off x="0" y="0"/>
              <a:ext cx="8749411" cy="8197723"/>
            </a:xfrm>
            <a:custGeom>
              <a:avLst/>
              <a:gdLst/>
              <a:ahLst/>
              <a:cxnLst/>
              <a:rect l="l" t="t" r="r" b="b"/>
              <a:pathLst>
                <a:path w="8749411" h="8197723">
                  <a:moveTo>
                    <a:pt x="8222234" y="8197723"/>
                  </a:moveTo>
                  <a:lnTo>
                    <a:pt x="527177" y="8197723"/>
                  </a:lnTo>
                  <a:cubicBezTo>
                    <a:pt x="236728" y="8197723"/>
                    <a:pt x="0" y="7960995"/>
                    <a:pt x="0" y="7670546"/>
                  </a:cubicBezTo>
                  <a:lnTo>
                    <a:pt x="0" y="527177"/>
                  </a:lnTo>
                  <a:cubicBezTo>
                    <a:pt x="0" y="236728"/>
                    <a:pt x="236728" y="0"/>
                    <a:pt x="527177" y="0"/>
                  </a:cubicBezTo>
                  <a:lnTo>
                    <a:pt x="8222234" y="0"/>
                  </a:lnTo>
                  <a:cubicBezTo>
                    <a:pt x="8512683" y="0"/>
                    <a:pt x="8749411" y="236728"/>
                    <a:pt x="8749411" y="527177"/>
                  </a:cubicBezTo>
                  <a:lnTo>
                    <a:pt x="8749411" y="7670546"/>
                  </a:lnTo>
                  <a:cubicBezTo>
                    <a:pt x="8749411" y="7960995"/>
                    <a:pt x="8512683" y="8197723"/>
                    <a:pt x="8222234" y="8197723"/>
                  </a:cubicBezTo>
                  <a:close/>
                </a:path>
              </a:pathLst>
            </a:custGeom>
            <a:solidFill>
              <a:srgbClr val="009BF8"/>
            </a:solidFill>
          </p:spPr>
        </p:sp>
      </p:grpSp>
      <p:sp>
        <p:nvSpPr>
          <p:cNvPr id="7" name="Freeform 7"/>
          <p:cNvSpPr/>
          <p:nvPr/>
        </p:nvSpPr>
        <p:spPr>
          <a:xfrm>
            <a:off x="683114" y="463972"/>
            <a:ext cx="1433332" cy="1534106"/>
          </a:xfrm>
          <a:custGeom>
            <a:avLst/>
            <a:gdLst/>
            <a:ahLst/>
            <a:cxnLst/>
            <a:rect l="l" t="t" r="r" b="b"/>
            <a:pathLst>
              <a:path w="1433332" h="1534106">
                <a:moveTo>
                  <a:pt x="0" y="0"/>
                </a:moveTo>
                <a:lnTo>
                  <a:pt x="1433331" y="0"/>
                </a:lnTo>
                <a:lnTo>
                  <a:pt x="1433331" y="1534106"/>
                </a:lnTo>
                <a:lnTo>
                  <a:pt x="0" y="1534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969702" y="939260"/>
            <a:ext cx="879215" cy="703374"/>
          </a:xfrm>
          <a:custGeom>
            <a:avLst/>
            <a:gdLst/>
            <a:ahLst/>
            <a:cxnLst/>
            <a:rect l="l" t="t" r="r" b="b"/>
            <a:pathLst>
              <a:path w="879215" h="703374">
                <a:moveTo>
                  <a:pt x="0" y="0"/>
                </a:moveTo>
                <a:lnTo>
                  <a:pt x="879215" y="0"/>
                </a:lnTo>
                <a:lnTo>
                  <a:pt x="879215" y="703374"/>
                </a:lnTo>
                <a:lnTo>
                  <a:pt x="0" y="703374"/>
                </a:lnTo>
                <a:lnTo>
                  <a:pt x="0" y="0"/>
                </a:lnTo>
                <a:close/>
              </a:path>
            </a:pathLst>
          </a:custGeom>
          <a:blipFill>
            <a:blip r:embed="rId8">
              <a:extLst>
                <a:ext uri="{96DAC541-7B7A-43D3-8B79-37D633B846F1}">
                  <asvg:svgBlip xmlns:asvg="http://schemas.microsoft.com/office/drawing/2016/SVG/main" r:embed="rId9"/>
                </a:ext>
              </a:extLst>
            </a:blip>
            <a:stretch>
              <a:fillRect t="-403" b="-402"/>
            </a:stretch>
          </a:blipFill>
        </p:spPr>
      </p:sp>
      <p:pic>
        <p:nvPicPr>
          <p:cNvPr id="9" name="Picture 9"/>
          <p:cNvPicPr>
            <a:picLocks noChangeAspect="1"/>
          </p:cNvPicPr>
          <p:nvPr/>
        </p:nvPicPr>
        <p:blipFill>
          <a:blip r:embed="rId10"/>
          <a:stretch>
            <a:fillRect/>
          </a:stretch>
        </p:blipFill>
        <p:spPr>
          <a:xfrm>
            <a:off x="3562387" y="3036552"/>
            <a:ext cx="2139766" cy="2139766"/>
          </a:xfrm>
          <a:prstGeom prst="rect">
            <a:avLst/>
          </a:prstGeom>
        </p:spPr>
      </p:pic>
      <p:grpSp>
        <p:nvGrpSpPr>
          <p:cNvPr id="10" name="Group 10"/>
          <p:cNvGrpSpPr/>
          <p:nvPr/>
        </p:nvGrpSpPr>
        <p:grpSpPr>
          <a:xfrm>
            <a:off x="1813857" y="6279927"/>
            <a:ext cx="5672972" cy="674657"/>
            <a:chOff x="0" y="0"/>
            <a:chExt cx="1390367" cy="165349"/>
          </a:xfrm>
        </p:grpSpPr>
        <p:sp>
          <p:nvSpPr>
            <p:cNvPr id="11" name="Freeform 11"/>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2" name="TextBox 12"/>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3" name="Group 13"/>
          <p:cNvGrpSpPr/>
          <p:nvPr/>
        </p:nvGrpSpPr>
        <p:grpSpPr>
          <a:xfrm>
            <a:off x="3675586" y="6415631"/>
            <a:ext cx="403249" cy="403249"/>
            <a:chOff x="0" y="0"/>
            <a:chExt cx="537665" cy="537665"/>
          </a:xfrm>
        </p:grpSpPr>
        <p:grpSp>
          <p:nvGrpSpPr>
            <p:cNvPr id="14" name="Group 14"/>
            <p:cNvGrpSpPr>
              <a:grpSpLocks noChangeAspect="1"/>
            </p:cNvGrpSpPr>
            <p:nvPr/>
          </p:nvGrpSpPr>
          <p:grpSpPr>
            <a:xfrm>
              <a:off x="0" y="0"/>
              <a:ext cx="537665" cy="537665"/>
              <a:chOff x="0" y="0"/>
              <a:chExt cx="6355080" cy="6355080"/>
            </a:xfrm>
          </p:grpSpPr>
          <p:sp>
            <p:nvSpPr>
              <p:cNvPr id="15" name="Freeform 1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47615"/>
              </a:solidFill>
            </p:spPr>
          </p:sp>
        </p:grpSp>
        <p:grpSp>
          <p:nvGrpSpPr>
            <p:cNvPr id="16" name="Group 16"/>
            <p:cNvGrpSpPr/>
            <p:nvPr/>
          </p:nvGrpSpPr>
          <p:grpSpPr>
            <a:xfrm>
              <a:off x="82983" y="82983"/>
              <a:ext cx="371698" cy="37169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47615"/>
              </a:solidFill>
            </p:spPr>
          </p:sp>
        </p:grpSp>
      </p:grpSp>
      <p:grpSp>
        <p:nvGrpSpPr>
          <p:cNvPr id="18" name="Group 18"/>
          <p:cNvGrpSpPr/>
          <p:nvPr/>
        </p:nvGrpSpPr>
        <p:grpSpPr>
          <a:xfrm>
            <a:off x="8863377" y="2396174"/>
            <a:ext cx="3086041" cy="654007"/>
            <a:chOff x="0" y="0"/>
            <a:chExt cx="1204730" cy="255312"/>
          </a:xfrm>
        </p:grpSpPr>
        <p:sp>
          <p:nvSpPr>
            <p:cNvPr id="19" name="Freeform 19"/>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20" name="TextBox 20"/>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grpSp>
        <p:nvGrpSpPr>
          <p:cNvPr id="21" name="Group 21"/>
          <p:cNvGrpSpPr/>
          <p:nvPr/>
        </p:nvGrpSpPr>
        <p:grpSpPr>
          <a:xfrm>
            <a:off x="8863377" y="6744247"/>
            <a:ext cx="3086041" cy="654007"/>
            <a:chOff x="0" y="0"/>
            <a:chExt cx="1204730" cy="255312"/>
          </a:xfrm>
        </p:grpSpPr>
        <p:sp>
          <p:nvSpPr>
            <p:cNvPr id="22" name="Freeform 22"/>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23" name="TextBox 23"/>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grpSp>
        <p:nvGrpSpPr>
          <p:cNvPr id="24" name="Group 24"/>
          <p:cNvGrpSpPr/>
          <p:nvPr/>
        </p:nvGrpSpPr>
        <p:grpSpPr>
          <a:xfrm>
            <a:off x="1813857" y="7097884"/>
            <a:ext cx="5672972" cy="674657"/>
            <a:chOff x="0" y="0"/>
            <a:chExt cx="1390367" cy="165349"/>
          </a:xfrm>
        </p:grpSpPr>
        <p:sp>
          <p:nvSpPr>
            <p:cNvPr id="25" name="Freeform 25">
              <a:hlinkClick r:id="rId11" tooltip="https://integratelcorp.sharepoint.com/:x:/r/sites/WorkplaceTI.TMHTP/_layouts/15/Doc.aspx?sourcedoc=%7B668DFBF4-24AB-4F91-8757-F381E69FCBA6%7D&amp;file=Gantt%20-%20Objetivos%202026%20(Unificado).xlsx&amp;action=default&amp;mobileredirect=true"/>
            </p:cNvPr>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26" name="TextBox 26"/>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sp>
        <p:nvSpPr>
          <p:cNvPr id="27" name="Freeform 27">
            <a:hlinkClick r:id="rId11" tooltip="https://integratelcorp.sharepoint.com/:x:/r/sites/WorkplaceTI.TMHTP/_layouts/15/Doc.aspx?sourcedoc=%7B668DFBF4-24AB-4F91-8757-F381E69FCBA6%7D&amp;file=Gantt%20-%20Objetivos%202026%20(Unificado).xlsx&amp;action=default&amp;mobileredirect=true"/>
          </p:cNvPr>
          <p:cNvSpPr/>
          <p:nvPr/>
        </p:nvSpPr>
        <p:spPr>
          <a:xfrm>
            <a:off x="5940465" y="7244473"/>
            <a:ext cx="381478" cy="381478"/>
          </a:xfrm>
          <a:custGeom>
            <a:avLst/>
            <a:gdLst/>
            <a:ahLst/>
            <a:cxnLst/>
            <a:rect l="l" t="t" r="r" b="b"/>
            <a:pathLst>
              <a:path w="381478" h="381478">
                <a:moveTo>
                  <a:pt x="0" y="0"/>
                </a:moveTo>
                <a:lnTo>
                  <a:pt x="381478" y="0"/>
                </a:lnTo>
                <a:lnTo>
                  <a:pt x="381478" y="381478"/>
                </a:lnTo>
                <a:lnTo>
                  <a:pt x="0" y="38147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8" name="Freeform 28"/>
          <p:cNvSpPr/>
          <p:nvPr/>
        </p:nvSpPr>
        <p:spPr>
          <a:xfrm>
            <a:off x="15358737" y="3308546"/>
            <a:ext cx="274525" cy="274525"/>
          </a:xfrm>
          <a:custGeom>
            <a:avLst/>
            <a:gdLst/>
            <a:ahLst/>
            <a:cxnLst/>
            <a:rect l="l" t="t" r="r" b="b"/>
            <a:pathLst>
              <a:path w="274525" h="274525">
                <a:moveTo>
                  <a:pt x="0" y="0"/>
                </a:moveTo>
                <a:lnTo>
                  <a:pt x="274525" y="0"/>
                </a:lnTo>
                <a:lnTo>
                  <a:pt x="274525" y="274525"/>
                </a:lnTo>
                <a:lnTo>
                  <a:pt x="0" y="2745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9" name="TextBox 29"/>
          <p:cNvSpPr txBox="1"/>
          <p:nvPr/>
        </p:nvSpPr>
        <p:spPr>
          <a:xfrm>
            <a:off x="2432561" y="1042683"/>
            <a:ext cx="6562039" cy="902256"/>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IMPLEMENTACIÓN DE SISTEMA UNIFICADO </a:t>
            </a:r>
          </a:p>
        </p:txBody>
      </p:sp>
      <p:sp>
        <p:nvSpPr>
          <p:cNvPr id="30" name="TextBox 30"/>
          <p:cNvSpPr txBox="1"/>
          <p:nvPr/>
        </p:nvSpPr>
        <p:spPr>
          <a:xfrm>
            <a:off x="3383787" y="5108276"/>
            <a:ext cx="2533112" cy="471543"/>
          </a:xfrm>
          <a:prstGeom prst="rect">
            <a:avLst/>
          </a:prstGeom>
        </p:spPr>
        <p:txBody>
          <a:bodyPr lIns="0" tIns="0" rIns="0" bIns="0" rtlCol="0" anchor="t">
            <a:spAutoFit/>
          </a:bodyPr>
          <a:lstStyle/>
          <a:p>
            <a:pPr algn="ctr">
              <a:lnSpc>
                <a:spcPts val="3556"/>
              </a:lnSpc>
            </a:pPr>
            <a:r>
              <a:rPr lang="en-US" sz="2915" spc="-160">
                <a:solidFill>
                  <a:srgbClr val="FFFFFF"/>
                </a:solidFill>
                <a:latin typeface="Poppins"/>
                <a:ea typeface="Poppins"/>
                <a:cs typeface="Poppins"/>
                <a:sym typeface="Poppins"/>
              </a:rPr>
              <a:t>Enero - Abril</a:t>
            </a:r>
          </a:p>
        </p:txBody>
      </p:sp>
      <p:sp>
        <p:nvSpPr>
          <p:cNvPr id="31" name="TextBox 31"/>
          <p:cNvSpPr txBox="1"/>
          <p:nvPr/>
        </p:nvSpPr>
        <p:spPr>
          <a:xfrm>
            <a:off x="4208659" y="6432789"/>
            <a:ext cx="1380294" cy="330831"/>
          </a:xfrm>
          <a:prstGeom prst="rect">
            <a:avLst/>
          </a:prstGeom>
        </p:spPr>
        <p:txBody>
          <a:bodyPr lIns="0" tIns="0" rIns="0" bIns="0" rtlCol="0" anchor="t">
            <a:spAutoFit/>
          </a:bodyPr>
          <a:lstStyle/>
          <a:p>
            <a:pPr marL="0" lvl="0" indent="0" algn="l">
              <a:lnSpc>
                <a:spcPts val="2515"/>
              </a:lnSpc>
            </a:pPr>
            <a:r>
              <a:rPr lang="en-US" sz="1935" b="1" spc="19">
                <a:solidFill>
                  <a:srgbClr val="147615"/>
                </a:solidFill>
                <a:latin typeface="Poppins Bold"/>
                <a:ea typeface="Poppins Bold"/>
                <a:cs typeface="Poppins Bold"/>
                <a:sym typeface="Poppins Bold"/>
              </a:rPr>
              <a:t>EN CURSO</a:t>
            </a:r>
          </a:p>
        </p:txBody>
      </p:sp>
      <p:sp>
        <p:nvSpPr>
          <p:cNvPr id="32" name="TextBox 32"/>
          <p:cNvSpPr txBox="1"/>
          <p:nvPr/>
        </p:nvSpPr>
        <p:spPr>
          <a:xfrm>
            <a:off x="9201502" y="2628429"/>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ACCIONES</a:t>
            </a:r>
          </a:p>
        </p:txBody>
      </p:sp>
      <p:sp>
        <p:nvSpPr>
          <p:cNvPr id="33" name="TextBox 33"/>
          <p:cNvSpPr txBox="1"/>
          <p:nvPr/>
        </p:nvSpPr>
        <p:spPr>
          <a:xfrm>
            <a:off x="7931363" y="7560179"/>
            <a:ext cx="8987314" cy="40960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Ninguno.</a:t>
            </a:r>
          </a:p>
        </p:txBody>
      </p:sp>
      <p:sp>
        <p:nvSpPr>
          <p:cNvPr id="34" name="TextBox 34"/>
          <p:cNvSpPr txBox="1"/>
          <p:nvPr/>
        </p:nvSpPr>
        <p:spPr>
          <a:xfrm>
            <a:off x="9201502" y="6976502"/>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IMPEDIMENTOS</a:t>
            </a:r>
          </a:p>
        </p:txBody>
      </p:sp>
      <p:sp>
        <p:nvSpPr>
          <p:cNvPr id="35" name="TextBox 35"/>
          <p:cNvSpPr txBox="1"/>
          <p:nvPr/>
        </p:nvSpPr>
        <p:spPr>
          <a:xfrm>
            <a:off x="2978744" y="7252238"/>
            <a:ext cx="2961721" cy="327848"/>
          </a:xfrm>
          <a:prstGeom prst="rect">
            <a:avLst/>
          </a:prstGeom>
        </p:spPr>
        <p:txBody>
          <a:bodyPr lIns="0" tIns="0" rIns="0" bIns="0" rtlCol="0" anchor="t">
            <a:spAutoFit/>
          </a:bodyPr>
          <a:lstStyle/>
          <a:p>
            <a:pPr marL="0" lvl="0" indent="0" algn="l">
              <a:lnSpc>
                <a:spcPts val="2515"/>
              </a:lnSpc>
            </a:pPr>
            <a:r>
              <a:rPr lang="en-US" sz="1935" b="1" spc="19">
                <a:solidFill>
                  <a:srgbClr val="009BF8"/>
                </a:solidFill>
                <a:latin typeface="Poppins Bold"/>
                <a:ea typeface="Poppins Bold"/>
                <a:cs typeface="Poppins Bold"/>
                <a:sym typeface="Poppins Bold"/>
                <a:hlinkClick r:id="rId11" tooltip="https://integratelcorp.sharepoint.com/:x:/r/sites/WorkplaceTI.TMHTP/_layouts/15/Doc.aspx?sourcedoc=%7B668DFBF4-24AB-4F91-8757-F381E69FCBA6%7D&amp;file=Gantt%20-%20Objetivos%202026%20(Unificado).xlsx&amp;action=default&amp;mobileredirect=true"/>
              </a:rPr>
              <a:t>HOJA DE SEGUIMIENTO</a:t>
            </a:r>
          </a:p>
        </p:txBody>
      </p:sp>
      <p:sp>
        <p:nvSpPr>
          <p:cNvPr id="36" name="Freeform 36"/>
          <p:cNvSpPr/>
          <p:nvPr/>
        </p:nvSpPr>
        <p:spPr>
          <a:xfrm>
            <a:off x="14055584" y="3716597"/>
            <a:ext cx="274525" cy="274525"/>
          </a:xfrm>
          <a:custGeom>
            <a:avLst/>
            <a:gdLst/>
            <a:ahLst/>
            <a:cxnLst/>
            <a:rect l="l" t="t" r="r" b="b"/>
            <a:pathLst>
              <a:path w="274525" h="274525">
                <a:moveTo>
                  <a:pt x="0" y="0"/>
                </a:moveTo>
                <a:lnTo>
                  <a:pt x="274525" y="0"/>
                </a:lnTo>
                <a:lnTo>
                  <a:pt x="274525" y="274524"/>
                </a:lnTo>
                <a:lnTo>
                  <a:pt x="0" y="27452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7" name="Freeform 37"/>
          <p:cNvSpPr/>
          <p:nvPr/>
        </p:nvSpPr>
        <p:spPr>
          <a:xfrm>
            <a:off x="13760767" y="4133016"/>
            <a:ext cx="274525" cy="274525"/>
          </a:xfrm>
          <a:custGeom>
            <a:avLst/>
            <a:gdLst/>
            <a:ahLst/>
            <a:cxnLst/>
            <a:rect l="l" t="t" r="r" b="b"/>
            <a:pathLst>
              <a:path w="274525" h="274525">
                <a:moveTo>
                  <a:pt x="0" y="0"/>
                </a:moveTo>
                <a:lnTo>
                  <a:pt x="274524" y="0"/>
                </a:lnTo>
                <a:lnTo>
                  <a:pt x="274524" y="274525"/>
                </a:lnTo>
                <a:lnTo>
                  <a:pt x="0" y="2745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8" name="Freeform 38"/>
          <p:cNvSpPr/>
          <p:nvPr/>
        </p:nvSpPr>
        <p:spPr>
          <a:xfrm>
            <a:off x="11829272" y="4521443"/>
            <a:ext cx="274525" cy="274525"/>
          </a:xfrm>
          <a:custGeom>
            <a:avLst/>
            <a:gdLst/>
            <a:ahLst/>
            <a:cxnLst/>
            <a:rect l="l" t="t" r="r" b="b"/>
            <a:pathLst>
              <a:path w="274525" h="274525">
                <a:moveTo>
                  <a:pt x="0" y="0"/>
                </a:moveTo>
                <a:lnTo>
                  <a:pt x="274525" y="0"/>
                </a:lnTo>
                <a:lnTo>
                  <a:pt x="274525" y="274525"/>
                </a:lnTo>
                <a:lnTo>
                  <a:pt x="0" y="2745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578053"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83114" y="463972"/>
            <a:ext cx="1433332" cy="1534106"/>
          </a:xfrm>
          <a:custGeom>
            <a:avLst/>
            <a:gdLst/>
            <a:ahLst/>
            <a:cxnLst/>
            <a:rect l="l" t="t" r="r" b="b"/>
            <a:pathLst>
              <a:path w="1433332" h="1534106">
                <a:moveTo>
                  <a:pt x="0" y="0"/>
                </a:moveTo>
                <a:lnTo>
                  <a:pt x="1433331" y="0"/>
                </a:lnTo>
                <a:lnTo>
                  <a:pt x="1433331" y="1534106"/>
                </a:lnTo>
                <a:lnTo>
                  <a:pt x="0" y="1534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7931363" y="3212106"/>
            <a:ext cx="8987314" cy="199075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Evaluación cotizaciones a proveedores.</a:t>
            </a:r>
          </a:p>
          <a:p>
            <a:pPr marL="971982" lvl="2" indent="-323994" algn="l">
              <a:lnSpc>
                <a:spcPts val="3150"/>
              </a:lnSpc>
              <a:buFont typeface="Arial"/>
              <a:buChar char="⚬"/>
            </a:pPr>
            <a:r>
              <a:rPr lang="en-US" sz="2251">
                <a:solidFill>
                  <a:srgbClr val="191919"/>
                </a:solidFill>
                <a:latin typeface="Poppins"/>
                <a:ea typeface="Poppins"/>
                <a:cs typeface="Poppins"/>
                <a:sym typeface="Poppins"/>
              </a:rPr>
              <a:t>Condiciones de devolución.</a:t>
            </a:r>
          </a:p>
          <a:p>
            <a:pPr marL="971981" lvl="2" indent="-323994" algn="l">
              <a:lnSpc>
                <a:spcPts val="3149"/>
              </a:lnSpc>
              <a:buFont typeface="Arial"/>
              <a:buChar char="⚬"/>
            </a:pPr>
            <a:r>
              <a:rPr lang="en-US" sz="2250">
                <a:solidFill>
                  <a:srgbClr val="191919"/>
                </a:solidFill>
                <a:latin typeface="Poppins"/>
                <a:ea typeface="Poppins"/>
                <a:cs typeface="Poppins"/>
                <a:sym typeface="Poppins"/>
              </a:rPr>
              <a:t>Evaluación de dispositivos actuales.</a:t>
            </a:r>
          </a:p>
          <a:p>
            <a:pPr marL="971981" lvl="2" indent="-323994" algn="l">
              <a:lnSpc>
                <a:spcPts val="3149"/>
              </a:lnSpc>
              <a:buFont typeface="Arial"/>
              <a:buChar char="⚬"/>
            </a:pPr>
            <a:r>
              <a:rPr lang="en-US" sz="2250">
                <a:solidFill>
                  <a:srgbClr val="191919"/>
                </a:solidFill>
                <a:latin typeface="Poppins"/>
                <a:ea typeface="Poppins"/>
                <a:cs typeface="Poppins"/>
                <a:sym typeface="Poppins"/>
              </a:rPr>
              <a:t>Análisis de Beneficios y/o posibles desventajas.</a:t>
            </a:r>
          </a:p>
          <a:p>
            <a:pPr marL="971981" lvl="2" indent="-323994" algn="l">
              <a:lnSpc>
                <a:spcPts val="3150"/>
              </a:lnSpc>
              <a:buFont typeface="Arial"/>
              <a:buChar char="⚬"/>
            </a:pPr>
            <a:r>
              <a:rPr lang="en-US" sz="2250">
                <a:solidFill>
                  <a:srgbClr val="191919"/>
                </a:solidFill>
                <a:latin typeface="Poppins"/>
                <a:ea typeface="Poppins"/>
                <a:cs typeface="Poppins"/>
                <a:sym typeface="Poppins"/>
              </a:rPr>
              <a:t>Gestión de Compra Residual </a:t>
            </a:r>
          </a:p>
        </p:txBody>
      </p:sp>
      <p:grpSp>
        <p:nvGrpSpPr>
          <p:cNvPr id="6" name="Group 6"/>
          <p:cNvGrpSpPr/>
          <p:nvPr/>
        </p:nvGrpSpPr>
        <p:grpSpPr>
          <a:xfrm>
            <a:off x="1369324" y="2396174"/>
            <a:ext cx="6562039" cy="6148273"/>
            <a:chOff x="0" y="0"/>
            <a:chExt cx="8749386" cy="8197698"/>
          </a:xfrm>
        </p:grpSpPr>
        <p:sp>
          <p:nvSpPr>
            <p:cNvPr id="7" name="Freeform 7"/>
            <p:cNvSpPr/>
            <p:nvPr/>
          </p:nvSpPr>
          <p:spPr>
            <a:xfrm>
              <a:off x="0" y="0"/>
              <a:ext cx="8749411" cy="8197723"/>
            </a:xfrm>
            <a:custGeom>
              <a:avLst/>
              <a:gdLst/>
              <a:ahLst/>
              <a:cxnLst/>
              <a:rect l="l" t="t" r="r" b="b"/>
              <a:pathLst>
                <a:path w="8749411" h="8197723">
                  <a:moveTo>
                    <a:pt x="8222234" y="8197723"/>
                  </a:moveTo>
                  <a:lnTo>
                    <a:pt x="527177" y="8197723"/>
                  </a:lnTo>
                  <a:cubicBezTo>
                    <a:pt x="236728" y="8197723"/>
                    <a:pt x="0" y="7960995"/>
                    <a:pt x="0" y="7670546"/>
                  </a:cubicBezTo>
                  <a:lnTo>
                    <a:pt x="0" y="527177"/>
                  </a:lnTo>
                  <a:cubicBezTo>
                    <a:pt x="0" y="236728"/>
                    <a:pt x="236728" y="0"/>
                    <a:pt x="527177" y="0"/>
                  </a:cubicBezTo>
                  <a:lnTo>
                    <a:pt x="8222234" y="0"/>
                  </a:lnTo>
                  <a:cubicBezTo>
                    <a:pt x="8512683" y="0"/>
                    <a:pt x="8749411" y="236728"/>
                    <a:pt x="8749411" y="527177"/>
                  </a:cubicBezTo>
                  <a:lnTo>
                    <a:pt x="8749411" y="7670546"/>
                  </a:lnTo>
                  <a:cubicBezTo>
                    <a:pt x="8749411" y="7960995"/>
                    <a:pt x="8512683" y="8197723"/>
                    <a:pt x="8222234" y="8197723"/>
                  </a:cubicBezTo>
                  <a:close/>
                </a:path>
              </a:pathLst>
            </a:custGeom>
            <a:solidFill>
              <a:srgbClr val="009BF8"/>
            </a:solidFill>
          </p:spPr>
        </p:sp>
      </p:grpSp>
      <p:pic>
        <p:nvPicPr>
          <p:cNvPr id="8" name="Picture 8"/>
          <p:cNvPicPr>
            <a:picLocks noChangeAspect="1"/>
          </p:cNvPicPr>
          <p:nvPr/>
        </p:nvPicPr>
        <p:blipFill>
          <a:blip r:embed="rId8"/>
          <a:stretch>
            <a:fillRect/>
          </a:stretch>
        </p:blipFill>
        <p:spPr>
          <a:xfrm>
            <a:off x="3562387" y="3036552"/>
            <a:ext cx="2139766" cy="2139766"/>
          </a:xfrm>
          <a:prstGeom prst="rect">
            <a:avLst/>
          </a:prstGeom>
        </p:spPr>
      </p:pic>
      <p:grpSp>
        <p:nvGrpSpPr>
          <p:cNvPr id="9" name="Group 9"/>
          <p:cNvGrpSpPr/>
          <p:nvPr/>
        </p:nvGrpSpPr>
        <p:grpSpPr>
          <a:xfrm>
            <a:off x="1813857" y="6279927"/>
            <a:ext cx="5672972" cy="674657"/>
            <a:chOff x="0" y="0"/>
            <a:chExt cx="1390367" cy="165349"/>
          </a:xfrm>
        </p:grpSpPr>
        <p:sp>
          <p:nvSpPr>
            <p:cNvPr id="10" name="Freeform 10"/>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1" name="TextBox 11"/>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2" name="Group 12"/>
          <p:cNvGrpSpPr/>
          <p:nvPr/>
        </p:nvGrpSpPr>
        <p:grpSpPr>
          <a:xfrm>
            <a:off x="3675586" y="6415631"/>
            <a:ext cx="403249" cy="403249"/>
            <a:chOff x="0" y="0"/>
            <a:chExt cx="537665" cy="537665"/>
          </a:xfrm>
        </p:grpSpPr>
        <p:grpSp>
          <p:nvGrpSpPr>
            <p:cNvPr id="13" name="Group 13"/>
            <p:cNvGrpSpPr>
              <a:grpSpLocks noChangeAspect="1"/>
            </p:cNvGrpSpPr>
            <p:nvPr/>
          </p:nvGrpSpPr>
          <p:grpSpPr>
            <a:xfrm>
              <a:off x="0" y="0"/>
              <a:ext cx="537665" cy="537665"/>
              <a:chOff x="0" y="0"/>
              <a:chExt cx="6355080" cy="6355080"/>
            </a:xfrm>
          </p:grpSpPr>
          <p:sp>
            <p:nvSpPr>
              <p:cNvPr id="14" name="Freeform 1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47615"/>
              </a:solidFill>
            </p:spPr>
          </p:sp>
        </p:grpSp>
        <p:grpSp>
          <p:nvGrpSpPr>
            <p:cNvPr id="15" name="Group 15"/>
            <p:cNvGrpSpPr/>
            <p:nvPr/>
          </p:nvGrpSpPr>
          <p:grpSpPr>
            <a:xfrm>
              <a:off x="82983" y="82983"/>
              <a:ext cx="371698" cy="371698"/>
              <a:chOff x="0" y="0"/>
              <a:chExt cx="6350000" cy="6350000"/>
            </a:xfrm>
          </p:grpSpPr>
          <p:sp>
            <p:nvSpPr>
              <p:cNvPr id="16" name="Freeform 1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47615"/>
              </a:solidFill>
            </p:spPr>
          </p:sp>
        </p:grpSp>
      </p:grpSp>
      <p:grpSp>
        <p:nvGrpSpPr>
          <p:cNvPr id="17" name="Group 17"/>
          <p:cNvGrpSpPr/>
          <p:nvPr/>
        </p:nvGrpSpPr>
        <p:grpSpPr>
          <a:xfrm>
            <a:off x="8863377" y="2396174"/>
            <a:ext cx="3086041" cy="654007"/>
            <a:chOff x="0" y="0"/>
            <a:chExt cx="1204730" cy="255312"/>
          </a:xfrm>
        </p:grpSpPr>
        <p:sp>
          <p:nvSpPr>
            <p:cNvPr id="18" name="Freeform 18"/>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19" name="TextBox 19"/>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0" name="Freeform 20"/>
          <p:cNvSpPr/>
          <p:nvPr/>
        </p:nvSpPr>
        <p:spPr>
          <a:xfrm>
            <a:off x="889321" y="929735"/>
            <a:ext cx="1020917" cy="703374"/>
          </a:xfrm>
          <a:custGeom>
            <a:avLst/>
            <a:gdLst/>
            <a:ahLst/>
            <a:cxnLst/>
            <a:rect l="l" t="t" r="r" b="b"/>
            <a:pathLst>
              <a:path w="1020917" h="703374">
                <a:moveTo>
                  <a:pt x="0" y="0"/>
                </a:moveTo>
                <a:lnTo>
                  <a:pt x="1020917" y="0"/>
                </a:lnTo>
                <a:lnTo>
                  <a:pt x="1020917" y="703374"/>
                </a:lnTo>
                <a:lnTo>
                  <a:pt x="0" y="703374"/>
                </a:lnTo>
                <a:lnTo>
                  <a:pt x="0" y="0"/>
                </a:lnTo>
                <a:close/>
              </a:path>
            </a:pathLst>
          </a:custGeom>
          <a:blipFill>
            <a:blip r:embed="rId9">
              <a:extLst>
                <a:ext uri="{96DAC541-7B7A-43D3-8B79-37D633B846F1}">
                  <asvg:svgBlip xmlns:asvg="http://schemas.microsoft.com/office/drawing/2016/SVG/main" r:embed="rId10"/>
                </a:ext>
              </a:extLst>
            </a:blip>
            <a:stretch>
              <a:fillRect t="-484" b="-486"/>
            </a:stretch>
          </a:blipFill>
        </p:spPr>
      </p:sp>
      <p:grpSp>
        <p:nvGrpSpPr>
          <p:cNvPr id="21" name="Group 21"/>
          <p:cNvGrpSpPr/>
          <p:nvPr/>
        </p:nvGrpSpPr>
        <p:grpSpPr>
          <a:xfrm>
            <a:off x="1813857" y="7097884"/>
            <a:ext cx="5672972" cy="674657"/>
            <a:chOff x="0" y="0"/>
            <a:chExt cx="1390367" cy="165349"/>
          </a:xfrm>
        </p:grpSpPr>
        <p:sp>
          <p:nvSpPr>
            <p:cNvPr id="22" name="Freeform 22">
              <a:hlinkClick r:id="rId11" tooltip="https://integratelcorp.sharepoint.com/:x:/r/sites/WorkplaceTI.TMHTP/_layouts/15/Doc.aspx?sourcedoc=%7B668DFBF4-24AB-4F91-8757-F381E69FCBA6%7D&amp;file=Gantt%20-%20Objetivos%202026%20(Unificado).xlsx&amp;action=default&amp;mobileredirect=true"/>
            </p:cNvPr>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23" name="TextBox 23"/>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sp>
        <p:nvSpPr>
          <p:cNvPr id="24" name="Freeform 24">
            <a:hlinkClick r:id="rId11" tooltip="https://integratelcorp.sharepoint.com/:x:/r/sites/WorkplaceTI.TMHTP/_layouts/15/Doc.aspx?sourcedoc=%7B668DFBF4-24AB-4F91-8757-F381E69FCBA6%7D&amp;file=Gantt%20-%20Objetivos%202026%20(Unificado).xlsx&amp;action=default&amp;mobileredirect=true"/>
          </p:cNvPr>
          <p:cNvSpPr/>
          <p:nvPr/>
        </p:nvSpPr>
        <p:spPr>
          <a:xfrm>
            <a:off x="5940465" y="7244473"/>
            <a:ext cx="381478" cy="381478"/>
          </a:xfrm>
          <a:custGeom>
            <a:avLst/>
            <a:gdLst/>
            <a:ahLst/>
            <a:cxnLst/>
            <a:rect l="l" t="t" r="r" b="b"/>
            <a:pathLst>
              <a:path w="381478" h="381478">
                <a:moveTo>
                  <a:pt x="0" y="0"/>
                </a:moveTo>
                <a:lnTo>
                  <a:pt x="381478" y="0"/>
                </a:lnTo>
                <a:lnTo>
                  <a:pt x="381478" y="381478"/>
                </a:lnTo>
                <a:lnTo>
                  <a:pt x="0" y="38147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5" name="TextBox 25"/>
          <p:cNvSpPr txBox="1"/>
          <p:nvPr/>
        </p:nvSpPr>
        <p:spPr>
          <a:xfrm>
            <a:off x="2432561" y="1042683"/>
            <a:ext cx="6330439" cy="902256"/>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EVALUACION: RENTING O COMPRA RESIDUAL</a:t>
            </a:r>
          </a:p>
        </p:txBody>
      </p:sp>
      <p:sp>
        <p:nvSpPr>
          <p:cNvPr id="26" name="TextBox 26"/>
          <p:cNvSpPr txBox="1"/>
          <p:nvPr/>
        </p:nvSpPr>
        <p:spPr>
          <a:xfrm>
            <a:off x="3383787" y="5108276"/>
            <a:ext cx="2533112" cy="471543"/>
          </a:xfrm>
          <a:prstGeom prst="rect">
            <a:avLst/>
          </a:prstGeom>
        </p:spPr>
        <p:txBody>
          <a:bodyPr lIns="0" tIns="0" rIns="0" bIns="0" rtlCol="0" anchor="t">
            <a:spAutoFit/>
          </a:bodyPr>
          <a:lstStyle/>
          <a:p>
            <a:pPr algn="ctr">
              <a:lnSpc>
                <a:spcPts val="3556"/>
              </a:lnSpc>
            </a:pPr>
            <a:r>
              <a:rPr lang="en-US" sz="2915" spc="-160">
                <a:solidFill>
                  <a:srgbClr val="FFFFFF"/>
                </a:solidFill>
                <a:latin typeface="Poppins"/>
                <a:ea typeface="Poppins"/>
                <a:cs typeface="Poppins"/>
                <a:sym typeface="Poppins"/>
              </a:rPr>
              <a:t>Enero - Junio</a:t>
            </a:r>
          </a:p>
        </p:txBody>
      </p:sp>
      <p:sp>
        <p:nvSpPr>
          <p:cNvPr id="27" name="TextBox 27"/>
          <p:cNvSpPr txBox="1"/>
          <p:nvPr/>
        </p:nvSpPr>
        <p:spPr>
          <a:xfrm>
            <a:off x="4208659" y="6432789"/>
            <a:ext cx="1380294" cy="330831"/>
          </a:xfrm>
          <a:prstGeom prst="rect">
            <a:avLst/>
          </a:prstGeom>
        </p:spPr>
        <p:txBody>
          <a:bodyPr lIns="0" tIns="0" rIns="0" bIns="0" rtlCol="0" anchor="t">
            <a:spAutoFit/>
          </a:bodyPr>
          <a:lstStyle/>
          <a:p>
            <a:pPr marL="0" lvl="0" indent="0" algn="l">
              <a:lnSpc>
                <a:spcPts val="2515"/>
              </a:lnSpc>
            </a:pPr>
            <a:r>
              <a:rPr lang="en-US" sz="1935" b="1" spc="19">
                <a:solidFill>
                  <a:srgbClr val="147615"/>
                </a:solidFill>
                <a:latin typeface="Poppins Bold"/>
                <a:ea typeface="Poppins Bold"/>
                <a:cs typeface="Poppins Bold"/>
                <a:sym typeface="Poppins Bold"/>
              </a:rPr>
              <a:t>EN CURSO</a:t>
            </a:r>
          </a:p>
        </p:txBody>
      </p:sp>
      <p:sp>
        <p:nvSpPr>
          <p:cNvPr id="28" name="TextBox 28"/>
          <p:cNvSpPr txBox="1"/>
          <p:nvPr/>
        </p:nvSpPr>
        <p:spPr>
          <a:xfrm>
            <a:off x="9201502" y="2628429"/>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ACCIONES</a:t>
            </a:r>
          </a:p>
        </p:txBody>
      </p:sp>
      <p:sp>
        <p:nvSpPr>
          <p:cNvPr id="29" name="TextBox 29"/>
          <p:cNvSpPr txBox="1"/>
          <p:nvPr/>
        </p:nvSpPr>
        <p:spPr>
          <a:xfrm>
            <a:off x="2978744" y="7252238"/>
            <a:ext cx="2961721" cy="327848"/>
          </a:xfrm>
          <a:prstGeom prst="rect">
            <a:avLst/>
          </a:prstGeom>
        </p:spPr>
        <p:txBody>
          <a:bodyPr lIns="0" tIns="0" rIns="0" bIns="0" rtlCol="0" anchor="t">
            <a:spAutoFit/>
          </a:bodyPr>
          <a:lstStyle/>
          <a:p>
            <a:pPr marL="0" lvl="0" indent="0" algn="l">
              <a:lnSpc>
                <a:spcPts val="2515"/>
              </a:lnSpc>
            </a:pPr>
            <a:r>
              <a:rPr lang="en-US" sz="1935" b="1" spc="19">
                <a:solidFill>
                  <a:srgbClr val="009BF8"/>
                </a:solidFill>
                <a:latin typeface="Poppins Bold"/>
                <a:ea typeface="Poppins Bold"/>
                <a:cs typeface="Poppins Bold"/>
                <a:sym typeface="Poppins Bold"/>
                <a:hlinkClick r:id="rId11" tooltip="https://integratelcorp.sharepoint.com/:x:/r/sites/WorkplaceTI.TMHTP/_layouts/15/Doc.aspx?sourcedoc=%7B668DFBF4-24AB-4F91-8757-F381E69FCBA6%7D&amp;file=Gantt%20-%20Objetivos%202026%20(Unificado).xlsx&amp;action=default&amp;mobileredirect=true"/>
              </a:rPr>
              <a:t>HOJA DE SEGUIMIENTO</a:t>
            </a:r>
          </a:p>
        </p:txBody>
      </p:sp>
      <p:sp>
        <p:nvSpPr>
          <p:cNvPr id="30" name="Freeform 30"/>
          <p:cNvSpPr/>
          <p:nvPr/>
        </p:nvSpPr>
        <p:spPr>
          <a:xfrm>
            <a:off x="14588984" y="3324167"/>
            <a:ext cx="274525" cy="274525"/>
          </a:xfrm>
          <a:custGeom>
            <a:avLst/>
            <a:gdLst/>
            <a:ahLst/>
            <a:cxnLst/>
            <a:rect l="l" t="t" r="r" b="b"/>
            <a:pathLst>
              <a:path w="274525" h="274525">
                <a:moveTo>
                  <a:pt x="0" y="0"/>
                </a:moveTo>
                <a:lnTo>
                  <a:pt x="274525" y="0"/>
                </a:lnTo>
                <a:lnTo>
                  <a:pt x="274525" y="274524"/>
                </a:lnTo>
                <a:lnTo>
                  <a:pt x="0" y="27452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1" name="Freeform 31"/>
          <p:cNvSpPr/>
          <p:nvPr/>
        </p:nvSpPr>
        <p:spPr>
          <a:xfrm>
            <a:off x="12897344" y="3728027"/>
            <a:ext cx="274525" cy="274525"/>
          </a:xfrm>
          <a:custGeom>
            <a:avLst/>
            <a:gdLst/>
            <a:ahLst/>
            <a:cxnLst/>
            <a:rect l="l" t="t" r="r" b="b"/>
            <a:pathLst>
              <a:path w="274525" h="274525">
                <a:moveTo>
                  <a:pt x="0" y="0"/>
                </a:moveTo>
                <a:lnTo>
                  <a:pt x="274525" y="0"/>
                </a:lnTo>
                <a:lnTo>
                  <a:pt x="274525" y="274524"/>
                </a:lnTo>
                <a:lnTo>
                  <a:pt x="0" y="27452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2" name="Freeform 32"/>
          <p:cNvSpPr/>
          <p:nvPr/>
        </p:nvSpPr>
        <p:spPr>
          <a:xfrm>
            <a:off x="14086064" y="4131887"/>
            <a:ext cx="274525" cy="274525"/>
          </a:xfrm>
          <a:custGeom>
            <a:avLst/>
            <a:gdLst/>
            <a:ahLst/>
            <a:cxnLst/>
            <a:rect l="l" t="t" r="r" b="b"/>
            <a:pathLst>
              <a:path w="274525" h="274525">
                <a:moveTo>
                  <a:pt x="0" y="0"/>
                </a:moveTo>
                <a:lnTo>
                  <a:pt x="274525" y="0"/>
                </a:lnTo>
                <a:lnTo>
                  <a:pt x="274525" y="274524"/>
                </a:lnTo>
                <a:lnTo>
                  <a:pt x="0" y="27452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3" name="Freeform 33"/>
          <p:cNvSpPr/>
          <p:nvPr/>
        </p:nvSpPr>
        <p:spPr>
          <a:xfrm>
            <a:off x="15701504" y="4512887"/>
            <a:ext cx="274525" cy="274525"/>
          </a:xfrm>
          <a:custGeom>
            <a:avLst/>
            <a:gdLst/>
            <a:ahLst/>
            <a:cxnLst/>
            <a:rect l="l" t="t" r="r" b="b"/>
            <a:pathLst>
              <a:path w="274525" h="274525">
                <a:moveTo>
                  <a:pt x="0" y="0"/>
                </a:moveTo>
                <a:lnTo>
                  <a:pt x="274525" y="0"/>
                </a:lnTo>
                <a:lnTo>
                  <a:pt x="274525" y="274524"/>
                </a:lnTo>
                <a:lnTo>
                  <a:pt x="0" y="27452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34" name="Group 34"/>
          <p:cNvGrpSpPr/>
          <p:nvPr/>
        </p:nvGrpSpPr>
        <p:grpSpPr>
          <a:xfrm>
            <a:off x="8863377" y="6744247"/>
            <a:ext cx="3086041" cy="654007"/>
            <a:chOff x="0" y="0"/>
            <a:chExt cx="1204730" cy="255312"/>
          </a:xfrm>
        </p:grpSpPr>
        <p:sp>
          <p:nvSpPr>
            <p:cNvPr id="35" name="Freeform 35"/>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36" name="TextBox 36"/>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37" name="TextBox 37"/>
          <p:cNvSpPr txBox="1"/>
          <p:nvPr/>
        </p:nvSpPr>
        <p:spPr>
          <a:xfrm>
            <a:off x="7931363" y="7560179"/>
            <a:ext cx="8987314" cy="40960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Ninguno.</a:t>
            </a:r>
          </a:p>
        </p:txBody>
      </p:sp>
      <p:sp>
        <p:nvSpPr>
          <p:cNvPr id="38" name="TextBox 38"/>
          <p:cNvSpPr txBox="1"/>
          <p:nvPr/>
        </p:nvSpPr>
        <p:spPr>
          <a:xfrm>
            <a:off x="9201502" y="6976502"/>
            <a:ext cx="2161853" cy="237121"/>
          </a:xfrm>
          <a:prstGeom prst="rect">
            <a:avLst/>
          </a:prstGeom>
        </p:spPr>
        <p:txBody>
          <a:bodyPr lIns="0" tIns="0" rIns="0" bIns="0" rtlCol="0" anchor="t">
            <a:spAutoFit/>
          </a:bodyPr>
          <a:lstStyle/>
          <a:p>
            <a:pPr marL="0" lvl="0" indent="0" algn="l">
              <a:lnSpc>
                <a:spcPts val="1667"/>
              </a:lnSpc>
            </a:pPr>
            <a:r>
              <a:rPr lang="en-US" sz="1895" dirty="0">
                <a:solidFill>
                  <a:srgbClr val="009BF8"/>
                </a:solidFill>
                <a:latin typeface="Lovelo"/>
                <a:ea typeface="Lovelo"/>
                <a:cs typeface="Lovelo"/>
                <a:sym typeface="Lovelo"/>
              </a:rPr>
              <a:t>IMPEDIMENTOS</a:t>
            </a:r>
          </a:p>
        </p:txBody>
      </p:sp>
      <p:grpSp>
        <p:nvGrpSpPr>
          <p:cNvPr id="39" name="Group 39"/>
          <p:cNvGrpSpPr/>
          <p:nvPr/>
        </p:nvGrpSpPr>
        <p:grpSpPr>
          <a:xfrm>
            <a:off x="14078317" y="8884180"/>
            <a:ext cx="3180983" cy="705000"/>
            <a:chOff x="0" y="0"/>
            <a:chExt cx="4241311" cy="940001"/>
          </a:xfrm>
        </p:grpSpPr>
        <p:grpSp>
          <p:nvGrpSpPr>
            <p:cNvPr id="40" name="Group 40"/>
            <p:cNvGrpSpPr/>
            <p:nvPr/>
          </p:nvGrpSpPr>
          <p:grpSpPr>
            <a:xfrm>
              <a:off x="0" y="0"/>
              <a:ext cx="4241311" cy="940001"/>
              <a:chOff x="0" y="0"/>
              <a:chExt cx="746060" cy="165349"/>
            </a:xfrm>
          </p:grpSpPr>
          <p:sp>
            <p:nvSpPr>
              <p:cNvPr id="41" name="Freeform 41">
                <a:hlinkClick r:id="rId16" action="ppaction://hlinksldjump"/>
              </p:cNvPr>
              <p:cNvSpPr/>
              <p:nvPr/>
            </p:nvSpPr>
            <p:spPr>
              <a:xfrm>
                <a:off x="0" y="0"/>
                <a:ext cx="746060" cy="165349"/>
              </a:xfrm>
              <a:custGeom>
                <a:avLst/>
                <a:gdLst/>
                <a:ahLst/>
                <a:cxnLst/>
                <a:rect l="l" t="t" r="r" b="b"/>
                <a:pathLst>
                  <a:path w="746060" h="165349">
                    <a:moveTo>
                      <a:pt x="82675" y="0"/>
                    </a:moveTo>
                    <a:lnTo>
                      <a:pt x="663386" y="0"/>
                    </a:lnTo>
                    <a:cubicBezTo>
                      <a:pt x="709046" y="0"/>
                      <a:pt x="746060" y="37015"/>
                      <a:pt x="746060" y="82675"/>
                    </a:cubicBezTo>
                    <a:lnTo>
                      <a:pt x="746060" y="82675"/>
                    </a:lnTo>
                    <a:cubicBezTo>
                      <a:pt x="746060" y="128334"/>
                      <a:pt x="709046" y="165349"/>
                      <a:pt x="663386" y="165349"/>
                    </a:cubicBezTo>
                    <a:lnTo>
                      <a:pt x="82675" y="165349"/>
                    </a:lnTo>
                    <a:cubicBezTo>
                      <a:pt x="37015" y="165349"/>
                      <a:pt x="0" y="128334"/>
                      <a:pt x="0" y="82675"/>
                    </a:cubicBezTo>
                    <a:lnTo>
                      <a:pt x="0" y="82675"/>
                    </a:lnTo>
                    <a:cubicBezTo>
                      <a:pt x="0" y="37015"/>
                      <a:pt x="37015" y="0"/>
                      <a:pt x="82675" y="0"/>
                    </a:cubicBezTo>
                    <a:close/>
                  </a:path>
                </a:pathLst>
              </a:custGeom>
              <a:solidFill>
                <a:srgbClr val="009BF8"/>
              </a:solidFill>
            </p:spPr>
          </p:sp>
          <p:sp>
            <p:nvSpPr>
              <p:cNvPr id="42" name="TextBox 42"/>
              <p:cNvSpPr txBox="1"/>
              <p:nvPr/>
            </p:nvSpPr>
            <p:spPr>
              <a:xfrm>
                <a:off x="0" y="-133350"/>
                <a:ext cx="746060" cy="298699"/>
              </a:xfrm>
              <a:prstGeom prst="rect">
                <a:avLst/>
              </a:prstGeom>
            </p:spPr>
            <p:txBody>
              <a:bodyPr lIns="50800" tIns="50800" rIns="50800" bIns="50800" rtlCol="0" anchor="ctr"/>
              <a:lstStyle/>
              <a:p>
                <a:pPr algn="ctr">
                  <a:lnSpc>
                    <a:spcPts val="3520"/>
                  </a:lnSpc>
                </a:pPr>
                <a:endParaRPr/>
              </a:p>
            </p:txBody>
          </p:sp>
        </p:grpSp>
        <p:sp>
          <p:nvSpPr>
            <p:cNvPr id="43" name="Freeform 43"/>
            <p:cNvSpPr/>
            <p:nvPr/>
          </p:nvSpPr>
          <p:spPr>
            <a:xfrm>
              <a:off x="2750498" y="204243"/>
              <a:ext cx="531514" cy="531514"/>
            </a:xfrm>
            <a:custGeom>
              <a:avLst/>
              <a:gdLst/>
              <a:ahLst/>
              <a:cxnLst/>
              <a:rect l="l" t="t" r="r" b="b"/>
              <a:pathLst>
                <a:path w="531514" h="531514">
                  <a:moveTo>
                    <a:pt x="0" y="0"/>
                  </a:moveTo>
                  <a:lnTo>
                    <a:pt x="531514" y="0"/>
                  </a:lnTo>
                  <a:lnTo>
                    <a:pt x="531514" y="531514"/>
                  </a:lnTo>
                  <a:lnTo>
                    <a:pt x="0" y="531514"/>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4" name="TextBox 44"/>
            <p:cNvSpPr txBox="1"/>
            <p:nvPr/>
          </p:nvSpPr>
          <p:spPr>
            <a:xfrm>
              <a:off x="953455" y="226772"/>
              <a:ext cx="1610352" cy="448357"/>
            </a:xfrm>
            <a:prstGeom prst="rect">
              <a:avLst/>
            </a:prstGeom>
          </p:spPr>
          <p:txBody>
            <a:bodyPr lIns="0" tIns="0" rIns="0" bIns="0" rtlCol="0" anchor="t">
              <a:spAutoFit/>
            </a:bodyPr>
            <a:lstStyle/>
            <a:p>
              <a:pPr marL="0" lvl="0" indent="0" algn="l">
                <a:lnSpc>
                  <a:spcPts val="2628"/>
                </a:lnSpc>
              </a:pPr>
              <a:r>
                <a:rPr lang="en-US" sz="2022" b="1" spc="20" dirty="0">
                  <a:solidFill>
                    <a:srgbClr val="FFFFFF"/>
                  </a:solidFill>
                  <a:latin typeface="Poppins Bold"/>
                  <a:ea typeface="Poppins Bold"/>
                  <a:cs typeface="Poppins Bold"/>
                  <a:sym typeface="Poppins Bold"/>
                </a:rPr>
                <a:t>DETALLLE</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578053"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83114" y="463972"/>
            <a:ext cx="1433332" cy="1534106"/>
          </a:xfrm>
          <a:custGeom>
            <a:avLst/>
            <a:gdLst/>
            <a:ahLst/>
            <a:cxnLst/>
            <a:rect l="l" t="t" r="r" b="b"/>
            <a:pathLst>
              <a:path w="1433332" h="1534106">
                <a:moveTo>
                  <a:pt x="0" y="0"/>
                </a:moveTo>
                <a:lnTo>
                  <a:pt x="1433331" y="0"/>
                </a:lnTo>
                <a:lnTo>
                  <a:pt x="1433331" y="1534106"/>
                </a:lnTo>
                <a:lnTo>
                  <a:pt x="0" y="1534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1369324" y="2396174"/>
            <a:ext cx="6562039" cy="6148273"/>
            <a:chOff x="0" y="0"/>
            <a:chExt cx="8749386" cy="8197698"/>
          </a:xfrm>
        </p:grpSpPr>
        <p:sp>
          <p:nvSpPr>
            <p:cNvPr id="6" name="Freeform 6"/>
            <p:cNvSpPr/>
            <p:nvPr/>
          </p:nvSpPr>
          <p:spPr>
            <a:xfrm>
              <a:off x="0" y="0"/>
              <a:ext cx="8749411" cy="8197723"/>
            </a:xfrm>
            <a:custGeom>
              <a:avLst/>
              <a:gdLst/>
              <a:ahLst/>
              <a:cxnLst/>
              <a:rect l="l" t="t" r="r" b="b"/>
              <a:pathLst>
                <a:path w="8749411" h="8197723">
                  <a:moveTo>
                    <a:pt x="8222234" y="8197723"/>
                  </a:moveTo>
                  <a:lnTo>
                    <a:pt x="527177" y="8197723"/>
                  </a:lnTo>
                  <a:cubicBezTo>
                    <a:pt x="236728" y="8197723"/>
                    <a:pt x="0" y="7960995"/>
                    <a:pt x="0" y="7670546"/>
                  </a:cubicBezTo>
                  <a:lnTo>
                    <a:pt x="0" y="527177"/>
                  </a:lnTo>
                  <a:cubicBezTo>
                    <a:pt x="0" y="236728"/>
                    <a:pt x="236728" y="0"/>
                    <a:pt x="527177" y="0"/>
                  </a:cubicBezTo>
                  <a:lnTo>
                    <a:pt x="8222234" y="0"/>
                  </a:lnTo>
                  <a:cubicBezTo>
                    <a:pt x="8512683" y="0"/>
                    <a:pt x="8749411" y="236728"/>
                    <a:pt x="8749411" y="527177"/>
                  </a:cubicBezTo>
                  <a:lnTo>
                    <a:pt x="8749411" y="7670546"/>
                  </a:lnTo>
                  <a:cubicBezTo>
                    <a:pt x="8749411" y="7960995"/>
                    <a:pt x="8512683" y="8197723"/>
                    <a:pt x="8222234" y="8197723"/>
                  </a:cubicBezTo>
                  <a:close/>
                </a:path>
              </a:pathLst>
            </a:custGeom>
            <a:solidFill>
              <a:srgbClr val="009BF8"/>
            </a:solidFill>
          </p:spPr>
        </p:sp>
      </p:grpSp>
      <p:pic>
        <p:nvPicPr>
          <p:cNvPr id="7" name="Picture 7"/>
          <p:cNvPicPr>
            <a:picLocks noChangeAspect="1"/>
          </p:cNvPicPr>
          <p:nvPr/>
        </p:nvPicPr>
        <p:blipFill>
          <a:blip r:embed="rId8"/>
          <a:stretch>
            <a:fillRect/>
          </a:stretch>
        </p:blipFill>
        <p:spPr>
          <a:xfrm>
            <a:off x="3562387" y="3036552"/>
            <a:ext cx="2139766" cy="2139766"/>
          </a:xfrm>
          <a:prstGeom prst="rect">
            <a:avLst/>
          </a:prstGeom>
        </p:spPr>
      </p:pic>
      <p:grpSp>
        <p:nvGrpSpPr>
          <p:cNvPr id="8" name="Group 8"/>
          <p:cNvGrpSpPr/>
          <p:nvPr/>
        </p:nvGrpSpPr>
        <p:grpSpPr>
          <a:xfrm>
            <a:off x="1813857" y="6279927"/>
            <a:ext cx="5672972" cy="674657"/>
            <a:chOff x="0" y="0"/>
            <a:chExt cx="1390367" cy="165349"/>
          </a:xfrm>
        </p:grpSpPr>
        <p:sp>
          <p:nvSpPr>
            <p:cNvPr id="9" name="Freeform 9"/>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0" name="TextBox 10"/>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1" name="Group 11"/>
          <p:cNvGrpSpPr/>
          <p:nvPr/>
        </p:nvGrpSpPr>
        <p:grpSpPr>
          <a:xfrm>
            <a:off x="1813857" y="7097884"/>
            <a:ext cx="5672972" cy="674657"/>
            <a:chOff x="0" y="0"/>
            <a:chExt cx="1390367" cy="165349"/>
          </a:xfrm>
        </p:grpSpPr>
        <p:sp>
          <p:nvSpPr>
            <p:cNvPr id="12" name="Freeform 12">
              <a:hlinkClick r:id="rId9" tooltip="https://integratelcorp.sharepoint.com/:x:/r/sites/WorkplaceTI.TMHTP/_layouts/15/Doc.aspx?sourcedoc=%7B668DFBF4-24AB-4F91-8757-F381E69FCBA6%7D&amp;file=Gantt%20-%20Objetivos%202026%20(Unificado).xlsx&amp;action=default&amp;mobileredirect=true"/>
            </p:cNvPr>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3" name="TextBox 13"/>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4" name="Group 14"/>
          <p:cNvGrpSpPr/>
          <p:nvPr/>
        </p:nvGrpSpPr>
        <p:grpSpPr>
          <a:xfrm>
            <a:off x="3675586" y="6415631"/>
            <a:ext cx="403249" cy="403249"/>
            <a:chOff x="0" y="0"/>
            <a:chExt cx="537665" cy="537665"/>
          </a:xfrm>
        </p:grpSpPr>
        <p:grpSp>
          <p:nvGrpSpPr>
            <p:cNvPr id="15" name="Group 15"/>
            <p:cNvGrpSpPr>
              <a:grpSpLocks noChangeAspect="1"/>
            </p:cNvGrpSpPr>
            <p:nvPr/>
          </p:nvGrpSpPr>
          <p:grpSpPr>
            <a:xfrm>
              <a:off x="0" y="0"/>
              <a:ext cx="537665" cy="537665"/>
              <a:chOff x="0" y="0"/>
              <a:chExt cx="6355080" cy="6355080"/>
            </a:xfrm>
          </p:grpSpPr>
          <p:sp>
            <p:nvSpPr>
              <p:cNvPr id="16" name="Freeform 16"/>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47615"/>
              </a:solidFill>
            </p:spPr>
          </p:sp>
        </p:grpSp>
        <p:grpSp>
          <p:nvGrpSpPr>
            <p:cNvPr id="17" name="Group 17"/>
            <p:cNvGrpSpPr/>
            <p:nvPr/>
          </p:nvGrpSpPr>
          <p:grpSpPr>
            <a:xfrm>
              <a:off x="82983" y="82983"/>
              <a:ext cx="371698" cy="371698"/>
              <a:chOff x="0" y="0"/>
              <a:chExt cx="6350000" cy="6350000"/>
            </a:xfrm>
          </p:grpSpPr>
          <p:sp>
            <p:nvSpPr>
              <p:cNvPr id="18" name="Freeform 1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47615"/>
              </a:solidFill>
            </p:spPr>
          </p:sp>
        </p:grpSp>
      </p:grpSp>
      <p:sp>
        <p:nvSpPr>
          <p:cNvPr id="19" name="Freeform 19">
            <a:hlinkClick r:id="rId9" tooltip="https://integratelcorp.sharepoint.com/:x:/r/sites/WorkplaceTI.TMHTP/_layouts/15/Doc.aspx?sourcedoc=%7B668DFBF4-24AB-4F91-8757-F381E69FCBA6%7D&amp;file=Gantt%20-%20Objetivos%202026%20(Unificado).xlsx&amp;action=default&amp;mobileredirect=true"/>
          </p:cNvPr>
          <p:cNvSpPr/>
          <p:nvPr/>
        </p:nvSpPr>
        <p:spPr>
          <a:xfrm>
            <a:off x="5940465" y="7244473"/>
            <a:ext cx="381478" cy="381478"/>
          </a:xfrm>
          <a:custGeom>
            <a:avLst/>
            <a:gdLst/>
            <a:ahLst/>
            <a:cxnLst/>
            <a:rect l="l" t="t" r="r" b="b"/>
            <a:pathLst>
              <a:path w="381478" h="381478">
                <a:moveTo>
                  <a:pt x="0" y="0"/>
                </a:moveTo>
                <a:lnTo>
                  <a:pt x="381478" y="0"/>
                </a:lnTo>
                <a:lnTo>
                  <a:pt x="381478" y="381478"/>
                </a:lnTo>
                <a:lnTo>
                  <a:pt x="0" y="38147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20" name="Group 20"/>
          <p:cNvGrpSpPr/>
          <p:nvPr/>
        </p:nvGrpSpPr>
        <p:grpSpPr>
          <a:xfrm>
            <a:off x="8863377" y="2396174"/>
            <a:ext cx="3086041" cy="654007"/>
            <a:chOff x="0" y="0"/>
            <a:chExt cx="1204730" cy="255312"/>
          </a:xfrm>
        </p:grpSpPr>
        <p:sp>
          <p:nvSpPr>
            <p:cNvPr id="21" name="Freeform 21"/>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22" name="TextBox 22"/>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3" name="Freeform 23"/>
          <p:cNvSpPr/>
          <p:nvPr/>
        </p:nvSpPr>
        <p:spPr>
          <a:xfrm>
            <a:off x="1007432" y="929735"/>
            <a:ext cx="784695" cy="703374"/>
          </a:xfrm>
          <a:custGeom>
            <a:avLst/>
            <a:gdLst/>
            <a:ahLst/>
            <a:cxnLst/>
            <a:rect l="l" t="t" r="r" b="b"/>
            <a:pathLst>
              <a:path w="784695" h="703374">
                <a:moveTo>
                  <a:pt x="0" y="0"/>
                </a:moveTo>
                <a:lnTo>
                  <a:pt x="784695" y="0"/>
                </a:lnTo>
                <a:lnTo>
                  <a:pt x="784695" y="703374"/>
                </a:lnTo>
                <a:lnTo>
                  <a:pt x="0" y="703374"/>
                </a:lnTo>
                <a:lnTo>
                  <a:pt x="0" y="0"/>
                </a:lnTo>
                <a:close/>
              </a:path>
            </a:pathLst>
          </a:custGeom>
          <a:blipFill>
            <a:blip r:embed="rId12">
              <a:extLst>
                <a:ext uri="{96DAC541-7B7A-43D3-8B79-37D633B846F1}">
                  <asvg:svgBlip xmlns:asvg="http://schemas.microsoft.com/office/drawing/2016/SVG/main" r:embed="rId13"/>
                </a:ext>
              </a:extLst>
            </a:blip>
            <a:stretch>
              <a:fillRect t="-799" b="-801"/>
            </a:stretch>
          </a:blipFill>
        </p:spPr>
      </p:sp>
      <p:sp>
        <p:nvSpPr>
          <p:cNvPr id="24" name="TextBox 24"/>
          <p:cNvSpPr txBox="1"/>
          <p:nvPr/>
        </p:nvSpPr>
        <p:spPr>
          <a:xfrm>
            <a:off x="2432561" y="1042683"/>
            <a:ext cx="6562039" cy="902256"/>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IMPLEMENTACIÓN DEL EQUIPO DIGITALIZACIÓN</a:t>
            </a:r>
          </a:p>
        </p:txBody>
      </p:sp>
      <p:sp>
        <p:nvSpPr>
          <p:cNvPr id="25" name="TextBox 25"/>
          <p:cNvSpPr txBox="1"/>
          <p:nvPr/>
        </p:nvSpPr>
        <p:spPr>
          <a:xfrm>
            <a:off x="3383787" y="5108276"/>
            <a:ext cx="2533112" cy="471543"/>
          </a:xfrm>
          <a:prstGeom prst="rect">
            <a:avLst/>
          </a:prstGeom>
        </p:spPr>
        <p:txBody>
          <a:bodyPr lIns="0" tIns="0" rIns="0" bIns="0" rtlCol="0" anchor="t">
            <a:spAutoFit/>
          </a:bodyPr>
          <a:lstStyle/>
          <a:p>
            <a:pPr algn="ctr">
              <a:lnSpc>
                <a:spcPts val="3556"/>
              </a:lnSpc>
            </a:pPr>
            <a:r>
              <a:rPr lang="en-US" sz="2915" spc="-160">
                <a:solidFill>
                  <a:srgbClr val="FFFFFF"/>
                </a:solidFill>
                <a:latin typeface="Poppins"/>
                <a:ea typeface="Poppins"/>
                <a:cs typeface="Poppins"/>
                <a:sym typeface="Poppins"/>
              </a:rPr>
              <a:t>Enero - Abril</a:t>
            </a:r>
          </a:p>
        </p:txBody>
      </p:sp>
      <p:sp>
        <p:nvSpPr>
          <p:cNvPr id="26" name="TextBox 26"/>
          <p:cNvSpPr txBox="1"/>
          <p:nvPr/>
        </p:nvSpPr>
        <p:spPr>
          <a:xfrm>
            <a:off x="4208659" y="6432789"/>
            <a:ext cx="1380294" cy="330831"/>
          </a:xfrm>
          <a:prstGeom prst="rect">
            <a:avLst/>
          </a:prstGeom>
        </p:spPr>
        <p:txBody>
          <a:bodyPr lIns="0" tIns="0" rIns="0" bIns="0" rtlCol="0" anchor="t">
            <a:spAutoFit/>
          </a:bodyPr>
          <a:lstStyle/>
          <a:p>
            <a:pPr marL="0" lvl="0" indent="0" algn="l">
              <a:lnSpc>
                <a:spcPts val="2515"/>
              </a:lnSpc>
            </a:pPr>
            <a:r>
              <a:rPr lang="en-US" sz="1935" b="1" spc="19">
                <a:solidFill>
                  <a:srgbClr val="147615"/>
                </a:solidFill>
                <a:latin typeface="Poppins Bold"/>
                <a:ea typeface="Poppins Bold"/>
                <a:cs typeface="Poppins Bold"/>
                <a:sym typeface="Poppins Bold"/>
              </a:rPr>
              <a:t>EN CURSO</a:t>
            </a:r>
          </a:p>
        </p:txBody>
      </p:sp>
      <p:sp>
        <p:nvSpPr>
          <p:cNvPr id="27" name="TextBox 27"/>
          <p:cNvSpPr txBox="1"/>
          <p:nvPr/>
        </p:nvSpPr>
        <p:spPr>
          <a:xfrm>
            <a:off x="2978744" y="7252238"/>
            <a:ext cx="2961721" cy="327848"/>
          </a:xfrm>
          <a:prstGeom prst="rect">
            <a:avLst/>
          </a:prstGeom>
        </p:spPr>
        <p:txBody>
          <a:bodyPr lIns="0" tIns="0" rIns="0" bIns="0" rtlCol="0" anchor="t">
            <a:spAutoFit/>
          </a:bodyPr>
          <a:lstStyle/>
          <a:p>
            <a:pPr marL="0" lvl="0" indent="0" algn="l">
              <a:lnSpc>
                <a:spcPts val="2515"/>
              </a:lnSpc>
            </a:pPr>
            <a:r>
              <a:rPr lang="en-US" sz="1935" b="1" spc="19">
                <a:solidFill>
                  <a:srgbClr val="009BF8"/>
                </a:solidFill>
                <a:latin typeface="Poppins Bold"/>
                <a:ea typeface="Poppins Bold"/>
                <a:cs typeface="Poppins Bold"/>
                <a:sym typeface="Poppins Bold"/>
                <a:hlinkClick r:id="rId9" tooltip="https://integratelcorp.sharepoint.com/:x:/r/sites/WorkplaceTI.TMHTP/_layouts/15/Doc.aspx?sourcedoc=%7B668DFBF4-24AB-4F91-8757-F381E69FCBA6%7D&amp;file=Gantt%20-%20Objetivos%202026%20(Unificado).xlsx&amp;action=default&amp;mobileredirect=true"/>
              </a:rPr>
              <a:t>HOJA DE SEGUIMIENTO</a:t>
            </a:r>
          </a:p>
        </p:txBody>
      </p:sp>
      <p:sp>
        <p:nvSpPr>
          <p:cNvPr id="28" name="TextBox 28"/>
          <p:cNvSpPr txBox="1"/>
          <p:nvPr/>
        </p:nvSpPr>
        <p:spPr>
          <a:xfrm>
            <a:off x="7931363" y="3212106"/>
            <a:ext cx="8987314" cy="2362461"/>
          </a:xfrm>
          <a:prstGeom prst="rect">
            <a:avLst/>
          </a:prstGeom>
        </p:spPr>
        <p:txBody>
          <a:bodyPr lIns="0" tIns="0" rIns="0" bIns="0" rtlCol="0" anchor="t">
            <a:spAutoFit/>
          </a:bodyPr>
          <a:lstStyle/>
          <a:p>
            <a:pPr marL="971981" lvl="2" indent="-323994" algn="l">
              <a:lnSpc>
                <a:spcPts val="3149"/>
              </a:lnSpc>
              <a:buFont typeface="Arial"/>
              <a:buChar char="⚬"/>
            </a:pPr>
            <a:r>
              <a:rPr lang="en-US" sz="2250">
                <a:solidFill>
                  <a:srgbClr val="191919"/>
                </a:solidFill>
                <a:latin typeface="Poppins"/>
                <a:ea typeface="Poppins"/>
                <a:cs typeface="Poppins"/>
                <a:sym typeface="Poppins"/>
              </a:rPr>
              <a:t>Instalación de equipos.</a:t>
            </a:r>
          </a:p>
          <a:p>
            <a:pPr marL="971981" lvl="2" indent="-323994" algn="l">
              <a:lnSpc>
                <a:spcPts val="3150"/>
              </a:lnSpc>
              <a:buFont typeface="Arial"/>
              <a:buChar char="⚬"/>
            </a:pPr>
            <a:r>
              <a:rPr lang="en-US" sz="2250">
                <a:solidFill>
                  <a:srgbClr val="191919"/>
                </a:solidFill>
                <a:latin typeface="Poppins"/>
                <a:ea typeface="Poppins"/>
                <a:cs typeface="Poppins"/>
                <a:sym typeface="Poppins"/>
              </a:rPr>
              <a:t>Pruebas funcionales y de rendimiento.</a:t>
            </a:r>
          </a:p>
          <a:p>
            <a:pPr marL="971981" lvl="2" indent="-323994" algn="l">
              <a:lnSpc>
                <a:spcPts val="3149"/>
              </a:lnSpc>
              <a:buFont typeface="Arial"/>
              <a:buChar char="⚬"/>
            </a:pPr>
            <a:r>
              <a:rPr lang="en-US" sz="2250">
                <a:solidFill>
                  <a:srgbClr val="191919"/>
                </a:solidFill>
                <a:latin typeface="Poppins"/>
                <a:ea typeface="Poppins"/>
                <a:cs typeface="Poppins"/>
                <a:sym typeface="Poppins"/>
              </a:rPr>
              <a:t>Configuración de equipos.</a:t>
            </a:r>
          </a:p>
          <a:p>
            <a:pPr marL="971981" lvl="2" indent="-323994" algn="l">
              <a:lnSpc>
                <a:spcPts val="3149"/>
              </a:lnSpc>
              <a:buFont typeface="Arial"/>
              <a:buChar char="⚬"/>
            </a:pPr>
            <a:r>
              <a:rPr lang="en-US" sz="2250">
                <a:solidFill>
                  <a:srgbClr val="191919"/>
                </a:solidFill>
                <a:latin typeface="Poppins"/>
                <a:ea typeface="Poppins"/>
                <a:cs typeface="Poppins"/>
                <a:sym typeface="Poppins"/>
              </a:rPr>
              <a:t>Integración con Sharepoint.</a:t>
            </a:r>
          </a:p>
          <a:p>
            <a:pPr marL="971981" lvl="2" indent="-323994" algn="l">
              <a:lnSpc>
                <a:spcPts val="3149"/>
              </a:lnSpc>
              <a:buFont typeface="Arial"/>
              <a:buChar char="⚬"/>
            </a:pPr>
            <a:r>
              <a:rPr lang="en-US" sz="2250">
                <a:solidFill>
                  <a:srgbClr val="191919"/>
                </a:solidFill>
                <a:latin typeface="Poppins"/>
                <a:ea typeface="Poppins"/>
                <a:cs typeface="Poppins"/>
                <a:sym typeface="Poppins"/>
              </a:rPr>
              <a:t>Evaluación del piloto</a:t>
            </a:r>
          </a:p>
          <a:p>
            <a:pPr marL="971981" lvl="2" indent="-323994" algn="l">
              <a:lnSpc>
                <a:spcPts val="3149"/>
              </a:lnSpc>
              <a:buFont typeface="Arial"/>
              <a:buChar char="⚬"/>
            </a:pPr>
            <a:r>
              <a:rPr lang="en-US" sz="2250">
                <a:solidFill>
                  <a:srgbClr val="191919"/>
                </a:solidFill>
                <a:latin typeface="Poppins"/>
                <a:ea typeface="Poppins"/>
                <a:cs typeface="Poppins"/>
                <a:sym typeface="Poppins"/>
              </a:rPr>
              <a:t>Cotización de impresoras/soporte/suministros.</a:t>
            </a:r>
          </a:p>
        </p:txBody>
      </p:sp>
      <p:sp>
        <p:nvSpPr>
          <p:cNvPr id="29" name="TextBox 29"/>
          <p:cNvSpPr txBox="1"/>
          <p:nvPr/>
        </p:nvSpPr>
        <p:spPr>
          <a:xfrm>
            <a:off x="9201502" y="2628429"/>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ACCIONES</a:t>
            </a:r>
          </a:p>
        </p:txBody>
      </p:sp>
      <p:sp>
        <p:nvSpPr>
          <p:cNvPr id="30" name="Freeform 30"/>
          <p:cNvSpPr/>
          <p:nvPr/>
        </p:nvSpPr>
        <p:spPr>
          <a:xfrm>
            <a:off x="12287757" y="3336336"/>
            <a:ext cx="274525" cy="274525"/>
          </a:xfrm>
          <a:custGeom>
            <a:avLst/>
            <a:gdLst/>
            <a:ahLst/>
            <a:cxnLst/>
            <a:rect l="l" t="t" r="r" b="b"/>
            <a:pathLst>
              <a:path w="274525" h="274525">
                <a:moveTo>
                  <a:pt x="0" y="0"/>
                </a:moveTo>
                <a:lnTo>
                  <a:pt x="274525" y="0"/>
                </a:lnTo>
                <a:lnTo>
                  <a:pt x="274525" y="274525"/>
                </a:lnTo>
                <a:lnTo>
                  <a:pt x="0" y="2745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1" name="Freeform 31"/>
          <p:cNvSpPr/>
          <p:nvPr/>
        </p:nvSpPr>
        <p:spPr>
          <a:xfrm>
            <a:off x="14424688" y="3742466"/>
            <a:ext cx="274525" cy="274525"/>
          </a:xfrm>
          <a:custGeom>
            <a:avLst/>
            <a:gdLst/>
            <a:ahLst/>
            <a:cxnLst/>
            <a:rect l="l" t="t" r="r" b="b"/>
            <a:pathLst>
              <a:path w="274525" h="274525">
                <a:moveTo>
                  <a:pt x="0" y="0"/>
                </a:moveTo>
                <a:lnTo>
                  <a:pt x="274524" y="0"/>
                </a:lnTo>
                <a:lnTo>
                  <a:pt x="274524" y="274524"/>
                </a:lnTo>
                <a:lnTo>
                  <a:pt x="0" y="27452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32" name="Group 32"/>
          <p:cNvGrpSpPr/>
          <p:nvPr/>
        </p:nvGrpSpPr>
        <p:grpSpPr>
          <a:xfrm>
            <a:off x="8863377" y="6744247"/>
            <a:ext cx="3086041" cy="654007"/>
            <a:chOff x="0" y="0"/>
            <a:chExt cx="1204730" cy="255312"/>
          </a:xfrm>
        </p:grpSpPr>
        <p:sp>
          <p:nvSpPr>
            <p:cNvPr id="33" name="Freeform 33"/>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34" name="TextBox 34"/>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35" name="TextBox 35"/>
          <p:cNvSpPr txBox="1"/>
          <p:nvPr/>
        </p:nvSpPr>
        <p:spPr>
          <a:xfrm>
            <a:off x="7931363" y="7560179"/>
            <a:ext cx="8987314" cy="40960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Ninguno.</a:t>
            </a:r>
          </a:p>
        </p:txBody>
      </p:sp>
      <p:sp>
        <p:nvSpPr>
          <p:cNvPr id="36" name="TextBox 36"/>
          <p:cNvSpPr txBox="1"/>
          <p:nvPr/>
        </p:nvSpPr>
        <p:spPr>
          <a:xfrm>
            <a:off x="9201502" y="6976502"/>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IMPEDIMENTOS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578053"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83114" y="463972"/>
            <a:ext cx="1433332" cy="1534106"/>
          </a:xfrm>
          <a:custGeom>
            <a:avLst/>
            <a:gdLst/>
            <a:ahLst/>
            <a:cxnLst/>
            <a:rect l="l" t="t" r="r" b="b"/>
            <a:pathLst>
              <a:path w="1433332" h="1534106">
                <a:moveTo>
                  <a:pt x="0" y="0"/>
                </a:moveTo>
                <a:lnTo>
                  <a:pt x="1433331" y="0"/>
                </a:lnTo>
                <a:lnTo>
                  <a:pt x="1433331" y="1534106"/>
                </a:lnTo>
                <a:lnTo>
                  <a:pt x="0" y="1534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1369324" y="2396174"/>
            <a:ext cx="6562039" cy="6148273"/>
            <a:chOff x="0" y="0"/>
            <a:chExt cx="8749386" cy="8197698"/>
          </a:xfrm>
        </p:grpSpPr>
        <p:sp>
          <p:nvSpPr>
            <p:cNvPr id="6" name="Freeform 6"/>
            <p:cNvSpPr/>
            <p:nvPr/>
          </p:nvSpPr>
          <p:spPr>
            <a:xfrm>
              <a:off x="0" y="0"/>
              <a:ext cx="8749411" cy="8197723"/>
            </a:xfrm>
            <a:custGeom>
              <a:avLst/>
              <a:gdLst/>
              <a:ahLst/>
              <a:cxnLst/>
              <a:rect l="l" t="t" r="r" b="b"/>
              <a:pathLst>
                <a:path w="8749411" h="8197723">
                  <a:moveTo>
                    <a:pt x="8222234" y="8197723"/>
                  </a:moveTo>
                  <a:lnTo>
                    <a:pt x="527177" y="8197723"/>
                  </a:lnTo>
                  <a:cubicBezTo>
                    <a:pt x="236728" y="8197723"/>
                    <a:pt x="0" y="7960995"/>
                    <a:pt x="0" y="7670546"/>
                  </a:cubicBezTo>
                  <a:lnTo>
                    <a:pt x="0" y="527177"/>
                  </a:lnTo>
                  <a:cubicBezTo>
                    <a:pt x="0" y="236728"/>
                    <a:pt x="236728" y="0"/>
                    <a:pt x="527177" y="0"/>
                  </a:cubicBezTo>
                  <a:lnTo>
                    <a:pt x="8222234" y="0"/>
                  </a:lnTo>
                  <a:cubicBezTo>
                    <a:pt x="8512683" y="0"/>
                    <a:pt x="8749411" y="236728"/>
                    <a:pt x="8749411" y="527177"/>
                  </a:cubicBezTo>
                  <a:lnTo>
                    <a:pt x="8749411" y="7670546"/>
                  </a:lnTo>
                  <a:cubicBezTo>
                    <a:pt x="8749411" y="7960995"/>
                    <a:pt x="8512683" y="8197723"/>
                    <a:pt x="8222234" y="8197723"/>
                  </a:cubicBezTo>
                  <a:close/>
                </a:path>
              </a:pathLst>
            </a:custGeom>
            <a:solidFill>
              <a:srgbClr val="009BF8"/>
            </a:solidFill>
          </p:spPr>
        </p:sp>
      </p:grpSp>
      <p:pic>
        <p:nvPicPr>
          <p:cNvPr id="7" name="Picture 7"/>
          <p:cNvPicPr>
            <a:picLocks noChangeAspect="1"/>
          </p:cNvPicPr>
          <p:nvPr/>
        </p:nvPicPr>
        <p:blipFill>
          <a:blip r:embed="rId8"/>
          <a:stretch>
            <a:fillRect/>
          </a:stretch>
        </p:blipFill>
        <p:spPr>
          <a:xfrm>
            <a:off x="3562387" y="3036552"/>
            <a:ext cx="2139766" cy="2139766"/>
          </a:xfrm>
          <a:prstGeom prst="rect">
            <a:avLst/>
          </a:prstGeom>
        </p:spPr>
      </p:pic>
      <p:grpSp>
        <p:nvGrpSpPr>
          <p:cNvPr id="8" name="Group 8"/>
          <p:cNvGrpSpPr/>
          <p:nvPr/>
        </p:nvGrpSpPr>
        <p:grpSpPr>
          <a:xfrm>
            <a:off x="1813857" y="6279927"/>
            <a:ext cx="5672972" cy="674657"/>
            <a:chOff x="0" y="0"/>
            <a:chExt cx="1390367" cy="165349"/>
          </a:xfrm>
        </p:grpSpPr>
        <p:sp>
          <p:nvSpPr>
            <p:cNvPr id="9" name="Freeform 9"/>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0" name="TextBox 10"/>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1" name="Group 11"/>
          <p:cNvGrpSpPr/>
          <p:nvPr/>
        </p:nvGrpSpPr>
        <p:grpSpPr>
          <a:xfrm>
            <a:off x="3675586" y="6415631"/>
            <a:ext cx="403249" cy="403249"/>
            <a:chOff x="0" y="0"/>
            <a:chExt cx="537665" cy="537665"/>
          </a:xfrm>
        </p:grpSpPr>
        <p:grpSp>
          <p:nvGrpSpPr>
            <p:cNvPr id="12" name="Group 12"/>
            <p:cNvGrpSpPr>
              <a:grpSpLocks noChangeAspect="1"/>
            </p:cNvGrpSpPr>
            <p:nvPr/>
          </p:nvGrpSpPr>
          <p:grpSpPr>
            <a:xfrm>
              <a:off x="0" y="0"/>
              <a:ext cx="537665" cy="537665"/>
              <a:chOff x="0" y="0"/>
              <a:chExt cx="6355080" cy="6355080"/>
            </a:xfrm>
          </p:grpSpPr>
          <p:sp>
            <p:nvSpPr>
              <p:cNvPr id="13" name="Freeform 13"/>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47615"/>
              </a:solidFill>
            </p:spPr>
          </p:sp>
        </p:grpSp>
        <p:grpSp>
          <p:nvGrpSpPr>
            <p:cNvPr id="14" name="Group 14"/>
            <p:cNvGrpSpPr/>
            <p:nvPr/>
          </p:nvGrpSpPr>
          <p:grpSpPr>
            <a:xfrm>
              <a:off x="82983" y="82983"/>
              <a:ext cx="371698" cy="37169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47615"/>
              </a:solidFill>
            </p:spPr>
          </p:sp>
        </p:grpSp>
      </p:grpSp>
      <p:grpSp>
        <p:nvGrpSpPr>
          <p:cNvPr id="16" name="Group 16"/>
          <p:cNvGrpSpPr/>
          <p:nvPr/>
        </p:nvGrpSpPr>
        <p:grpSpPr>
          <a:xfrm>
            <a:off x="8863377" y="2396174"/>
            <a:ext cx="3086041" cy="654007"/>
            <a:chOff x="0" y="0"/>
            <a:chExt cx="1204730" cy="255312"/>
          </a:xfrm>
        </p:grpSpPr>
        <p:sp>
          <p:nvSpPr>
            <p:cNvPr id="17" name="Freeform 17"/>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18" name="TextBox 18"/>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19" name="Freeform 19"/>
          <p:cNvSpPr/>
          <p:nvPr/>
        </p:nvSpPr>
        <p:spPr>
          <a:xfrm>
            <a:off x="947420" y="909333"/>
            <a:ext cx="904720" cy="723776"/>
          </a:xfrm>
          <a:custGeom>
            <a:avLst/>
            <a:gdLst/>
            <a:ahLst/>
            <a:cxnLst/>
            <a:rect l="l" t="t" r="r" b="b"/>
            <a:pathLst>
              <a:path w="904720" h="723776">
                <a:moveTo>
                  <a:pt x="0" y="0"/>
                </a:moveTo>
                <a:lnTo>
                  <a:pt x="904720" y="0"/>
                </a:lnTo>
                <a:lnTo>
                  <a:pt x="904720" y="723776"/>
                </a:lnTo>
                <a:lnTo>
                  <a:pt x="0" y="72377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0" name="Group 20"/>
          <p:cNvGrpSpPr/>
          <p:nvPr/>
        </p:nvGrpSpPr>
        <p:grpSpPr>
          <a:xfrm>
            <a:off x="1813857" y="7097884"/>
            <a:ext cx="5672972" cy="674657"/>
            <a:chOff x="0" y="0"/>
            <a:chExt cx="1390367" cy="165349"/>
          </a:xfrm>
        </p:grpSpPr>
        <p:sp>
          <p:nvSpPr>
            <p:cNvPr id="21" name="Freeform 21">
              <a:hlinkClick r:id="rId11" tooltip="https://integratelcorp.sharepoint.com/:x:/r/sites/WorkplaceTI.TMHTP/_layouts/15/Doc.aspx?sourcedoc=%7B668DFBF4-24AB-4F91-8757-F381E69FCBA6%7D&amp;file=Gantt%20-%20Objetivos%202026%20(Unificado).xlsx&amp;action=default&amp;mobileredirect=true"/>
            </p:cNvPr>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22" name="TextBox 22"/>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sp>
        <p:nvSpPr>
          <p:cNvPr id="23" name="Freeform 23">
            <a:hlinkClick r:id="rId11" tooltip="https://integratelcorp.sharepoint.com/:x:/r/sites/WorkplaceTI.TMHTP/_layouts/15/Doc.aspx?sourcedoc=%7B668DFBF4-24AB-4F91-8757-F381E69FCBA6%7D&amp;file=Gantt%20-%20Objetivos%202026%20(Unificado).xlsx&amp;action=default&amp;mobileredirect=true"/>
          </p:cNvPr>
          <p:cNvSpPr/>
          <p:nvPr/>
        </p:nvSpPr>
        <p:spPr>
          <a:xfrm>
            <a:off x="5940465" y="7244473"/>
            <a:ext cx="381478" cy="381478"/>
          </a:xfrm>
          <a:custGeom>
            <a:avLst/>
            <a:gdLst/>
            <a:ahLst/>
            <a:cxnLst/>
            <a:rect l="l" t="t" r="r" b="b"/>
            <a:pathLst>
              <a:path w="381478" h="381478">
                <a:moveTo>
                  <a:pt x="0" y="0"/>
                </a:moveTo>
                <a:lnTo>
                  <a:pt x="381478" y="0"/>
                </a:lnTo>
                <a:lnTo>
                  <a:pt x="381478" y="381478"/>
                </a:lnTo>
                <a:lnTo>
                  <a:pt x="0" y="38147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4" name="TextBox 24"/>
          <p:cNvSpPr txBox="1"/>
          <p:nvPr/>
        </p:nvSpPr>
        <p:spPr>
          <a:xfrm>
            <a:off x="2432561" y="1042683"/>
            <a:ext cx="5227577" cy="902256"/>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PROCESOS DOCUMENTADOS</a:t>
            </a:r>
          </a:p>
        </p:txBody>
      </p:sp>
      <p:sp>
        <p:nvSpPr>
          <p:cNvPr id="25" name="TextBox 25"/>
          <p:cNvSpPr txBox="1"/>
          <p:nvPr/>
        </p:nvSpPr>
        <p:spPr>
          <a:xfrm>
            <a:off x="3383787" y="5108276"/>
            <a:ext cx="2533112" cy="471543"/>
          </a:xfrm>
          <a:prstGeom prst="rect">
            <a:avLst/>
          </a:prstGeom>
        </p:spPr>
        <p:txBody>
          <a:bodyPr lIns="0" tIns="0" rIns="0" bIns="0" rtlCol="0" anchor="t">
            <a:spAutoFit/>
          </a:bodyPr>
          <a:lstStyle/>
          <a:p>
            <a:pPr algn="ctr">
              <a:lnSpc>
                <a:spcPts val="3556"/>
              </a:lnSpc>
            </a:pPr>
            <a:r>
              <a:rPr lang="en-US" sz="2915" spc="-160">
                <a:solidFill>
                  <a:srgbClr val="FFFFFF"/>
                </a:solidFill>
                <a:latin typeface="Poppins"/>
                <a:ea typeface="Poppins"/>
                <a:cs typeface="Poppins"/>
                <a:sym typeface="Poppins"/>
              </a:rPr>
              <a:t>Enero - Abril</a:t>
            </a:r>
          </a:p>
        </p:txBody>
      </p:sp>
      <p:sp>
        <p:nvSpPr>
          <p:cNvPr id="26" name="TextBox 26"/>
          <p:cNvSpPr txBox="1"/>
          <p:nvPr/>
        </p:nvSpPr>
        <p:spPr>
          <a:xfrm>
            <a:off x="4208659" y="6432789"/>
            <a:ext cx="1380294" cy="330831"/>
          </a:xfrm>
          <a:prstGeom prst="rect">
            <a:avLst/>
          </a:prstGeom>
        </p:spPr>
        <p:txBody>
          <a:bodyPr lIns="0" tIns="0" rIns="0" bIns="0" rtlCol="0" anchor="t">
            <a:spAutoFit/>
          </a:bodyPr>
          <a:lstStyle/>
          <a:p>
            <a:pPr marL="0" lvl="0" indent="0" algn="l">
              <a:lnSpc>
                <a:spcPts val="2515"/>
              </a:lnSpc>
            </a:pPr>
            <a:r>
              <a:rPr lang="en-US" sz="1935" b="1" spc="19">
                <a:solidFill>
                  <a:srgbClr val="147615"/>
                </a:solidFill>
                <a:latin typeface="Poppins Bold"/>
                <a:ea typeface="Poppins Bold"/>
                <a:cs typeface="Poppins Bold"/>
                <a:sym typeface="Poppins Bold"/>
              </a:rPr>
              <a:t>EN CURSO</a:t>
            </a:r>
          </a:p>
        </p:txBody>
      </p:sp>
      <p:sp>
        <p:nvSpPr>
          <p:cNvPr id="27" name="TextBox 27"/>
          <p:cNvSpPr txBox="1"/>
          <p:nvPr/>
        </p:nvSpPr>
        <p:spPr>
          <a:xfrm>
            <a:off x="7931363" y="3212106"/>
            <a:ext cx="8987314" cy="2371868"/>
          </a:xfrm>
          <a:prstGeom prst="rect">
            <a:avLst/>
          </a:prstGeom>
        </p:spPr>
        <p:txBody>
          <a:bodyPr lIns="0" tIns="0" rIns="0" bIns="0" rtlCol="0" anchor="t">
            <a:spAutoFit/>
          </a:bodyPr>
          <a:lstStyle/>
          <a:p>
            <a:pPr marL="971981" lvl="2" indent="-323994" algn="l">
              <a:lnSpc>
                <a:spcPts val="3149"/>
              </a:lnSpc>
              <a:buFont typeface="Arial"/>
              <a:buChar char="⚬"/>
            </a:pPr>
            <a:r>
              <a:rPr lang="en-US" sz="2250">
                <a:solidFill>
                  <a:srgbClr val="191919"/>
                </a:solidFill>
                <a:latin typeface="Poppins"/>
                <a:ea typeface="Poppins"/>
                <a:cs typeface="Poppins"/>
                <a:sym typeface="Poppins"/>
              </a:rPr>
              <a:t>Actualización del material, unificar a la línea gráfica establecida por el equipo de RRHH.</a:t>
            </a:r>
          </a:p>
          <a:p>
            <a:pPr marL="971982" lvl="2" indent="-323994" algn="l">
              <a:lnSpc>
                <a:spcPts val="3150"/>
              </a:lnSpc>
              <a:buFont typeface="Arial"/>
              <a:buChar char="⚬"/>
            </a:pPr>
            <a:r>
              <a:rPr lang="en-US" sz="2251">
                <a:solidFill>
                  <a:srgbClr val="191919"/>
                </a:solidFill>
                <a:latin typeface="Poppins"/>
                <a:ea typeface="Poppins"/>
                <a:cs typeface="Poppins"/>
                <a:sym typeface="Poppins"/>
              </a:rPr>
              <a:t>Validación del archivo final.</a:t>
            </a:r>
          </a:p>
          <a:p>
            <a:pPr marL="971981" lvl="2" indent="-323994" algn="l">
              <a:lnSpc>
                <a:spcPts val="3149"/>
              </a:lnSpc>
              <a:buFont typeface="Arial"/>
              <a:buChar char="⚬"/>
            </a:pPr>
            <a:r>
              <a:rPr lang="en-US" sz="2250">
                <a:solidFill>
                  <a:srgbClr val="191919"/>
                </a:solidFill>
                <a:latin typeface="Poppins"/>
                <a:ea typeface="Poppins"/>
                <a:cs typeface="Poppins"/>
                <a:sym typeface="Poppins"/>
              </a:rPr>
              <a:t>Carga de los documentos en el repositorio establecido.</a:t>
            </a:r>
          </a:p>
          <a:p>
            <a:pPr marL="971981" lvl="2" indent="-323994" algn="l">
              <a:lnSpc>
                <a:spcPts val="3149"/>
              </a:lnSpc>
              <a:buFont typeface="Arial"/>
              <a:buChar char="⚬"/>
            </a:pPr>
            <a:r>
              <a:rPr lang="en-US" sz="2250">
                <a:solidFill>
                  <a:srgbClr val="191919"/>
                </a:solidFill>
                <a:latin typeface="Poppins"/>
                <a:ea typeface="Poppins"/>
                <a:cs typeface="Poppins"/>
                <a:sym typeface="Poppins"/>
              </a:rPr>
              <a:t>Diseño del plan de comunicaciones.</a:t>
            </a:r>
          </a:p>
          <a:p>
            <a:pPr marL="971981" lvl="2" indent="-323994" algn="l">
              <a:lnSpc>
                <a:spcPts val="3150"/>
              </a:lnSpc>
              <a:buFont typeface="Arial"/>
              <a:buChar char="⚬"/>
            </a:pPr>
            <a:r>
              <a:rPr lang="en-US" sz="2250">
                <a:solidFill>
                  <a:srgbClr val="191919"/>
                </a:solidFill>
                <a:latin typeface="Poppins"/>
                <a:ea typeface="Poppins"/>
                <a:cs typeface="Poppins"/>
                <a:sym typeface="Poppins"/>
              </a:rPr>
              <a:t>Capacitaciones </a:t>
            </a:r>
          </a:p>
        </p:txBody>
      </p:sp>
      <p:sp>
        <p:nvSpPr>
          <p:cNvPr id="28" name="TextBox 28"/>
          <p:cNvSpPr txBox="1"/>
          <p:nvPr/>
        </p:nvSpPr>
        <p:spPr>
          <a:xfrm>
            <a:off x="9201502" y="2628429"/>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ACCIONES</a:t>
            </a:r>
          </a:p>
        </p:txBody>
      </p:sp>
      <p:sp>
        <p:nvSpPr>
          <p:cNvPr id="29" name="TextBox 29"/>
          <p:cNvSpPr txBox="1"/>
          <p:nvPr/>
        </p:nvSpPr>
        <p:spPr>
          <a:xfrm>
            <a:off x="2978744" y="7252238"/>
            <a:ext cx="2961721" cy="327848"/>
          </a:xfrm>
          <a:prstGeom prst="rect">
            <a:avLst/>
          </a:prstGeom>
        </p:spPr>
        <p:txBody>
          <a:bodyPr lIns="0" tIns="0" rIns="0" bIns="0" rtlCol="0" anchor="t">
            <a:spAutoFit/>
          </a:bodyPr>
          <a:lstStyle/>
          <a:p>
            <a:pPr marL="0" lvl="0" indent="0" algn="l">
              <a:lnSpc>
                <a:spcPts val="2515"/>
              </a:lnSpc>
            </a:pPr>
            <a:r>
              <a:rPr lang="en-US" sz="1935" b="1" spc="19">
                <a:solidFill>
                  <a:srgbClr val="009BF8"/>
                </a:solidFill>
                <a:latin typeface="Poppins Bold"/>
                <a:ea typeface="Poppins Bold"/>
                <a:cs typeface="Poppins Bold"/>
                <a:sym typeface="Poppins Bold"/>
                <a:hlinkClick r:id="rId11" tooltip="https://integratelcorp.sharepoint.com/:x:/r/sites/WorkplaceTI.TMHTP/_layouts/15/Doc.aspx?sourcedoc=%7B668DFBF4-24AB-4F91-8757-F381E69FCBA6%7D&amp;file=Gantt%20-%20Objetivos%202026%20(Unificado).xlsx&amp;action=default&amp;mobileredirect=true"/>
              </a:rPr>
              <a:t>HOJA DE SEGUIMIENTO</a:t>
            </a:r>
          </a:p>
        </p:txBody>
      </p:sp>
      <p:grpSp>
        <p:nvGrpSpPr>
          <p:cNvPr id="30" name="Group 30"/>
          <p:cNvGrpSpPr/>
          <p:nvPr/>
        </p:nvGrpSpPr>
        <p:grpSpPr>
          <a:xfrm>
            <a:off x="8863377" y="6744247"/>
            <a:ext cx="3086041" cy="654007"/>
            <a:chOff x="0" y="0"/>
            <a:chExt cx="1204730" cy="255312"/>
          </a:xfrm>
        </p:grpSpPr>
        <p:sp>
          <p:nvSpPr>
            <p:cNvPr id="31" name="Freeform 31"/>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32" name="TextBox 32"/>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33" name="TextBox 33"/>
          <p:cNvSpPr txBox="1"/>
          <p:nvPr/>
        </p:nvSpPr>
        <p:spPr>
          <a:xfrm>
            <a:off x="7931363" y="7560179"/>
            <a:ext cx="8987314" cy="40960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Ninguno.</a:t>
            </a:r>
          </a:p>
        </p:txBody>
      </p:sp>
      <p:sp>
        <p:nvSpPr>
          <p:cNvPr id="34" name="TextBox 34"/>
          <p:cNvSpPr txBox="1"/>
          <p:nvPr/>
        </p:nvSpPr>
        <p:spPr>
          <a:xfrm>
            <a:off x="9201502" y="6976502"/>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IMPEDIMENTOS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578053"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83114" y="463972"/>
            <a:ext cx="1433332" cy="1534106"/>
          </a:xfrm>
          <a:custGeom>
            <a:avLst/>
            <a:gdLst/>
            <a:ahLst/>
            <a:cxnLst/>
            <a:rect l="l" t="t" r="r" b="b"/>
            <a:pathLst>
              <a:path w="1433332" h="1534106">
                <a:moveTo>
                  <a:pt x="0" y="0"/>
                </a:moveTo>
                <a:lnTo>
                  <a:pt x="1433331" y="0"/>
                </a:lnTo>
                <a:lnTo>
                  <a:pt x="1433331" y="1534106"/>
                </a:lnTo>
                <a:lnTo>
                  <a:pt x="0" y="1534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2432561" y="1042683"/>
            <a:ext cx="5227577" cy="402117"/>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PLIEGO UNIFICADO </a:t>
            </a:r>
          </a:p>
        </p:txBody>
      </p:sp>
      <p:grpSp>
        <p:nvGrpSpPr>
          <p:cNvPr id="6" name="Group 6"/>
          <p:cNvGrpSpPr/>
          <p:nvPr/>
        </p:nvGrpSpPr>
        <p:grpSpPr>
          <a:xfrm>
            <a:off x="1369324" y="2396174"/>
            <a:ext cx="6562039" cy="6148273"/>
            <a:chOff x="0" y="0"/>
            <a:chExt cx="8749386" cy="8197698"/>
          </a:xfrm>
        </p:grpSpPr>
        <p:sp>
          <p:nvSpPr>
            <p:cNvPr id="7" name="Freeform 7"/>
            <p:cNvSpPr/>
            <p:nvPr/>
          </p:nvSpPr>
          <p:spPr>
            <a:xfrm>
              <a:off x="0" y="0"/>
              <a:ext cx="8749411" cy="8197723"/>
            </a:xfrm>
            <a:custGeom>
              <a:avLst/>
              <a:gdLst/>
              <a:ahLst/>
              <a:cxnLst/>
              <a:rect l="l" t="t" r="r" b="b"/>
              <a:pathLst>
                <a:path w="8749411" h="8197723">
                  <a:moveTo>
                    <a:pt x="8222234" y="8197723"/>
                  </a:moveTo>
                  <a:lnTo>
                    <a:pt x="527177" y="8197723"/>
                  </a:lnTo>
                  <a:cubicBezTo>
                    <a:pt x="236728" y="8197723"/>
                    <a:pt x="0" y="7960995"/>
                    <a:pt x="0" y="7670546"/>
                  </a:cubicBezTo>
                  <a:lnTo>
                    <a:pt x="0" y="527177"/>
                  </a:lnTo>
                  <a:cubicBezTo>
                    <a:pt x="0" y="236728"/>
                    <a:pt x="236728" y="0"/>
                    <a:pt x="527177" y="0"/>
                  </a:cubicBezTo>
                  <a:lnTo>
                    <a:pt x="8222234" y="0"/>
                  </a:lnTo>
                  <a:cubicBezTo>
                    <a:pt x="8512683" y="0"/>
                    <a:pt x="8749411" y="236728"/>
                    <a:pt x="8749411" y="527177"/>
                  </a:cubicBezTo>
                  <a:lnTo>
                    <a:pt x="8749411" y="7670546"/>
                  </a:lnTo>
                  <a:cubicBezTo>
                    <a:pt x="8749411" y="7960995"/>
                    <a:pt x="8512683" y="8197723"/>
                    <a:pt x="8222234" y="8197723"/>
                  </a:cubicBezTo>
                  <a:close/>
                </a:path>
              </a:pathLst>
            </a:custGeom>
            <a:solidFill>
              <a:srgbClr val="009BF8"/>
            </a:solidFill>
          </p:spPr>
        </p:sp>
      </p:grpSp>
      <p:pic>
        <p:nvPicPr>
          <p:cNvPr id="8" name="Picture 8"/>
          <p:cNvPicPr>
            <a:picLocks noChangeAspect="1"/>
          </p:cNvPicPr>
          <p:nvPr/>
        </p:nvPicPr>
        <p:blipFill>
          <a:blip r:embed="rId8"/>
          <a:stretch>
            <a:fillRect/>
          </a:stretch>
        </p:blipFill>
        <p:spPr>
          <a:xfrm>
            <a:off x="3562387" y="3036552"/>
            <a:ext cx="2139766" cy="2139766"/>
          </a:xfrm>
          <a:prstGeom prst="rect">
            <a:avLst/>
          </a:prstGeom>
        </p:spPr>
      </p:pic>
      <p:sp>
        <p:nvSpPr>
          <p:cNvPr id="9" name="TextBox 9"/>
          <p:cNvSpPr txBox="1"/>
          <p:nvPr/>
        </p:nvSpPr>
        <p:spPr>
          <a:xfrm>
            <a:off x="3383787" y="5108276"/>
            <a:ext cx="2533112" cy="471543"/>
          </a:xfrm>
          <a:prstGeom prst="rect">
            <a:avLst/>
          </a:prstGeom>
        </p:spPr>
        <p:txBody>
          <a:bodyPr lIns="0" tIns="0" rIns="0" bIns="0" rtlCol="0" anchor="t">
            <a:spAutoFit/>
          </a:bodyPr>
          <a:lstStyle/>
          <a:p>
            <a:pPr algn="ctr">
              <a:lnSpc>
                <a:spcPts val="3556"/>
              </a:lnSpc>
            </a:pPr>
            <a:r>
              <a:rPr lang="en-US" sz="2915" spc="-160">
                <a:solidFill>
                  <a:srgbClr val="FFFFFF"/>
                </a:solidFill>
                <a:latin typeface="Poppins"/>
                <a:ea typeface="Poppins"/>
                <a:cs typeface="Poppins"/>
                <a:sym typeface="Poppins"/>
              </a:rPr>
              <a:t>Enero - Abril</a:t>
            </a:r>
          </a:p>
        </p:txBody>
      </p:sp>
      <p:grpSp>
        <p:nvGrpSpPr>
          <p:cNvPr id="10" name="Group 10"/>
          <p:cNvGrpSpPr/>
          <p:nvPr/>
        </p:nvGrpSpPr>
        <p:grpSpPr>
          <a:xfrm>
            <a:off x="1813857" y="6279927"/>
            <a:ext cx="5672972" cy="674657"/>
            <a:chOff x="0" y="0"/>
            <a:chExt cx="1390367" cy="165349"/>
          </a:xfrm>
        </p:grpSpPr>
        <p:sp>
          <p:nvSpPr>
            <p:cNvPr id="11" name="Freeform 11"/>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2" name="TextBox 12"/>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3" name="Group 13"/>
          <p:cNvGrpSpPr/>
          <p:nvPr/>
        </p:nvGrpSpPr>
        <p:grpSpPr>
          <a:xfrm>
            <a:off x="3675586" y="6415631"/>
            <a:ext cx="403249" cy="403249"/>
            <a:chOff x="0" y="0"/>
            <a:chExt cx="537665" cy="537665"/>
          </a:xfrm>
        </p:grpSpPr>
        <p:grpSp>
          <p:nvGrpSpPr>
            <p:cNvPr id="14" name="Group 14"/>
            <p:cNvGrpSpPr>
              <a:grpSpLocks noChangeAspect="1"/>
            </p:cNvGrpSpPr>
            <p:nvPr/>
          </p:nvGrpSpPr>
          <p:grpSpPr>
            <a:xfrm>
              <a:off x="0" y="0"/>
              <a:ext cx="537665" cy="537665"/>
              <a:chOff x="0" y="0"/>
              <a:chExt cx="6355080" cy="6355080"/>
            </a:xfrm>
          </p:grpSpPr>
          <p:sp>
            <p:nvSpPr>
              <p:cNvPr id="15" name="Freeform 1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47615"/>
              </a:solidFill>
            </p:spPr>
          </p:sp>
        </p:grpSp>
        <p:grpSp>
          <p:nvGrpSpPr>
            <p:cNvPr id="16" name="Group 16"/>
            <p:cNvGrpSpPr/>
            <p:nvPr/>
          </p:nvGrpSpPr>
          <p:grpSpPr>
            <a:xfrm>
              <a:off x="82983" y="82983"/>
              <a:ext cx="371698" cy="37169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47615"/>
              </a:solidFill>
            </p:spPr>
          </p:sp>
        </p:grpSp>
      </p:grpSp>
      <p:sp>
        <p:nvSpPr>
          <p:cNvPr id="18" name="TextBox 18"/>
          <p:cNvSpPr txBox="1"/>
          <p:nvPr/>
        </p:nvSpPr>
        <p:spPr>
          <a:xfrm>
            <a:off x="4208659" y="6432789"/>
            <a:ext cx="1380294" cy="330831"/>
          </a:xfrm>
          <a:prstGeom prst="rect">
            <a:avLst/>
          </a:prstGeom>
        </p:spPr>
        <p:txBody>
          <a:bodyPr lIns="0" tIns="0" rIns="0" bIns="0" rtlCol="0" anchor="t">
            <a:spAutoFit/>
          </a:bodyPr>
          <a:lstStyle/>
          <a:p>
            <a:pPr marL="0" lvl="0" indent="0" algn="l">
              <a:lnSpc>
                <a:spcPts val="2515"/>
              </a:lnSpc>
            </a:pPr>
            <a:r>
              <a:rPr lang="en-US" sz="1935" b="1" spc="19">
                <a:solidFill>
                  <a:srgbClr val="147615"/>
                </a:solidFill>
                <a:latin typeface="Poppins Bold"/>
                <a:ea typeface="Poppins Bold"/>
                <a:cs typeface="Poppins Bold"/>
                <a:sym typeface="Poppins Bold"/>
              </a:rPr>
              <a:t>EN CURSO</a:t>
            </a:r>
          </a:p>
        </p:txBody>
      </p:sp>
      <p:sp>
        <p:nvSpPr>
          <p:cNvPr id="19" name="TextBox 19"/>
          <p:cNvSpPr txBox="1"/>
          <p:nvPr/>
        </p:nvSpPr>
        <p:spPr>
          <a:xfrm>
            <a:off x="7931363" y="3212106"/>
            <a:ext cx="8987314" cy="2362343"/>
          </a:xfrm>
          <a:prstGeom prst="rect">
            <a:avLst/>
          </a:prstGeom>
        </p:spPr>
        <p:txBody>
          <a:bodyPr lIns="0" tIns="0" rIns="0" bIns="0" rtlCol="0" anchor="t">
            <a:spAutoFit/>
          </a:bodyPr>
          <a:lstStyle/>
          <a:p>
            <a:pPr marL="971981" lvl="2" indent="-323994" algn="l">
              <a:lnSpc>
                <a:spcPts val="3149"/>
              </a:lnSpc>
              <a:buFont typeface="Arial"/>
              <a:buChar char="⚬"/>
            </a:pPr>
            <a:r>
              <a:rPr lang="en-US" sz="2250">
                <a:solidFill>
                  <a:srgbClr val="191919"/>
                </a:solidFill>
                <a:latin typeface="Poppins"/>
                <a:ea typeface="Poppins"/>
                <a:cs typeface="Poppins"/>
                <a:sym typeface="Poppins"/>
              </a:rPr>
              <a:t>Definir cobertura horaria del servicio.</a:t>
            </a:r>
          </a:p>
          <a:p>
            <a:pPr marL="971981" lvl="2" indent="-323994" algn="l">
              <a:lnSpc>
                <a:spcPts val="3149"/>
              </a:lnSpc>
              <a:buFont typeface="Arial"/>
              <a:buChar char="⚬"/>
            </a:pPr>
            <a:r>
              <a:rPr lang="en-US" sz="2250">
                <a:solidFill>
                  <a:srgbClr val="191919"/>
                </a:solidFill>
                <a:latin typeface="Poppins"/>
                <a:ea typeface="Poppins"/>
                <a:cs typeface="Poppins"/>
                <a:sym typeface="Poppins"/>
              </a:rPr>
              <a:t>Alcance técnico a detalle.</a:t>
            </a:r>
          </a:p>
          <a:p>
            <a:pPr marL="971981" lvl="2" indent="-323994" algn="l">
              <a:lnSpc>
                <a:spcPts val="3149"/>
              </a:lnSpc>
              <a:buFont typeface="Arial"/>
              <a:buChar char="⚬"/>
            </a:pPr>
            <a:r>
              <a:rPr lang="en-US" sz="2250">
                <a:solidFill>
                  <a:srgbClr val="191919"/>
                </a:solidFill>
                <a:latin typeface="Poppins"/>
                <a:ea typeface="Poppins"/>
                <a:cs typeface="Poppins"/>
                <a:sym typeface="Poppins"/>
              </a:rPr>
              <a:t>Definición de SLA y KPIs.</a:t>
            </a:r>
          </a:p>
          <a:p>
            <a:pPr marL="971981" lvl="2" indent="-323994" algn="l">
              <a:lnSpc>
                <a:spcPts val="3149"/>
              </a:lnSpc>
              <a:buFont typeface="Arial"/>
              <a:buChar char="⚬"/>
            </a:pPr>
            <a:r>
              <a:rPr lang="en-US" sz="2250">
                <a:solidFill>
                  <a:srgbClr val="191919"/>
                </a:solidFill>
                <a:latin typeface="Poppins"/>
                <a:ea typeface="Poppins"/>
                <a:cs typeface="Poppins"/>
                <a:sym typeface="Poppins"/>
              </a:rPr>
              <a:t>Requisitos de seguridad.</a:t>
            </a:r>
          </a:p>
          <a:p>
            <a:pPr marL="971981" lvl="2" indent="-323994" algn="l">
              <a:lnSpc>
                <a:spcPts val="3149"/>
              </a:lnSpc>
              <a:buFont typeface="Arial"/>
              <a:buChar char="⚬"/>
            </a:pPr>
            <a:r>
              <a:rPr lang="en-US" sz="2250">
                <a:solidFill>
                  <a:srgbClr val="191919"/>
                </a:solidFill>
                <a:latin typeface="Poppins"/>
                <a:ea typeface="Poppins"/>
                <a:cs typeface="Poppins"/>
                <a:sym typeface="Poppins"/>
              </a:rPr>
              <a:t>Actualización al nuevo formato del pliego.</a:t>
            </a:r>
          </a:p>
          <a:p>
            <a:pPr marL="971981" lvl="2" indent="-323994" algn="l">
              <a:lnSpc>
                <a:spcPts val="3150"/>
              </a:lnSpc>
              <a:buFont typeface="Arial"/>
              <a:buChar char="⚬"/>
            </a:pPr>
            <a:r>
              <a:rPr lang="en-US" sz="2250">
                <a:solidFill>
                  <a:srgbClr val="191919"/>
                </a:solidFill>
                <a:latin typeface="Poppins"/>
                <a:ea typeface="Poppins"/>
                <a:cs typeface="Poppins"/>
                <a:sym typeface="Poppins"/>
              </a:rPr>
              <a:t>Validación del pliego.</a:t>
            </a:r>
          </a:p>
        </p:txBody>
      </p:sp>
      <p:grpSp>
        <p:nvGrpSpPr>
          <p:cNvPr id="20" name="Group 20"/>
          <p:cNvGrpSpPr/>
          <p:nvPr/>
        </p:nvGrpSpPr>
        <p:grpSpPr>
          <a:xfrm>
            <a:off x="8863377" y="2396174"/>
            <a:ext cx="3086041" cy="654007"/>
            <a:chOff x="0" y="0"/>
            <a:chExt cx="1204730" cy="255312"/>
          </a:xfrm>
        </p:grpSpPr>
        <p:sp>
          <p:nvSpPr>
            <p:cNvPr id="21" name="Freeform 21"/>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22" name="TextBox 22"/>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3" name="TextBox 23"/>
          <p:cNvSpPr txBox="1"/>
          <p:nvPr/>
        </p:nvSpPr>
        <p:spPr>
          <a:xfrm>
            <a:off x="9201502" y="2628429"/>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ACCIONES</a:t>
            </a:r>
          </a:p>
        </p:txBody>
      </p:sp>
      <p:sp>
        <p:nvSpPr>
          <p:cNvPr id="24" name="Freeform 24"/>
          <p:cNvSpPr/>
          <p:nvPr/>
        </p:nvSpPr>
        <p:spPr>
          <a:xfrm>
            <a:off x="1110269" y="909333"/>
            <a:ext cx="579021" cy="723776"/>
          </a:xfrm>
          <a:custGeom>
            <a:avLst/>
            <a:gdLst/>
            <a:ahLst/>
            <a:cxnLst/>
            <a:rect l="l" t="t" r="r" b="b"/>
            <a:pathLst>
              <a:path w="579021" h="723776">
                <a:moveTo>
                  <a:pt x="0" y="0"/>
                </a:moveTo>
                <a:lnTo>
                  <a:pt x="579021" y="0"/>
                </a:lnTo>
                <a:lnTo>
                  <a:pt x="579021" y="723776"/>
                </a:lnTo>
                <a:lnTo>
                  <a:pt x="0" y="72377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5" name="Group 25"/>
          <p:cNvGrpSpPr/>
          <p:nvPr/>
        </p:nvGrpSpPr>
        <p:grpSpPr>
          <a:xfrm>
            <a:off x="1813857" y="7097884"/>
            <a:ext cx="5672972" cy="674657"/>
            <a:chOff x="0" y="0"/>
            <a:chExt cx="1390367" cy="165349"/>
          </a:xfrm>
        </p:grpSpPr>
        <p:sp>
          <p:nvSpPr>
            <p:cNvPr id="26" name="Freeform 26">
              <a:hlinkClick r:id="rId11" tooltip="https://integratelcorp.sharepoint.com/:x:/r/sites/WorkplaceTI.TMHTP/_layouts/15/Doc.aspx?sourcedoc=%7B668DFBF4-24AB-4F91-8757-F381E69FCBA6%7D&amp;file=Gantt%20-%20Objetivos%202026%20(Unificado).xlsx&amp;action=default&amp;mobileredirect=true"/>
            </p:cNvPr>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27" name="TextBox 27"/>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sp>
        <p:nvSpPr>
          <p:cNvPr id="28" name="Freeform 28">
            <a:hlinkClick r:id="rId11" tooltip="https://integratelcorp.sharepoint.com/:x:/r/sites/WorkplaceTI.TMHTP/_layouts/15/Doc.aspx?sourcedoc=%7B668DFBF4-24AB-4F91-8757-F381E69FCBA6%7D&amp;file=Gantt%20-%20Objetivos%202026%20(Unificado).xlsx&amp;action=default&amp;mobileredirect=true"/>
          </p:cNvPr>
          <p:cNvSpPr/>
          <p:nvPr/>
        </p:nvSpPr>
        <p:spPr>
          <a:xfrm>
            <a:off x="5940465" y="7244473"/>
            <a:ext cx="381478" cy="381478"/>
          </a:xfrm>
          <a:custGeom>
            <a:avLst/>
            <a:gdLst/>
            <a:ahLst/>
            <a:cxnLst/>
            <a:rect l="l" t="t" r="r" b="b"/>
            <a:pathLst>
              <a:path w="381478" h="381478">
                <a:moveTo>
                  <a:pt x="0" y="0"/>
                </a:moveTo>
                <a:lnTo>
                  <a:pt x="381478" y="0"/>
                </a:lnTo>
                <a:lnTo>
                  <a:pt x="381478" y="381478"/>
                </a:lnTo>
                <a:lnTo>
                  <a:pt x="0" y="38147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9" name="TextBox 29"/>
          <p:cNvSpPr txBox="1"/>
          <p:nvPr/>
        </p:nvSpPr>
        <p:spPr>
          <a:xfrm>
            <a:off x="2978744" y="7252238"/>
            <a:ext cx="2961721" cy="327848"/>
          </a:xfrm>
          <a:prstGeom prst="rect">
            <a:avLst/>
          </a:prstGeom>
        </p:spPr>
        <p:txBody>
          <a:bodyPr lIns="0" tIns="0" rIns="0" bIns="0" rtlCol="0" anchor="t">
            <a:spAutoFit/>
          </a:bodyPr>
          <a:lstStyle/>
          <a:p>
            <a:pPr marL="0" lvl="0" indent="0" algn="l">
              <a:lnSpc>
                <a:spcPts val="2515"/>
              </a:lnSpc>
            </a:pPr>
            <a:r>
              <a:rPr lang="en-US" sz="1935" b="1" spc="19">
                <a:solidFill>
                  <a:srgbClr val="009BF8"/>
                </a:solidFill>
                <a:latin typeface="Poppins Bold"/>
                <a:ea typeface="Poppins Bold"/>
                <a:cs typeface="Poppins Bold"/>
                <a:sym typeface="Poppins Bold"/>
                <a:hlinkClick r:id="rId11" tooltip="https://integratelcorp.sharepoint.com/:x:/r/sites/WorkplaceTI.TMHTP/_layouts/15/Doc.aspx?sourcedoc=%7B668DFBF4-24AB-4F91-8757-F381E69FCBA6%7D&amp;file=Gantt%20-%20Objetivos%202026%20(Unificado).xlsx&amp;action=default&amp;mobileredirect=true"/>
              </a:rPr>
              <a:t>HOJA DE SEGUIMIENTO</a:t>
            </a:r>
          </a:p>
        </p:txBody>
      </p:sp>
      <p:sp>
        <p:nvSpPr>
          <p:cNvPr id="30" name="Freeform 30"/>
          <p:cNvSpPr/>
          <p:nvPr/>
        </p:nvSpPr>
        <p:spPr>
          <a:xfrm>
            <a:off x="14235716" y="3336336"/>
            <a:ext cx="274525" cy="274525"/>
          </a:xfrm>
          <a:custGeom>
            <a:avLst/>
            <a:gdLst/>
            <a:ahLst/>
            <a:cxnLst/>
            <a:rect l="l" t="t" r="r" b="b"/>
            <a:pathLst>
              <a:path w="274525" h="274525">
                <a:moveTo>
                  <a:pt x="0" y="0"/>
                </a:moveTo>
                <a:lnTo>
                  <a:pt x="274525" y="0"/>
                </a:lnTo>
                <a:lnTo>
                  <a:pt x="274525" y="274525"/>
                </a:lnTo>
                <a:lnTo>
                  <a:pt x="0" y="2745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1" name="Freeform 31"/>
          <p:cNvSpPr/>
          <p:nvPr/>
        </p:nvSpPr>
        <p:spPr>
          <a:xfrm>
            <a:off x="12627362" y="3688756"/>
            <a:ext cx="274525" cy="274525"/>
          </a:xfrm>
          <a:custGeom>
            <a:avLst/>
            <a:gdLst/>
            <a:ahLst/>
            <a:cxnLst/>
            <a:rect l="l" t="t" r="r" b="b"/>
            <a:pathLst>
              <a:path w="274525" h="274525">
                <a:moveTo>
                  <a:pt x="0" y="0"/>
                </a:moveTo>
                <a:lnTo>
                  <a:pt x="274525" y="0"/>
                </a:lnTo>
                <a:lnTo>
                  <a:pt x="274525" y="274525"/>
                </a:lnTo>
                <a:lnTo>
                  <a:pt x="0" y="2745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2" name="Freeform 32"/>
          <p:cNvSpPr/>
          <p:nvPr/>
        </p:nvSpPr>
        <p:spPr>
          <a:xfrm>
            <a:off x="12287757" y="4106435"/>
            <a:ext cx="274525" cy="274525"/>
          </a:xfrm>
          <a:custGeom>
            <a:avLst/>
            <a:gdLst/>
            <a:ahLst/>
            <a:cxnLst/>
            <a:rect l="l" t="t" r="r" b="b"/>
            <a:pathLst>
              <a:path w="274525" h="274525">
                <a:moveTo>
                  <a:pt x="0" y="0"/>
                </a:moveTo>
                <a:lnTo>
                  <a:pt x="274525" y="0"/>
                </a:lnTo>
                <a:lnTo>
                  <a:pt x="274525" y="274525"/>
                </a:lnTo>
                <a:lnTo>
                  <a:pt x="0" y="2745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3" name="Freeform 33"/>
          <p:cNvSpPr/>
          <p:nvPr/>
        </p:nvSpPr>
        <p:spPr>
          <a:xfrm>
            <a:off x="12490100" y="4476896"/>
            <a:ext cx="274525" cy="274525"/>
          </a:xfrm>
          <a:custGeom>
            <a:avLst/>
            <a:gdLst/>
            <a:ahLst/>
            <a:cxnLst/>
            <a:rect l="l" t="t" r="r" b="b"/>
            <a:pathLst>
              <a:path w="274525" h="274525">
                <a:moveTo>
                  <a:pt x="0" y="0"/>
                </a:moveTo>
                <a:lnTo>
                  <a:pt x="274524" y="0"/>
                </a:lnTo>
                <a:lnTo>
                  <a:pt x="274524" y="274524"/>
                </a:lnTo>
                <a:lnTo>
                  <a:pt x="0" y="27452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34" name="Group 34"/>
          <p:cNvGrpSpPr/>
          <p:nvPr/>
        </p:nvGrpSpPr>
        <p:grpSpPr>
          <a:xfrm>
            <a:off x="8863377" y="6744247"/>
            <a:ext cx="3086041" cy="654007"/>
            <a:chOff x="0" y="0"/>
            <a:chExt cx="1204730" cy="255312"/>
          </a:xfrm>
        </p:grpSpPr>
        <p:sp>
          <p:nvSpPr>
            <p:cNvPr id="35" name="Freeform 35"/>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36" name="TextBox 36"/>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37" name="TextBox 37"/>
          <p:cNvSpPr txBox="1"/>
          <p:nvPr/>
        </p:nvSpPr>
        <p:spPr>
          <a:xfrm>
            <a:off x="7931363" y="7560179"/>
            <a:ext cx="8987314" cy="40960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Ninguno.</a:t>
            </a:r>
          </a:p>
        </p:txBody>
      </p:sp>
      <p:sp>
        <p:nvSpPr>
          <p:cNvPr id="38" name="TextBox 38"/>
          <p:cNvSpPr txBox="1"/>
          <p:nvPr/>
        </p:nvSpPr>
        <p:spPr>
          <a:xfrm>
            <a:off x="9201502" y="6976502"/>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IMPEDIMENTOS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578053"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83114" y="463972"/>
            <a:ext cx="1433332" cy="1534106"/>
          </a:xfrm>
          <a:custGeom>
            <a:avLst/>
            <a:gdLst/>
            <a:ahLst/>
            <a:cxnLst/>
            <a:rect l="l" t="t" r="r" b="b"/>
            <a:pathLst>
              <a:path w="1433332" h="1534106">
                <a:moveTo>
                  <a:pt x="0" y="0"/>
                </a:moveTo>
                <a:lnTo>
                  <a:pt x="1433331" y="0"/>
                </a:lnTo>
                <a:lnTo>
                  <a:pt x="1433331" y="1534106"/>
                </a:lnTo>
                <a:lnTo>
                  <a:pt x="0" y="1534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2432561" y="1042683"/>
            <a:ext cx="5227577" cy="902256"/>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PROYECTO REMEDY JIRA</a:t>
            </a:r>
          </a:p>
        </p:txBody>
      </p:sp>
      <p:grpSp>
        <p:nvGrpSpPr>
          <p:cNvPr id="6" name="Group 6"/>
          <p:cNvGrpSpPr/>
          <p:nvPr/>
        </p:nvGrpSpPr>
        <p:grpSpPr>
          <a:xfrm>
            <a:off x="1028700" y="2315477"/>
            <a:ext cx="6562039" cy="6942823"/>
            <a:chOff x="0" y="0"/>
            <a:chExt cx="8749386" cy="9257098"/>
          </a:xfrm>
        </p:grpSpPr>
        <p:sp>
          <p:nvSpPr>
            <p:cNvPr id="7" name="Freeform 7"/>
            <p:cNvSpPr/>
            <p:nvPr/>
          </p:nvSpPr>
          <p:spPr>
            <a:xfrm>
              <a:off x="0" y="0"/>
              <a:ext cx="8749411" cy="9257123"/>
            </a:xfrm>
            <a:custGeom>
              <a:avLst/>
              <a:gdLst/>
              <a:ahLst/>
              <a:cxnLst/>
              <a:rect l="l" t="t" r="r" b="b"/>
              <a:pathLst>
                <a:path w="8749411" h="9257123">
                  <a:moveTo>
                    <a:pt x="8222234" y="9257123"/>
                  </a:moveTo>
                  <a:lnTo>
                    <a:pt x="527177" y="9257123"/>
                  </a:lnTo>
                  <a:cubicBezTo>
                    <a:pt x="236728" y="9257123"/>
                    <a:pt x="0" y="8989806"/>
                    <a:pt x="0" y="8661821"/>
                  </a:cubicBezTo>
                  <a:lnTo>
                    <a:pt x="0" y="595305"/>
                  </a:lnTo>
                  <a:cubicBezTo>
                    <a:pt x="0" y="267321"/>
                    <a:pt x="236728" y="0"/>
                    <a:pt x="527177" y="0"/>
                  </a:cubicBezTo>
                  <a:lnTo>
                    <a:pt x="8222234" y="0"/>
                  </a:lnTo>
                  <a:cubicBezTo>
                    <a:pt x="8512683" y="0"/>
                    <a:pt x="8749411" y="267321"/>
                    <a:pt x="8749411" y="595305"/>
                  </a:cubicBezTo>
                  <a:lnTo>
                    <a:pt x="8749411" y="8661821"/>
                  </a:lnTo>
                  <a:cubicBezTo>
                    <a:pt x="8749411" y="8989806"/>
                    <a:pt x="8512683" y="9257123"/>
                    <a:pt x="8222234" y="9257123"/>
                  </a:cubicBezTo>
                  <a:close/>
                </a:path>
              </a:pathLst>
            </a:custGeom>
            <a:solidFill>
              <a:srgbClr val="009BF8"/>
            </a:solidFill>
          </p:spPr>
        </p:sp>
      </p:grpSp>
      <p:pic>
        <p:nvPicPr>
          <p:cNvPr id="8" name="Picture 8"/>
          <p:cNvPicPr>
            <a:picLocks noChangeAspect="1"/>
          </p:cNvPicPr>
          <p:nvPr/>
        </p:nvPicPr>
        <p:blipFill>
          <a:blip r:embed="rId8"/>
          <a:stretch>
            <a:fillRect/>
          </a:stretch>
        </p:blipFill>
        <p:spPr>
          <a:xfrm>
            <a:off x="3221763" y="3750405"/>
            <a:ext cx="2139766" cy="2139766"/>
          </a:xfrm>
          <a:prstGeom prst="rect">
            <a:avLst/>
          </a:prstGeom>
        </p:spPr>
      </p:pic>
      <p:sp>
        <p:nvSpPr>
          <p:cNvPr id="9" name="TextBox 9"/>
          <p:cNvSpPr txBox="1"/>
          <p:nvPr/>
        </p:nvSpPr>
        <p:spPr>
          <a:xfrm>
            <a:off x="3043164" y="5822129"/>
            <a:ext cx="2533112" cy="471543"/>
          </a:xfrm>
          <a:prstGeom prst="rect">
            <a:avLst/>
          </a:prstGeom>
        </p:spPr>
        <p:txBody>
          <a:bodyPr lIns="0" tIns="0" rIns="0" bIns="0" rtlCol="0" anchor="t">
            <a:spAutoFit/>
          </a:bodyPr>
          <a:lstStyle/>
          <a:p>
            <a:pPr algn="ctr">
              <a:lnSpc>
                <a:spcPts val="3556"/>
              </a:lnSpc>
            </a:pPr>
            <a:r>
              <a:rPr lang="en-US" sz="2915" spc="-160">
                <a:solidFill>
                  <a:srgbClr val="FFFFFF"/>
                </a:solidFill>
                <a:latin typeface="Poppins"/>
                <a:ea typeface="Poppins"/>
                <a:cs typeface="Poppins"/>
                <a:sym typeface="Poppins"/>
              </a:rPr>
              <a:t>2025 - Marzo</a:t>
            </a:r>
          </a:p>
        </p:txBody>
      </p:sp>
      <p:grpSp>
        <p:nvGrpSpPr>
          <p:cNvPr id="10" name="Group 10"/>
          <p:cNvGrpSpPr/>
          <p:nvPr/>
        </p:nvGrpSpPr>
        <p:grpSpPr>
          <a:xfrm>
            <a:off x="1473233" y="6993780"/>
            <a:ext cx="5672972" cy="674657"/>
            <a:chOff x="0" y="0"/>
            <a:chExt cx="1390367" cy="165349"/>
          </a:xfrm>
        </p:grpSpPr>
        <p:sp>
          <p:nvSpPr>
            <p:cNvPr id="11" name="Freeform 11"/>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2" name="TextBox 12"/>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3" name="Group 13"/>
          <p:cNvGrpSpPr/>
          <p:nvPr/>
        </p:nvGrpSpPr>
        <p:grpSpPr>
          <a:xfrm>
            <a:off x="3334963" y="7129484"/>
            <a:ext cx="403249" cy="403249"/>
            <a:chOff x="0" y="0"/>
            <a:chExt cx="537665" cy="537665"/>
          </a:xfrm>
        </p:grpSpPr>
        <p:grpSp>
          <p:nvGrpSpPr>
            <p:cNvPr id="14" name="Group 14"/>
            <p:cNvGrpSpPr>
              <a:grpSpLocks noChangeAspect="1"/>
            </p:cNvGrpSpPr>
            <p:nvPr/>
          </p:nvGrpSpPr>
          <p:grpSpPr>
            <a:xfrm>
              <a:off x="0" y="0"/>
              <a:ext cx="537665" cy="537665"/>
              <a:chOff x="0" y="0"/>
              <a:chExt cx="6355080" cy="6355080"/>
            </a:xfrm>
          </p:grpSpPr>
          <p:sp>
            <p:nvSpPr>
              <p:cNvPr id="15" name="Freeform 1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47615"/>
              </a:solidFill>
            </p:spPr>
          </p:sp>
        </p:grpSp>
        <p:grpSp>
          <p:nvGrpSpPr>
            <p:cNvPr id="16" name="Group 16"/>
            <p:cNvGrpSpPr/>
            <p:nvPr/>
          </p:nvGrpSpPr>
          <p:grpSpPr>
            <a:xfrm>
              <a:off x="82983" y="82983"/>
              <a:ext cx="371698" cy="37169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47615"/>
              </a:solidFill>
            </p:spPr>
          </p:sp>
        </p:grpSp>
      </p:grpSp>
      <p:sp>
        <p:nvSpPr>
          <p:cNvPr id="18" name="TextBox 18"/>
          <p:cNvSpPr txBox="1"/>
          <p:nvPr/>
        </p:nvSpPr>
        <p:spPr>
          <a:xfrm>
            <a:off x="3868035" y="7146643"/>
            <a:ext cx="1380294" cy="330831"/>
          </a:xfrm>
          <a:prstGeom prst="rect">
            <a:avLst/>
          </a:prstGeom>
        </p:spPr>
        <p:txBody>
          <a:bodyPr lIns="0" tIns="0" rIns="0" bIns="0" rtlCol="0" anchor="t">
            <a:spAutoFit/>
          </a:bodyPr>
          <a:lstStyle/>
          <a:p>
            <a:pPr marL="0" lvl="0" indent="0" algn="l">
              <a:lnSpc>
                <a:spcPts val="2515"/>
              </a:lnSpc>
            </a:pPr>
            <a:r>
              <a:rPr lang="en-US" sz="1935" b="1" spc="19">
                <a:solidFill>
                  <a:srgbClr val="147615"/>
                </a:solidFill>
                <a:latin typeface="Poppins Bold"/>
                <a:ea typeface="Poppins Bold"/>
                <a:cs typeface="Poppins Bold"/>
                <a:sym typeface="Poppins Bold"/>
              </a:rPr>
              <a:t>EN CURSO</a:t>
            </a:r>
          </a:p>
        </p:txBody>
      </p:sp>
      <p:grpSp>
        <p:nvGrpSpPr>
          <p:cNvPr id="19" name="Group 19"/>
          <p:cNvGrpSpPr/>
          <p:nvPr/>
        </p:nvGrpSpPr>
        <p:grpSpPr>
          <a:xfrm>
            <a:off x="8285730" y="2315477"/>
            <a:ext cx="4355063" cy="6942823"/>
            <a:chOff x="0" y="0"/>
            <a:chExt cx="1700131" cy="2710342"/>
          </a:xfrm>
        </p:grpSpPr>
        <p:sp>
          <p:nvSpPr>
            <p:cNvPr id="20" name="Freeform 20"/>
            <p:cNvSpPr/>
            <p:nvPr/>
          </p:nvSpPr>
          <p:spPr>
            <a:xfrm>
              <a:off x="0" y="0"/>
              <a:ext cx="1700131" cy="2710342"/>
            </a:xfrm>
            <a:custGeom>
              <a:avLst/>
              <a:gdLst/>
              <a:ahLst/>
              <a:cxnLst/>
              <a:rect l="l" t="t" r="r" b="b"/>
              <a:pathLst>
                <a:path w="1700131" h="2710342">
                  <a:moveTo>
                    <a:pt x="85329" y="0"/>
                  </a:moveTo>
                  <a:lnTo>
                    <a:pt x="1614803" y="0"/>
                  </a:lnTo>
                  <a:cubicBezTo>
                    <a:pt x="1637433" y="0"/>
                    <a:pt x="1659137" y="8990"/>
                    <a:pt x="1675139" y="24992"/>
                  </a:cubicBezTo>
                  <a:cubicBezTo>
                    <a:pt x="1691142" y="40994"/>
                    <a:pt x="1700131" y="62698"/>
                    <a:pt x="1700131" y="85329"/>
                  </a:cubicBezTo>
                  <a:lnTo>
                    <a:pt x="1700131" y="2625014"/>
                  </a:lnTo>
                  <a:cubicBezTo>
                    <a:pt x="1700131" y="2672139"/>
                    <a:pt x="1661929" y="2710342"/>
                    <a:pt x="1614803" y="2710342"/>
                  </a:cubicBezTo>
                  <a:lnTo>
                    <a:pt x="85329" y="2710342"/>
                  </a:lnTo>
                  <a:cubicBezTo>
                    <a:pt x="62698" y="2710342"/>
                    <a:pt x="40994" y="2701352"/>
                    <a:pt x="24992" y="2685350"/>
                  </a:cubicBezTo>
                  <a:cubicBezTo>
                    <a:pt x="8990" y="2669348"/>
                    <a:pt x="0" y="2647644"/>
                    <a:pt x="0" y="2625014"/>
                  </a:cubicBezTo>
                  <a:lnTo>
                    <a:pt x="0" y="85329"/>
                  </a:lnTo>
                  <a:cubicBezTo>
                    <a:pt x="0" y="38203"/>
                    <a:pt x="38203" y="0"/>
                    <a:pt x="85329" y="0"/>
                  </a:cubicBezTo>
                  <a:close/>
                </a:path>
              </a:pathLst>
            </a:custGeom>
            <a:ln w="38100" cap="rnd">
              <a:solidFill>
                <a:srgbClr val="009BF8"/>
              </a:solidFill>
              <a:prstDash val="solid"/>
              <a:round/>
            </a:ln>
          </p:spPr>
        </p:sp>
        <p:sp>
          <p:nvSpPr>
            <p:cNvPr id="21" name="TextBox 21"/>
            <p:cNvSpPr txBox="1"/>
            <p:nvPr/>
          </p:nvSpPr>
          <p:spPr>
            <a:xfrm>
              <a:off x="0" y="-133350"/>
              <a:ext cx="1700131" cy="2843692"/>
            </a:xfrm>
            <a:prstGeom prst="rect">
              <a:avLst/>
            </a:prstGeom>
          </p:spPr>
          <p:txBody>
            <a:bodyPr lIns="50800" tIns="50800" rIns="50800" bIns="50800" rtlCol="0" anchor="ctr"/>
            <a:lstStyle/>
            <a:p>
              <a:pPr algn="ctr">
                <a:lnSpc>
                  <a:spcPts val="3520"/>
                </a:lnSpc>
              </a:pPr>
              <a:endParaRPr/>
            </a:p>
          </p:txBody>
        </p:sp>
      </p:grpSp>
      <p:sp>
        <p:nvSpPr>
          <p:cNvPr id="22" name="TextBox 22"/>
          <p:cNvSpPr txBox="1"/>
          <p:nvPr/>
        </p:nvSpPr>
        <p:spPr>
          <a:xfrm>
            <a:off x="8628295" y="5418964"/>
            <a:ext cx="3669932" cy="1336504"/>
          </a:xfrm>
          <a:prstGeom prst="rect">
            <a:avLst/>
          </a:prstGeom>
        </p:spPr>
        <p:txBody>
          <a:bodyPr lIns="0" tIns="0" rIns="0" bIns="0" rtlCol="0" anchor="t">
            <a:spAutoFit/>
          </a:bodyPr>
          <a:lstStyle/>
          <a:p>
            <a:pPr marL="410502" lvl="1" indent="-205251" algn="l">
              <a:lnSpc>
                <a:spcPts val="2659"/>
              </a:lnSpc>
              <a:buFont typeface="Arial"/>
              <a:buChar char="•"/>
            </a:pPr>
            <a:r>
              <a:rPr lang="en-US" sz="1901">
                <a:solidFill>
                  <a:srgbClr val="191919"/>
                </a:solidFill>
                <a:latin typeface="Poppins"/>
                <a:ea typeface="Poppins"/>
                <a:cs typeface="Poppins"/>
                <a:sym typeface="Poppins"/>
              </a:rPr>
              <a:t>Capacitaciones:</a:t>
            </a:r>
          </a:p>
          <a:p>
            <a:pPr algn="l">
              <a:lnSpc>
                <a:spcPts val="2659"/>
              </a:lnSpc>
            </a:pPr>
            <a:r>
              <a:rPr lang="en-US" sz="1901">
                <a:solidFill>
                  <a:srgbClr val="191919"/>
                </a:solidFill>
                <a:latin typeface="Poppins"/>
                <a:ea typeface="Poppins"/>
                <a:cs typeface="Poppins"/>
                <a:sym typeface="Poppins"/>
              </a:rPr>
              <a:t>-Gestores de Requerimientos</a:t>
            </a:r>
          </a:p>
          <a:p>
            <a:pPr algn="l">
              <a:lnSpc>
                <a:spcPts val="2659"/>
              </a:lnSpc>
            </a:pPr>
            <a:r>
              <a:rPr lang="en-US" sz="1901">
                <a:solidFill>
                  <a:srgbClr val="191919"/>
                </a:solidFill>
                <a:latin typeface="Poppins"/>
                <a:ea typeface="Poppins"/>
                <a:cs typeface="Poppins"/>
                <a:sym typeface="Poppins"/>
              </a:rPr>
              <a:t>-Personal Integratel</a:t>
            </a:r>
          </a:p>
          <a:p>
            <a:pPr marL="410502" lvl="1" indent="-205251" algn="l">
              <a:lnSpc>
                <a:spcPts val="2661"/>
              </a:lnSpc>
              <a:buFont typeface="Arial"/>
              <a:buChar char="•"/>
            </a:pPr>
            <a:r>
              <a:rPr lang="en-US" sz="1901">
                <a:solidFill>
                  <a:srgbClr val="191919"/>
                </a:solidFill>
                <a:latin typeface="Poppins"/>
                <a:ea typeface="Poppins"/>
                <a:cs typeface="Poppins"/>
                <a:sym typeface="Poppins"/>
              </a:rPr>
              <a:t>Inicio de marcha Blanca</a:t>
            </a:r>
          </a:p>
        </p:txBody>
      </p:sp>
      <p:grpSp>
        <p:nvGrpSpPr>
          <p:cNvPr id="23" name="Group 23"/>
          <p:cNvGrpSpPr/>
          <p:nvPr/>
        </p:nvGrpSpPr>
        <p:grpSpPr>
          <a:xfrm>
            <a:off x="8920241" y="4498257"/>
            <a:ext cx="3086041" cy="654007"/>
            <a:chOff x="0" y="0"/>
            <a:chExt cx="1204730" cy="255312"/>
          </a:xfrm>
        </p:grpSpPr>
        <p:sp>
          <p:nvSpPr>
            <p:cNvPr id="24" name="Freeform 24"/>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25" name="TextBox 25"/>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6" name="TextBox 26"/>
          <p:cNvSpPr txBox="1"/>
          <p:nvPr/>
        </p:nvSpPr>
        <p:spPr>
          <a:xfrm>
            <a:off x="9258367" y="4730512"/>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PRÓXIMOS PASOS</a:t>
            </a:r>
          </a:p>
        </p:txBody>
      </p:sp>
      <p:sp>
        <p:nvSpPr>
          <p:cNvPr id="27" name="TextBox 27"/>
          <p:cNvSpPr txBox="1"/>
          <p:nvPr/>
        </p:nvSpPr>
        <p:spPr>
          <a:xfrm>
            <a:off x="8875178" y="7825763"/>
            <a:ext cx="2917256" cy="369860"/>
          </a:xfrm>
          <a:prstGeom prst="rect">
            <a:avLst/>
          </a:prstGeom>
        </p:spPr>
        <p:txBody>
          <a:bodyPr lIns="0" tIns="0" rIns="0" bIns="0" rtlCol="0" anchor="t">
            <a:spAutoFit/>
          </a:bodyPr>
          <a:lstStyle/>
          <a:p>
            <a:pPr marL="443170" lvl="1" indent="-221585" algn="l">
              <a:lnSpc>
                <a:spcPts val="2873"/>
              </a:lnSpc>
              <a:buFont typeface="Arial"/>
              <a:buChar char="•"/>
            </a:pPr>
            <a:r>
              <a:rPr lang="en-US" sz="2052">
                <a:solidFill>
                  <a:srgbClr val="191919"/>
                </a:solidFill>
                <a:latin typeface="Poppins"/>
                <a:ea typeface="Poppins"/>
                <a:cs typeface="Poppins"/>
                <a:sym typeface="Poppins"/>
              </a:rPr>
              <a:t>Ninguno. </a:t>
            </a:r>
          </a:p>
        </p:txBody>
      </p:sp>
      <p:grpSp>
        <p:nvGrpSpPr>
          <p:cNvPr id="28" name="Group 28"/>
          <p:cNvGrpSpPr/>
          <p:nvPr/>
        </p:nvGrpSpPr>
        <p:grpSpPr>
          <a:xfrm>
            <a:off x="8875178" y="6990781"/>
            <a:ext cx="3086041" cy="654007"/>
            <a:chOff x="0" y="0"/>
            <a:chExt cx="1204730" cy="255312"/>
          </a:xfrm>
        </p:grpSpPr>
        <p:sp>
          <p:nvSpPr>
            <p:cNvPr id="29" name="Freeform 29"/>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30" name="TextBox 30"/>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31" name="TextBox 31"/>
          <p:cNvSpPr txBox="1"/>
          <p:nvPr/>
        </p:nvSpPr>
        <p:spPr>
          <a:xfrm>
            <a:off x="9213304" y="7223036"/>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IMPEDIMENTOS</a:t>
            </a:r>
          </a:p>
        </p:txBody>
      </p:sp>
      <p:sp>
        <p:nvSpPr>
          <p:cNvPr id="32" name="TextBox 32"/>
          <p:cNvSpPr txBox="1"/>
          <p:nvPr/>
        </p:nvSpPr>
        <p:spPr>
          <a:xfrm>
            <a:off x="8712716" y="4014444"/>
            <a:ext cx="3410964" cy="381357"/>
          </a:xfrm>
          <a:prstGeom prst="rect">
            <a:avLst/>
          </a:prstGeom>
        </p:spPr>
        <p:txBody>
          <a:bodyPr lIns="0" tIns="0" rIns="0" bIns="0" rtlCol="0" anchor="t">
            <a:spAutoFit/>
          </a:bodyPr>
          <a:lstStyle/>
          <a:p>
            <a:pPr marL="0" lvl="0" indent="0" algn="ctr">
              <a:lnSpc>
                <a:spcPts val="2718"/>
              </a:lnSpc>
            </a:pPr>
            <a:r>
              <a:rPr lang="en-US" sz="3089">
                <a:solidFill>
                  <a:srgbClr val="000468"/>
                </a:solidFill>
                <a:latin typeface="Lovelo"/>
                <a:ea typeface="Lovelo"/>
                <a:cs typeface="Lovelo"/>
                <a:sym typeface="Lovelo"/>
              </a:rPr>
              <a:t>RequeRIMIENTOS</a:t>
            </a:r>
          </a:p>
        </p:txBody>
      </p:sp>
      <p:grpSp>
        <p:nvGrpSpPr>
          <p:cNvPr id="33" name="Group 33"/>
          <p:cNvGrpSpPr/>
          <p:nvPr/>
        </p:nvGrpSpPr>
        <p:grpSpPr>
          <a:xfrm>
            <a:off x="13002409" y="2315477"/>
            <a:ext cx="4355063" cy="6942823"/>
            <a:chOff x="0" y="0"/>
            <a:chExt cx="1700131" cy="2710342"/>
          </a:xfrm>
        </p:grpSpPr>
        <p:sp>
          <p:nvSpPr>
            <p:cNvPr id="34" name="Freeform 34"/>
            <p:cNvSpPr/>
            <p:nvPr/>
          </p:nvSpPr>
          <p:spPr>
            <a:xfrm>
              <a:off x="0" y="0"/>
              <a:ext cx="1700131" cy="2710342"/>
            </a:xfrm>
            <a:custGeom>
              <a:avLst/>
              <a:gdLst/>
              <a:ahLst/>
              <a:cxnLst/>
              <a:rect l="l" t="t" r="r" b="b"/>
              <a:pathLst>
                <a:path w="1700131" h="2710342">
                  <a:moveTo>
                    <a:pt x="85329" y="0"/>
                  </a:moveTo>
                  <a:lnTo>
                    <a:pt x="1614803" y="0"/>
                  </a:lnTo>
                  <a:cubicBezTo>
                    <a:pt x="1637433" y="0"/>
                    <a:pt x="1659137" y="8990"/>
                    <a:pt x="1675139" y="24992"/>
                  </a:cubicBezTo>
                  <a:cubicBezTo>
                    <a:pt x="1691142" y="40994"/>
                    <a:pt x="1700131" y="62698"/>
                    <a:pt x="1700131" y="85329"/>
                  </a:cubicBezTo>
                  <a:lnTo>
                    <a:pt x="1700131" y="2625014"/>
                  </a:lnTo>
                  <a:cubicBezTo>
                    <a:pt x="1700131" y="2672139"/>
                    <a:pt x="1661929" y="2710342"/>
                    <a:pt x="1614803" y="2710342"/>
                  </a:cubicBezTo>
                  <a:lnTo>
                    <a:pt x="85329" y="2710342"/>
                  </a:lnTo>
                  <a:cubicBezTo>
                    <a:pt x="62698" y="2710342"/>
                    <a:pt x="40994" y="2701352"/>
                    <a:pt x="24992" y="2685350"/>
                  </a:cubicBezTo>
                  <a:cubicBezTo>
                    <a:pt x="8990" y="2669348"/>
                    <a:pt x="0" y="2647644"/>
                    <a:pt x="0" y="2625014"/>
                  </a:cubicBezTo>
                  <a:lnTo>
                    <a:pt x="0" y="85329"/>
                  </a:lnTo>
                  <a:cubicBezTo>
                    <a:pt x="0" y="38203"/>
                    <a:pt x="38203" y="0"/>
                    <a:pt x="85329" y="0"/>
                  </a:cubicBezTo>
                  <a:close/>
                </a:path>
              </a:pathLst>
            </a:custGeom>
            <a:ln w="38100" cap="rnd">
              <a:solidFill>
                <a:srgbClr val="009BF8"/>
              </a:solidFill>
              <a:prstDash val="solid"/>
              <a:round/>
            </a:ln>
          </p:spPr>
        </p:sp>
        <p:sp>
          <p:nvSpPr>
            <p:cNvPr id="35" name="TextBox 35"/>
            <p:cNvSpPr txBox="1"/>
            <p:nvPr/>
          </p:nvSpPr>
          <p:spPr>
            <a:xfrm>
              <a:off x="0" y="-133350"/>
              <a:ext cx="1700131" cy="2843692"/>
            </a:xfrm>
            <a:prstGeom prst="rect">
              <a:avLst/>
            </a:prstGeom>
          </p:spPr>
          <p:txBody>
            <a:bodyPr lIns="50800" tIns="50800" rIns="50800" bIns="50800" rtlCol="0" anchor="ctr"/>
            <a:lstStyle/>
            <a:p>
              <a:pPr algn="ctr">
                <a:lnSpc>
                  <a:spcPts val="3520"/>
                </a:lnSpc>
              </a:pPr>
              <a:endParaRPr/>
            </a:p>
          </p:txBody>
        </p:sp>
      </p:grpSp>
      <p:sp>
        <p:nvSpPr>
          <p:cNvPr id="36" name="TextBox 36"/>
          <p:cNvSpPr txBox="1"/>
          <p:nvPr/>
        </p:nvSpPr>
        <p:spPr>
          <a:xfrm>
            <a:off x="13344974" y="5418964"/>
            <a:ext cx="3669932" cy="1336504"/>
          </a:xfrm>
          <a:prstGeom prst="rect">
            <a:avLst/>
          </a:prstGeom>
        </p:spPr>
        <p:txBody>
          <a:bodyPr lIns="0" tIns="0" rIns="0" bIns="0" rtlCol="0" anchor="t">
            <a:spAutoFit/>
          </a:bodyPr>
          <a:lstStyle/>
          <a:p>
            <a:pPr marL="410502" lvl="1" indent="-205251" algn="l">
              <a:lnSpc>
                <a:spcPts val="2659"/>
              </a:lnSpc>
              <a:buFont typeface="Arial"/>
              <a:buChar char="•"/>
            </a:pPr>
            <a:r>
              <a:rPr lang="en-US" sz="1901">
                <a:solidFill>
                  <a:srgbClr val="191919"/>
                </a:solidFill>
                <a:latin typeface="Poppins"/>
                <a:ea typeface="Poppins"/>
                <a:cs typeface="Poppins"/>
                <a:sym typeface="Poppins"/>
              </a:rPr>
              <a:t>Realizar pruebas con los usuarios</a:t>
            </a:r>
          </a:p>
          <a:p>
            <a:pPr marL="410502" lvl="1" indent="-205251" algn="l">
              <a:lnSpc>
                <a:spcPts val="2659"/>
              </a:lnSpc>
              <a:buFont typeface="Arial"/>
              <a:buChar char="•"/>
            </a:pPr>
            <a:r>
              <a:rPr lang="en-US" sz="1901">
                <a:solidFill>
                  <a:srgbClr val="191919"/>
                </a:solidFill>
                <a:latin typeface="Poppins"/>
                <a:ea typeface="Poppins"/>
                <a:cs typeface="Poppins"/>
                <a:sym typeface="Poppins"/>
              </a:rPr>
              <a:t>Realizar PAP</a:t>
            </a:r>
          </a:p>
          <a:p>
            <a:pPr marL="410502" lvl="1" indent="-205251" algn="l">
              <a:lnSpc>
                <a:spcPts val="2661"/>
              </a:lnSpc>
              <a:buFont typeface="Arial"/>
              <a:buChar char="•"/>
            </a:pPr>
            <a:r>
              <a:rPr lang="en-US" sz="1901">
                <a:solidFill>
                  <a:srgbClr val="191919"/>
                </a:solidFill>
                <a:latin typeface="Poppins"/>
                <a:ea typeface="Poppins"/>
                <a:cs typeface="Poppins"/>
                <a:sym typeface="Poppins"/>
              </a:rPr>
              <a:t>Inicio de marcha Blanca</a:t>
            </a:r>
          </a:p>
        </p:txBody>
      </p:sp>
      <p:grpSp>
        <p:nvGrpSpPr>
          <p:cNvPr id="37" name="Group 37"/>
          <p:cNvGrpSpPr/>
          <p:nvPr/>
        </p:nvGrpSpPr>
        <p:grpSpPr>
          <a:xfrm>
            <a:off x="13636920" y="4498257"/>
            <a:ext cx="3086041" cy="654007"/>
            <a:chOff x="0" y="0"/>
            <a:chExt cx="1204730" cy="255312"/>
          </a:xfrm>
        </p:grpSpPr>
        <p:sp>
          <p:nvSpPr>
            <p:cNvPr id="38" name="Freeform 38"/>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39" name="TextBox 39"/>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40" name="TextBox 40"/>
          <p:cNvSpPr txBox="1"/>
          <p:nvPr/>
        </p:nvSpPr>
        <p:spPr>
          <a:xfrm>
            <a:off x="13975046" y="4730512"/>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PRÓXIMOS PASOS</a:t>
            </a:r>
          </a:p>
        </p:txBody>
      </p:sp>
      <p:sp>
        <p:nvSpPr>
          <p:cNvPr id="41" name="TextBox 41"/>
          <p:cNvSpPr txBox="1"/>
          <p:nvPr/>
        </p:nvSpPr>
        <p:spPr>
          <a:xfrm>
            <a:off x="13591857" y="7692413"/>
            <a:ext cx="3565529" cy="1099463"/>
          </a:xfrm>
          <a:prstGeom prst="rect">
            <a:avLst/>
          </a:prstGeom>
        </p:spPr>
        <p:txBody>
          <a:bodyPr lIns="0" tIns="0" rIns="0" bIns="0" rtlCol="0" anchor="t">
            <a:spAutoFit/>
          </a:bodyPr>
          <a:lstStyle/>
          <a:p>
            <a:pPr marL="443170" lvl="1" indent="-221585" algn="l">
              <a:lnSpc>
                <a:spcPts val="2873"/>
              </a:lnSpc>
              <a:buFont typeface="Arial"/>
              <a:buChar char="•"/>
            </a:pPr>
            <a:r>
              <a:rPr lang="en-US" sz="2052">
                <a:solidFill>
                  <a:srgbClr val="191919"/>
                </a:solidFill>
                <a:latin typeface="Poppins"/>
                <a:ea typeface="Poppins"/>
                <a:cs typeface="Poppins"/>
                <a:sym typeface="Poppins"/>
              </a:rPr>
              <a:t>Se presentan incidencias en el servicio de AUTIN.</a:t>
            </a:r>
          </a:p>
        </p:txBody>
      </p:sp>
      <p:grpSp>
        <p:nvGrpSpPr>
          <p:cNvPr id="42" name="Group 42"/>
          <p:cNvGrpSpPr/>
          <p:nvPr/>
        </p:nvGrpSpPr>
        <p:grpSpPr>
          <a:xfrm>
            <a:off x="13591857" y="6990781"/>
            <a:ext cx="3086041" cy="654007"/>
            <a:chOff x="0" y="0"/>
            <a:chExt cx="1204730" cy="255312"/>
          </a:xfrm>
        </p:grpSpPr>
        <p:sp>
          <p:nvSpPr>
            <p:cNvPr id="43" name="Freeform 43"/>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44" name="TextBox 44"/>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45" name="TextBox 45"/>
          <p:cNvSpPr txBox="1"/>
          <p:nvPr/>
        </p:nvSpPr>
        <p:spPr>
          <a:xfrm>
            <a:off x="13929983" y="7223036"/>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IMPEDIMENTOS</a:t>
            </a:r>
          </a:p>
        </p:txBody>
      </p:sp>
      <p:sp>
        <p:nvSpPr>
          <p:cNvPr id="46" name="TextBox 46"/>
          <p:cNvSpPr txBox="1"/>
          <p:nvPr/>
        </p:nvSpPr>
        <p:spPr>
          <a:xfrm>
            <a:off x="13429395" y="4014444"/>
            <a:ext cx="3410964" cy="381357"/>
          </a:xfrm>
          <a:prstGeom prst="rect">
            <a:avLst/>
          </a:prstGeom>
        </p:spPr>
        <p:txBody>
          <a:bodyPr lIns="0" tIns="0" rIns="0" bIns="0" rtlCol="0" anchor="t">
            <a:spAutoFit/>
          </a:bodyPr>
          <a:lstStyle/>
          <a:p>
            <a:pPr marL="0" lvl="0" indent="0" algn="ctr">
              <a:lnSpc>
                <a:spcPts val="2718"/>
              </a:lnSpc>
            </a:pPr>
            <a:r>
              <a:rPr lang="en-US" sz="3089">
                <a:solidFill>
                  <a:srgbClr val="000468"/>
                </a:solidFill>
                <a:latin typeface="Lovelo"/>
                <a:ea typeface="Lovelo"/>
                <a:cs typeface="Lovelo"/>
                <a:sym typeface="Lovelo"/>
              </a:rPr>
              <a:t>incidencias</a:t>
            </a:r>
          </a:p>
        </p:txBody>
      </p:sp>
      <p:pic>
        <p:nvPicPr>
          <p:cNvPr id="47" name="Picture 47"/>
          <p:cNvPicPr>
            <a:picLocks noChangeAspect="1"/>
          </p:cNvPicPr>
          <p:nvPr/>
        </p:nvPicPr>
        <p:blipFill>
          <a:blip r:embed="rId9"/>
          <a:stretch>
            <a:fillRect/>
          </a:stretch>
        </p:blipFill>
        <p:spPr>
          <a:xfrm>
            <a:off x="9714075" y="2476594"/>
            <a:ext cx="1408246" cy="1408246"/>
          </a:xfrm>
          <a:prstGeom prst="rect">
            <a:avLst/>
          </a:prstGeom>
        </p:spPr>
      </p:pic>
      <p:pic>
        <p:nvPicPr>
          <p:cNvPr id="48" name="Picture 48"/>
          <p:cNvPicPr>
            <a:picLocks noChangeAspect="1"/>
          </p:cNvPicPr>
          <p:nvPr/>
        </p:nvPicPr>
        <p:blipFill>
          <a:blip r:embed="rId10"/>
          <a:stretch>
            <a:fillRect/>
          </a:stretch>
        </p:blipFill>
        <p:spPr>
          <a:xfrm>
            <a:off x="14475817" y="2476594"/>
            <a:ext cx="1408246" cy="1408246"/>
          </a:xfrm>
          <a:prstGeom prst="rect">
            <a:avLst/>
          </a:prstGeom>
        </p:spPr>
      </p:pic>
      <p:sp>
        <p:nvSpPr>
          <p:cNvPr id="49" name="Freeform 49"/>
          <p:cNvSpPr/>
          <p:nvPr/>
        </p:nvSpPr>
        <p:spPr>
          <a:xfrm>
            <a:off x="1139878" y="909333"/>
            <a:ext cx="519803" cy="723776"/>
          </a:xfrm>
          <a:custGeom>
            <a:avLst/>
            <a:gdLst/>
            <a:ahLst/>
            <a:cxnLst/>
            <a:rect l="l" t="t" r="r" b="b"/>
            <a:pathLst>
              <a:path w="519803" h="723776">
                <a:moveTo>
                  <a:pt x="0" y="0"/>
                </a:moveTo>
                <a:lnTo>
                  <a:pt x="519803" y="0"/>
                </a:lnTo>
                <a:lnTo>
                  <a:pt x="519803" y="723776"/>
                </a:lnTo>
                <a:lnTo>
                  <a:pt x="0" y="72377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50" name="Group 50"/>
          <p:cNvGrpSpPr/>
          <p:nvPr/>
        </p:nvGrpSpPr>
        <p:grpSpPr>
          <a:xfrm>
            <a:off x="1473233" y="7811312"/>
            <a:ext cx="5672972" cy="674657"/>
            <a:chOff x="0" y="0"/>
            <a:chExt cx="1390367" cy="165349"/>
          </a:xfrm>
        </p:grpSpPr>
        <p:sp>
          <p:nvSpPr>
            <p:cNvPr id="51" name="Freeform 51">
              <a:hlinkClick r:id="rId13" tooltip="https://integratelcorp.sharepoint.com/:x:/r/sites/WorkplaceTI.TMHTP/_layouts/15/Doc.aspx?sourcedoc=%7B668DFBF4-24AB-4F91-8757-F381E69FCBA6%7D&amp;file=Gantt%20-%20Objetivos%202026%20(Unificado).xlsx&amp;action=default&amp;mobileredirect=true"/>
            </p:cNvPr>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52" name="TextBox 52"/>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sp>
        <p:nvSpPr>
          <p:cNvPr id="53" name="Freeform 53">
            <a:hlinkClick r:id="rId13" tooltip="https://integratelcorp.sharepoint.com/:x:/r/sites/WorkplaceTI.TMHTP/_layouts/15/Doc.aspx?sourcedoc=%7B668DFBF4-24AB-4F91-8757-F381E69FCBA6%7D&amp;file=Gantt%20-%20Objetivos%202026%20(Unificado).xlsx&amp;action=default&amp;mobileredirect=true"/>
          </p:cNvPr>
          <p:cNvSpPr/>
          <p:nvPr/>
        </p:nvSpPr>
        <p:spPr>
          <a:xfrm>
            <a:off x="5599841" y="7957901"/>
            <a:ext cx="381478" cy="381478"/>
          </a:xfrm>
          <a:custGeom>
            <a:avLst/>
            <a:gdLst/>
            <a:ahLst/>
            <a:cxnLst/>
            <a:rect l="l" t="t" r="r" b="b"/>
            <a:pathLst>
              <a:path w="381478" h="381478">
                <a:moveTo>
                  <a:pt x="0" y="0"/>
                </a:moveTo>
                <a:lnTo>
                  <a:pt x="381478" y="0"/>
                </a:lnTo>
                <a:lnTo>
                  <a:pt x="381478" y="381478"/>
                </a:lnTo>
                <a:lnTo>
                  <a:pt x="0" y="38147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54" name="TextBox 54"/>
          <p:cNvSpPr txBox="1"/>
          <p:nvPr/>
        </p:nvSpPr>
        <p:spPr>
          <a:xfrm>
            <a:off x="2638120" y="7965666"/>
            <a:ext cx="2961721" cy="327848"/>
          </a:xfrm>
          <a:prstGeom prst="rect">
            <a:avLst/>
          </a:prstGeom>
        </p:spPr>
        <p:txBody>
          <a:bodyPr lIns="0" tIns="0" rIns="0" bIns="0" rtlCol="0" anchor="t">
            <a:spAutoFit/>
          </a:bodyPr>
          <a:lstStyle/>
          <a:p>
            <a:pPr marL="0" lvl="0" indent="0" algn="l">
              <a:lnSpc>
                <a:spcPts val="2515"/>
              </a:lnSpc>
            </a:pPr>
            <a:r>
              <a:rPr lang="en-US" sz="1935" b="1" spc="19">
                <a:solidFill>
                  <a:srgbClr val="009BF8"/>
                </a:solidFill>
                <a:latin typeface="Poppins Bold"/>
                <a:ea typeface="Poppins Bold"/>
                <a:cs typeface="Poppins Bold"/>
                <a:sym typeface="Poppins Bold"/>
                <a:hlinkClick r:id="rId13" tooltip="https://integratelcorp.sharepoint.com/:x:/r/sites/WorkplaceTI.TMHTP/_layouts/15/Doc.aspx?sourcedoc=%7B668DFBF4-24AB-4F91-8757-F381E69FCBA6%7D&amp;file=Gantt%20-%20Objetivos%202026%20(Unificado).xlsx&amp;action=default&amp;mobileredirect=true"/>
              </a:rPr>
              <a:t>HOJA DE SEGUIMIENTO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578053"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83114" y="463972"/>
            <a:ext cx="1433332" cy="1534106"/>
          </a:xfrm>
          <a:custGeom>
            <a:avLst/>
            <a:gdLst/>
            <a:ahLst/>
            <a:cxnLst/>
            <a:rect l="l" t="t" r="r" b="b"/>
            <a:pathLst>
              <a:path w="1433332" h="1534106">
                <a:moveTo>
                  <a:pt x="0" y="0"/>
                </a:moveTo>
                <a:lnTo>
                  <a:pt x="1433331" y="0"/>
                </a:lnTo>
                <a:lnTo>
                  <a:pt x="1433331" y="1534106"/>
                </a:lnTo>
                <a:lnTo>
                  <a:pt x="0" y="1534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2432561" y="1042683"/>
            <a:ext cx="3739639" cy="902256"/>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MICROSOFT 365</a:t>
            </a:r>
          </a:p>
        </p:txBody>
      </p:sp>
      <p:grpSp>
        <p:nvGrpSpPr>
          <p:cNvPr id="6" name="Group 6"/>
          <p:cNvGrpSpPr/>
          <p:nvPr/>
        </p:nvGrpSpPr>
        <p:grpSpPr>
          <a:xfrm>
            <a:off x="1369324" y="2396174"/>
            <a:ext cx="6562039" cy="6148273"/>
            <a:chOff x="0" y="0"/>
            <a:chExt cx="8749386" cy="8197698"/>
          </a:xfrm>
        </p:grpSpPr>
        <p:sp>
          <p:nvSpPr>
            <p:cNvPr id="7" name="Freeform 7"/>
            <p:cNvSpPr/>
            <p:nvPr/>
          </p:nvSpPr>
          <p:spPr>
            <a:xfrm>
              <a:off x="0" y="0"/>
              <a:ext cx="8749411" cy="8197723"/>
            </a:xfrm>
            <a:custGeom>
              <a:avLst/>
              <a:gdLst/>
              <a:ahLst/>
              <a:cxnLst/>
              <a:rect l="l" t="t" r="r" b="b"/>
              <a:pathLst>
                <a:path w="8749411" h="8197723">
                  <a:moveTo>
                    <a:pt x="8222234" y="8197723"/>
                  </a:moveTo>
                  <a:lnTo>
                    <a:pt x="527177" y="8197723"/>
                  </a:lnTo>
                  <a:cubicBezTo>
                    <a:pt x="236728" y="8197723"/>
                    <a:pt x="0" y="7960995"/>
                    <a:pt x="0" y="7670546"/>
                  </a:cubicBezTo>
                  <a:lnTo>
                    <a:pt x="0" y="527177"/>
                  </a:lnTo>
                  <a:cubicBezTo>
                    <a:pt x="0" y="236728"/>
                    <a:pt x="236728" y="0"/>
                    <a:pt x="527177" y="0"/>
                  </a:cubicBezTo>
                  <a:lnTo>
                    <a:pt x="8222234" y="0"/>
                  </a:lnTo>
                  <a:cubicBezTo>
                    <a:pt x="8512683" y="0"/>
                    <a:pt x="8749411" y="236728"/>
                    <a:pt x="8749411" y="527177"/>
                  </a:cubicBezTo>
                  <a:lnTo>
                    <a:pt x="8749411" y="7670546"/>
                  </a:lnTo>
                  <a:cubicBezTo>
                    <a:pt x="8749411" y="7960995"/>
                    <a:pt x="8512683" y="8197723"/>
                    <a:pt x="8222234" y="8197723"/>
                  </a:cubicBezTo>
                  <a:close/>
                </a:path>
              </a:pathLst>
            </a:custGeom>
            <a:solidFill>
              <a:srgbClr val="009BF8"/>
            </a:solidFill>
          </p:spPr>
        </p:sp>
      </p:grpSp>
      <p:pic>
        <p:nvPicPr>
          <p:cNvPr id="8" name="Picture 8"/>
          <p:cNvPicPr>
            <a:picLocks noChangeAspect="1"/>
          </p:cNvPicPr>
          <p:nvPr/>
        </p:nvPicPr>
        <p:blipFill>
          <a:blip r:embed="rId8"/>
          <a:stretch>
            <a:fillRect/>
          </a:stretch>
        </p:blipFill>
        <p:spPr>
          <a:xfrm>
            <a:off x="3562387" y="3036552"/>
            <a:ext cx="2139766" cy="2139766"/>
          </a:xfrm>
          <a:prstGeom prst="rect">
            <a:avLst/>
          </a:prstGeom>
        </p:spPr>
      </p:pic>
      <p:sp>
        <p:nvSpPr>
          <p:cNvPr id="9" name="TextBox 9"/>
          <p:cNvSpPr txBox="1"/>
          <p:nvPr/>
        </p:nvSpPr>
        <p:spPr>
          <a:xfrm>
            <a:off x="3383787" y="5108276"/>
            <a:ext cx="2533112" cy="471543"/>
          </a:xfrm>
          <a:prstGeom prst="rect">
            <a:avLst/>
          </a:prstGeom>
        </p:spPr>
        <p:txBody>
          <a:bodyPr lIns="0" tIns="0" rIns="0" bIns="0" rtlCol="0" anchor="t">
            <a:spAutoFit/>
          </a:bodyPr>
          <a:lstStyle/>
          <a:p>
            <a:pPr algn="ctr">
              <a:lnSpc>
                <a:spcPts val="3556"/>
              </a:lnSpc>
            </a:pPr>
            <a:r>
              <a:rPr lang="en-US" sz="2915" spc="-160">
                <a:solidFill>
                  <a:srgbClr val="FFFFFF"/>
                </a:solidFill>
                <a:latin typeface="Poppins"/>
                <a:ea typeface="Poppins"/>
                <a:cs typeface="Poppins"/>
                <a:sym typeface="Poppins"/>
              </a:rPr>
              <a:t>Enero - Abril</a:t>
            </a:r>
          </a:p>
        </p:txBody>
      </p:sp>
      <p:grpSp>
        <p:nvGrpSpPr>
          <p:cNvPr id="10" name="Group 10"/>
          <p:cNvGrpSpPr/>
          <p:nvPr/>
        </p:nvGrpSpPr>
        <p:grpSpPr>
          <a:xfrm>
            <a:off x="1813857" y="6279927"/>
            <a:ext cx="5672972" cy="674657"/>
            <a:chOff x="0" y="0"/>
            <a:chExt cx="1390367" cy="165349"/>
          </a:xfrm>
        </p:grpSpPr>
        <p:sp>
          <p:nvSpPr>
            <p:cNvPr id="11" name="Freeform 11"/>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2" name="TextBox 12"/>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3" name="Group 13"/>
          <p:cNvGrpSpPr/>
          <p:nvPr/>
        </p:nvGrpSpPr>
        <p:grpSpPr>
          <a:xfrm>
            <a:off x="3675586" y="6415631"/>
            <a:ext cx="403249" cy="403249"/>
            <a:chOff x="0" y="0"/>
            <a:chExt cx="537665" cy="537665"/>
          </a:xfrm>
        </p:grpSpPr>
        <p:grpSp>
          <p:nvGrpSpPr>
            <p:cNvPr id="14" name="Group 14"/>
            <p:cNvGrpSpPr>
              <a:grpSpLocks noChangeAspect="1"/>
            </p:cNvGrpSpPr>
            <p:nvPr/>
          </p:nvGrpSpPr>
          <p:grpSpPr>
            <a:xfrm>
              <a:off x="0" y="0"/>
              <a:ext cx="537665" cy="537665"/>
              <a:chOff x="0" y="0"/>
              <a:chExt cx="6355080" cy="6355080"/>
            </a:xfrm>
          </p:grpSpPr>
          <p:sp>
            <p:nvSpPr>
              <p:cNvPr id="15" name="Freeform 1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47615"/>
              </a:solidFill>
            </p:spPr>
          </p:sp>
        </p:grpSp>
        <p:grpSp>
          <p:nvGrpSpPr>
            <p:cNvPr id="16" name="Group 16"/>
            <p:cNvGrpSpPr/>
            <p:nvPr/>
          </p:nvGrpSpPr>
          <p:grpSpPr>
            <a:xfrm>
              <a:off x="82983" y="82983"/>
              <a:ext cx="371698" cy="37169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47615"/>
              </a:solidFill>
            </p:spPr>
          </p:sp>
        </p:grpSp>
      </p:grpSp>
      <p:sp>
        <p:nvSpPr>
          <p:cNvPr id="18" name="TextBox 18"/>
          <p:cNvSpPr txBox="1"/>
          <p:nvPr/>
        </p:nvSpPr>
        <p:spPr>
          <a:xfrm>
            <a:off x="4208659" y="6432789"/>
            <a:ext cx="1380294" cy="330831"/>
          </a:xfrm>
          <a:prstGeom prst="rect">
            <a:avLst/>
          </a:prstGeom>
        </p:spPr>
        <p:txBody>
          <a:bodyPr lIns="0" tIns="0" rIns="0" bIns="0" rtlCol="0" anchor="t">
            <a:spAutoFit/>
          </a:bodyPr>
          <a:lstStyle/>
          <a:p>
            <a:pPr marL="0" lvl="0" indent="0" algn="l">
              <a:lnSpc>
                <a:spcPts val="2515"/>
              </a:lnSpc>
            </a:pPr>
            <a:r>
              <a:rPr lang="en-US" sz="1935" b="1" spc="19">
                <a:solidFill>
                  <a:srgbClr val="147615"/>
                </a:solidFill>
                <a:latin typeface="Poppins Bold"/>
                <a:ea typeface="Poppins Bold"/>
                <a:cs typeface="Poppins Bold"/>
                <a:sym typeface="Poppins Bold"/>
              </a:rPr>
              <a:t>EN CURSO</a:t>
            </a:r>
          </a:p>
        </p:txBody>
      </p:sp>
      <p:sp>
        <p:nvSpPr>
          <p:cNvPr id="19" name="TextBox 19"/>
          <p:cNvSpPr txBox="1"/>
          <p:nvPr/>
        </p:nvSpPr>
        <p:spPr>
          <a:xfrm>
            <a:off x="7931363" y="3212106"/>
            <a:ext cx="8987314" cy="1981343"/>
          </a:xfrm>
          <a:prstGeom prst="rect">
            <a:avLst/>
          </a:prstGeom>
        </p:spPr>
        <p:txBody>
          <a:bodyPr lIns="0" tIns="0" rIns="0" bIns="0" rtlCol="0" anchor="t">
            <a:spAutoFit/>
          </a:bodyPr>
          <a:lstStyle/>
          <a:p>
            <a:pPr marL="971981" lvl="2" indent="-323994" algn="l">
              <a:lnSpc>
                <a:spcPts val="3149"/>
              </a:lnSpc>
              <a:buFont typeface="Arial"/>
              <a:buChar char="⚬"/>
            </a:pPr>
            <a:r>
              <a:rPr lang="en-US" sz="2250">
                <a:solidFill>
                  <a:srgbClr val="191919"/>
                </a:solidFill>
                <a:latin typeface="Poppins"/>
                <a:ea typeface="Poppins"/>
                <a:cs typeface="Poppins"/>
                <a:sym typeface="Poppins"/>
              </a:rPr>
              <a:t>Terminado de cerrar segunda anualidad (Pendiente de pagos)</a:t>
            </a:r>
          </a:p>
          <a:p>
            <a:pPr marL="971981" lvl="2" indent="-323994" algn="l">
              <a:lnSpc>
                <a:spcPts val="3150"/>
              </a:lnSpc>
              <a:buFont typeface="Arial"/>
              <a:buChar char="⚬"/>
            </a:pPr>
            <a:r>
              <a:rPr lang="en-US" sz="2250">
                <a:solidFill>
                  <a:srgbClr val="191919"/>
                </a:solidFill>
                <a:latin typeface="Poppins"/>
                <a:ea typeface="Poppins"/>
                <a:cs typeface="Poppins"/>
                <a:sym typeface="Poppins"/>
              </a:rPr>
              <a:t>Actualización Licencias Tenant</a:t>
            </a:r>
          </a:p>
          <a:p>
            <a:pPr marL="971981" lvl="2" indent="-323994" algn="l">
              <a:lnSpc>
                <a:spcPts val="3149"/>
              </a:lnSpc>
              <a:buFont typeface="Arial"/>
              <a:buChar char="⚬"/>
            </a:pPr>
            <a:r>
              <a:rPr lang="en-US" sz="2250">
                <a:solidFill>
                  <a:srgbClr val="191919"/>
                </a:solidFill>
                <a:latin typeface="Poppins"/>
                <a:ea typeface="Poppins"/>
                <a:cs typeface="Poppins"/>
                <a:sym typeface="Poppins"/>
              </a:rPr>
              <a:t>Asignación de licencias</a:t>
            </a:r>
          </a:p>
          <a:p>
            <a:pPr marL="971981" lvl="2" indent="-323994" algn="l">
              <a:lnSpc>
                <a:spcPts val="3150"/>
              </a:lnSpc>
              <a:buFont typeface="Arial"/>
              <a:buChar char="⚬"/>
            </a:pPr>
            <a:r>
              <a:rPr lang="en-US" sz="2250">
                <a:solidFill>
                  <a:srgbClr val="191919"/>
                </a:solidFill>
                <a:latin typeface="Poppins"/>
                <a:ea typeface="Poppins"/>
                <a:cs typeface="Poppins"/>
                <a:sym typeface="Poppins"/>
              </a:rPr>
              <a:t>Inventario Asignación Licencias</a:t>
            </a:r>
          </a:p>
        </p:txBody>
      </p:sp>
      <p:grpSp>
        <p:nvGrpSpPr>
          <p:cNvPr id="20" name="Group 20"/>
          <p:cNvGrpSpPr/>
          <p:nvPr/>
        </p:nvGrpSpPr>
        <p:grpSpPr>
          <a:xfrm>
            <a:off x="8863377" y="2396174"/>
            <a:ext cx="3086041" cy="654007"/>
            <a:chOff x="0" y="0"/>
            <a:chExt cx="1204730" cy="255312"/>
          </a:xfrm>
        </p:grpSpPr>
        <p:sp>
          <p:nvSpPr>
            <p:cNvPr id="21" name="Freeform 21"/>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22" name="TextBox 22"/>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3" name="TextBox 23"/>
          <p:cNvSpPr txBox="1"/>
          <p:nvPr/>
        </p:nvSpPr>
        <p:spPr>
          <a:xfrm>
            <a:off x="9201502" y="2628429"/>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ACCIONES</a:t>
            </a:r>
          </a:p>
        </p:txBody>
      </p:sp>
      <p:sp>
        <p:nvSpPr>
          <p:cNvPr id="24" name="Freeform 24"/>
          <p:cNvSpPr/>
          <p:nvPr/>
        </p:nvSpPr>
        <p:spPr>
          <a:xfrm>
            <a:off x="1040524" y="909333"/>
            <a:ext cx="718512" cy="723776"/>
          </a:xfrm>
          <a:custGeom>
            <a:avLst/>
            <a:gdLst/>
            <a:ahLst/>
            <a:cxnLst/>
            <a:rect l="l" t="t" r="r" b="b"/>
            <a:pathLst>
              <a:path w="718512" h="723776">
                <a:moveTo>
                  <a:pt x="0" y="0"/>
                </a:moveTo>
                <a:lnTo>
                  <a:pt x="718512" y="0"/>
                </a:lnTo>
                <a:lnTo>
                  <a:pt x="718512" y="723776"/>
                </a:lnTo>
                <a:lnTo>
                  <a:pt x="0" y="72377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5" name="Group 25"/>
          <p:cNvGrpSpPr/>
          <p:nvPr/>
        </p:nvGrpSpPr>
        <p:grpSpPr>
          <a:xfrm>
            <a:off x="1813857" y="7097884"/>
            <a:ext cx="5672972" cy="674657"/>
            <a:chOff x="0" y="0"/>
            <a:chExt cx="1390367" cy="165349"/>
          </a:xfrm>
        </p:grpSpPr>
        <p:sp>
          <p:nvSpPr>
            <p:cNvPr id="26" name="Freeform 26">
              <a:hlinkClick r:id="rId11" tooltip="https://integratelcorp.sharepoint.com/:x:/r/sites/WorkplaceTI.TMHTP/_layouts/15/Doc.aspx?sourcedoc=%7B668DFBF4-24AB-4F91-8757-F381E69FCBA6%7D&amp;file=Gantt%20-%20Objetivos%202026%20(Unificado).xlsx&amp;action=default&amp;mobileredirect=true"/>
            </p:cNvPr>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27" name="TextBox 27"/>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sp>
        <p:nvSpPr>
          <p:cNvPr id="28" name="Freeform 28">
            <a:hlinkClick r:id="rId11" tooltip="https://integratelcorp.sharepoint.com/:x:/r/sites/WorkplaceTI.TMHTP/_layouts/15/Doc.aspx?sourcedoc=%7B668DFBF4-24AB-4F91-8757-F381E69FCBA6%7D&amp;file=Gantt%20-%20Objetivos%202026%20(Unificado).xlsx&amp;action=default&amp;mobileredirect=true"/>
          </p:cNvPr>
          <p:cNvSpPr/>
          <p:nvPr/>
        </p:nvSpPr>
        <p:spPr>
          <a:xfrm>
            <a:off x="5940465" y="7244473"/>
            <a:ext cx="381478" cy="381478"/>
          </a:xfrm>
          <a:custGeom>
            <a:avLst/>
            <a:gdLst/>
            <a:ahLst/>
            <a:cxnLst/>
            <a:rect l="l" t="t" r="r" b="b"/>
            <a:pathLst>
              <a:path w="381478" h="381478">
                <a:moveTo>
                  <a:pt x="0" y="0"/>
                </a:moveTo>
                <a:lnTo>
                  <a:pt x="381478" y="0"/>
                </a:lnTo>
                <a:lnTo>
                  <a:pt x="381478" y="381478"/>
                </a:lnTo>
                <a:lnTo>
                  <a:pt x="0" y="38147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9" name="TextBox 29"/>
          <p:cNvSpPr txBox="1"/>
          <p:nvPr/>
        </p:nvSpPr>
        <p:spPr>
          <a:xfrm>
            <a:off x="2978744" y="7252238"/>
            <a:ext cx="2961721" cy="327848"/>
          </a:xfrm>
          <a:prstGeom prst="rect">
            <a:avLst/>
          </a:prstGeom>
        </p:spPr>
        <p:txBody>
          <a:bodyPr lIns="0" tIns="0" rIns="0" bIns="0" rtlCol="0" anchor="t">
            <a:spAutoFit/>
          </a:bodyPr>
          <a:lstStyle/>
          <a:p>
            <a:pPr marL="0" lvl="0" indent="0" algn="l">
              <a:lnSpc>
                <a:spcPts val="2515"/>
              </a:lnSpc>
            </a:pPr>
            <a:r>
              <a:rPr lang="en-US" sz="1935" b="1" spc="19">
                <a:solidFill>
                  <a:srgbClr val="009BF8"/>
                </a:solidFill>
                <a:latin typeface="Poppins Bold"/>
                <a:ea typeface="Poppins Bold"/>
                <a:cs typeface="Poppins Bold"/>
                <a:sym typeface="Poppins Bold"/>
                <a:hlinkClick r:id="rId11" tooltip="https://integratelcorp.sharepoint.com/:x:/r/sites/WorkplaceTI.TMHTP/_layouts/15/Doc.aspx?sourcedoc=%7B668DFBF4-24AB-4F91-8757-F381E69FCBA6%7D&amp;file=Gantt%20-%20Objetivos%202026%20(Unificado).xlsx&amp;action=default&amp;mobileredirect=true"/>
              </a:rPr>
              <a:t>HOJA DE SEGUIMIENTO</a:t>
            </a:r>
          </a:p>
        </p:txBody>
      </p:sp>
      <p:grpSp>
        <p:nvGrpSpPr>
          <p:cNvPr id="30" name="Group 30"/>
          <p:cNvGrpSpPr/>
          <p:nvPr/>
        </p:nvGrpSpPr>
        <p:grpSpPr>
          <a:xfrm>
            <a:off x="8863377" y="6744247"/>
            <a:ext cx="3086041" cy="654007"/>
            <a:chOff x="0" y="0"/>
            <a:chExt cx="1204730" cy="255312"/>
          </a:xfrm>
        </p:grpSpPr>
        <p:sp>
          <p:nvSpPr>
            <p:cNvPr id="31" name="Freeform 31"/>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32" name="TextBox 32"/>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33" name="TextBox 33"/>
          <p:cNvSpPr txBox="1"/>
          <p:nvPr/>
        </p:nvSpPr>
        <p:spPr>
          <a:xfrm>
            <a:off x="7931363" y="7560179"/>
            <a:ext cx="8987314" cy="80965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Terminado de cerrar segunda anualidad (Pendiente de pagos)</a:t>
            </a:r>
          </a:p>
        </p:txBody>
      </p:sp>
      <p:sp>
        <p:nvSpPr>
          <p:cNvPr id="34" name="TextBox 34"/>
          <p:cNvSpPr txBox="1"/>
          <p:nvPr/>
        </p:nvSpPr>
        <p:spPr>
          <a:xfrm>
            <a:off x="9201502" y="6976502"/>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IMPEDIMENTOS</a:t>
            </a:r>
          </a:p>
        </p:txBody>
      </p:sp>
      <p:grpSp>
        <p:nvGrpSpPr>
          <p:cNvPr id="35" name="Group 35"/>
          <p:cNvGrpSpPr/>
          <p:nvPr/>
        </p:nvGrpSpPr>
        <p:grpSpPr>
          <a:xfrm>
            <a:off x="14078317" y="8884180"/>
            <a:ext cx="3180983" cy="705000"/>
            <a:chOff x="0" y="0"/>
            <a:chExt cx="4241311" cy="940001"/>
          </a:xfrm>
        </p:grpSpPr>
        <p:grpSp>
          <p:nvGrpSpPr>
            <p:cNvPr id="36" name="Group 36"/>
            <p:cNvGrpSpPr/>
            <p:nvPr/>
          </p:nvGrpSpPr>
          <p:grpSpPr>
            <a:xfrm>
              <a:off x="0" y="0"/>
              <a:ext cx="4241311" cy="940001"/>
              <a:chOff x="0" y="0"/>
              <a:chExt cx="746060" cy="165349"/>
            </a:xfrm>
          </p:grpSpPr>
          <p:sp>
            <p:nvSpPr>
              <p:cNvPr id="37" name="Freeform 37">
                <a:hlinkClick r:id="rId14" action="ppaction://hlinksldjump"/>
              </p:cNvPr>
              <p:cNvSpPr/>
              <p:nvPr/>
            </p:nvSpPr>
            <p:spPr>
              <a:xfrm>
                <a:off x="0" y="0"/>
                <a:ext cx="746060" cy="165349"/>
              </a:xfrm>
              <a:custGeom>
                <a:avLst/>
                <a:gdLst/>
                <a:ahLst/>
                <a:cxnLst/>
                <a:rect l="l" t="t" r="r" b="b"/>
                <a:pathLst>
                  <a:path w="746060" h="165349">
                    <a:moveTo>
                      <a:pt x="82675" y="0"/>
                    </a:moveTo>
                    <a:lnTo>
                      <a:pt x="663386" y="0"/>
                    </a:lnTo>
                    <a:cubicBezTo>
                      <a:pt x="709046" y="0"/>
                      <a:pt x="746060" y="37015"/>
                      <a:pt x="746060" y="82675"/>
                    </a:cubicBezTo>
                    <a:lnTo>
                      <a:pt x="746060" y="82675"/>
                    </a:lnTo>
                    <a:cubicBezTo>
                      <a:pt x="746060" y="128334"/>
                      <a:pt x="709046" y="165349"/>
                      <a:pt x="663386" y="165349"/>
                    </a:cubicBezTo>
                    <a:lnTo>
                      <a:pt x="82675" y="165349"/>
                    </a:lnTo>
                    <a:cubicBezTo>
                      <a:pt x="37015" y="165349"/>
                      <a:pt x="0" y="128334"/>
                      <a:pt x="0" y="82675"/>
                    </a:cubicBezTo>
                    <a:lnTo>
                      <a:pt x="0" y="82675"/>
                    </a:lnTo>
                    <a:cubicBezTo>
                      <a:pt x="0" y="37015"/>
                      <a:pt x="37015" y="0"/>
                      <a:pt x="82675" y="0"/>
                    </a:cubicBezTo>
                    <a:close/>
                  </a:path>
                </a:pathLst>
              </a:custGeom>
              <a:solidFill>
                <a:srgbClr val="009BF8"/>
              </a:solidFill>
            </p:spPr>
          </p:sp>
          <p:sp>
            <p:nvSpPr>
              <p:cNvPr id="38" name="TextBox 38"/>
              <p:cNvSpPr txBox="1"/>
              <p:nvPr/>
            </p:nvSpPr>
            <p:spPr>
              <a:xfrm>
                <a:off x="0" y="-133350"/>
                <a:ext cx="746060" cy="298699"/>
              </a:xfrm>
              <a:prstGeom prst="rect">
                <a:avLst/>
              </a:prstGeom>
            </p:spPr>
            <p:txBody>
              <a:bodyPr lIns="50800" tIns="50800" rIns="50800" bIns="50800" rtlCol="0" anchor="ctr"/>
              <a:lstStyle/>
              <a:p>
                <a:pPr algn="ctr">
                  <a:lnSpc>
                    <a:spcPts val="3520"/>
                  </a:lnSpc>
                </a:pPr>
                <a:endParaRPr/>
              </a:p>
            </p:txBody>
          </p:sp>
        </p:grpSp>
        <p:sp>
          <p:nvSpPr>
            <p:cNvPr id="39" name="Freeform 39"/>
            <p:cNvSpPr/>
            <p:nvPr/>
          </p:nvSpPr>
          <p:spPr>
            <a:xfrm>
              <a:off x="2750498" y="204243"/>
              <a:ext cx="531514" cy="531514"/>
            </a:xfrm>
            <a:custGeom>
              <a:avLst/>
              <a:gdLst/>
              <a:ahLst/>
              <a:cxnLst/>
              <a:rect l="l" t="t" r="r" b="b"/>
              <a:pathLst>
                <a:path w="531514" h="531514">
                  <a:moveTo>
                    <a:pt x="0" y="0"/>
                  </a:moveTo>
                  <a:lnTo>
                    <a:pt x="531514" y="0"/>
                  </a:lnTo>
                  <a:lnTo>
                    <a:pt x="531514" y="531514"/>
                  </a:lnTo>
                  <a:lnTo>
                    <a:pt x="0" y="531514"/>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40" name="TextBox 40"/>
            <p:cNvSpPr txBox="1"/>
            <p:nvPr/>
          </p:nvSpPr>
          <p:spPr>
            <a:xfrm>
              <a:off x="953455" y="226772"/>
              <a:ext cx="1610352" cy="448357"/>
            </a:xfrm>
            <a:prstGeom prst="rect">
              <a:avLst/>
            </a:prstGeom>
          </p:spPr>
          <p:txBody>
            <a:bodyPr lIns="0" tIns="0" rIns="0" bIns="0" rtlCol="0" anchor="t">
              <a:spAutoFit/>
            </a:bodyPr>
            <a:lstStyle/>
            <a:p>
              <a:pPr marL="0" lvl="0" indent="0" algn="l">
                <a:lnSpc>
                  <a:spcPts val="2628"/>
                </a:lnSpc>
              </a:pPr>
              <a:r>
                <a:rPr lang="en-US" sz="2022" b="1" spc="20">
                  <a:solidFill>
                    <a:srgbClr val="FFFFFF"/>
                  </a:solidFill>
                  <a:latin typeface="Poppins Bold"/>
                  <a:ea typeface="Poppins Bold"/>
                  <a:cs typeface="Poppins Bold"/>
                  <a:sym typeface="Poppins Bold"/>
                </a:rPr>
                <a:t>DETALLLE</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578053"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83114" y="463972"/>
            <a:ext cx="1433332" cy="1534106"/>
          </a:xfrm>
          <a:custGeom>
            <a:avLst/>
            <a:gdLst/>
            <a:ahLst/>
            <a:cxnLst/>
            <a:rect l="l" t="t" r="r" b="b"/>
            <a:pathLst>
              <a:path w="1433332" h="1534106">
                <a:moveTo>
                  <a:pt x="0" y="0"/>
                </a:moveTo>
                <a:lnTo>
                  <a:pt x="1433331" y="0"/>
                </a:lnTo>
                <a:lnTo>
                  <a:pt x="1433331" y="1534106"/>
                </a:lnTo>
                <a:lnTo>
                  <a:pt x="0" y="1534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1369324" y="2396174"/>
            <a:ext cx="6562039" cy="6148273"/>
            <a:chOff x="0" y="0"/>
            <a:chExt cx="8749386" cy="8197698"/>
          </a:xfrm>
        </p:grpSpPr>
        <p:sp>
          <p:nvSpPr>
            <p:cNvPr id="6" name="Freeform 6"/>
            <p:cNvSpPr/>
            <p:nvPr/>
          </p:nvSpPr>
          <p:spPr>
            <a:xfrm>
              <a:off x="0" y="0"/>
              <a:ext cx="8749411" cy="8197723"/>
            </a:xfrm>
            <a:custGeom>
              <a:avLst/>
              <a:gdLst/>
              <a:ahLst/>
              <a:cxnLst/>
              <a:rect l="l" t="t" r="r" b="b"/>
              <a:pathLst>
                <a:path w="8749411" h="8197723">
                  <a:moveTo>
                    <a:pt x="8222234" y="8197723"/>
                  </a:moveTo>
                  <a:lnTo>
                    <a:pt x="527177" y="8197723"/>
                  </a:lnTo>
                  <a:cubicBezTo>
                    <a:pt x="236728" y="8197723"/>
                    <a:pt x="0" y="7960995"/>
                    <a:pt x="0" y="7670546"/>
                  </a:cubicBezTo>
                  <a:lnTo>
                    <a:pt x="0" y="527177"/>
                  </a:lnTo>
                  <a:cubicBezTo>
                    <a:pt x="0" y="236728"/>
                    <a:pt x="236728" y="0"/>
                    <a:pt x="527177" y="0"/>
                  </a:cubicBezTo>
                  <a:lnTo>
                    <a:pt x="8222234" y="0"/>
                  </a:lnTo>
                  <a:cubicBezTo>
                    <a:pt x="8512683" y="0"/>
                    <a:pt x="8749411" y="236728"/>
                    <a:pt x="8749411" y="527177"/>
                  </a:cubicBezTo>
                  <a:lnTo>
                    <a:pt x="8749411" y="7670546"/>
                  </a:lnTo>
                  <a:cubicBezTo>
                    <a:pt x="8749411" y="7960995"/>
                    <a:pt x="8512683" y="8197723"/>
                    <a:pt x="8222234" y="8197723"/>
                  </a:cubicBezTo>
                  <a:close/>
                </a:path>
              </a:pathLst>
            </a:custGeom>
            <a:solidFill>
              <a:srgbClr val="009BF8"/>
            </a:solidFill>
          </p:spPr>
        </p:sp>
      </p:grpSp>
      <p:pic>
        <p:nvPicPr>
          <p:cNvPr id="7" name="Picture 7"/>
          <p:cNvPicPr>
            <a:picLocks noChangeAspect="1"/>
          </p:cNvPicPr>
          <p:nvPr/>
        </p:nvPicPr>
        <p:blipFill>
          <a:blip r:embed="rId8"/>
          <a:stretch>
            <a:fillRect/>
          </a:stretch>
        </p:blipFill>
        <p:spPr>
          <a:xfrm>
            <a:off x="3562387" y="3036552"/>
            <a:ext cx="2139766" cy="2139766"/>
          </a:xfrm>
          <a:prstGeom prst="rect">
            <a:avLst/>
          </a:prstGeom>
        </p:spPr>
      </p:pic>
      <p:grpSp>
        <p:nvGrpSpPr>
          <p:cNvPr id="8" name="Group 8"/>
          <p:cNvGrpSpPr/>
          <p:nvPr/>
        </p:nvGrpSpPr>
        <p:grpSpPr>
          <a:xfrm>
            <a:off x="1813857" y="6279927"/>
            <a:ext cx="5672972" cy="674657"/>
            <a:chOff x="0" y="0"/>
            <a:chExt cx="1390367" cy="165349"/>
          </a:xfrm>
        </p:grpSpPr>
        <p:sp>
          <p:nvSpPr>
            <p:cNvPr id="9" name="Freeform 9"/>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0" name="TextBox 10"/>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1" name="Group 11"/>
          <p:cNvGrpSpPr/>
          <p:nvPr/>
        </p:nvGrpSpPr>
        <p:grpSpPr>
          <a:xfrm>
            <a:off x="3675586" y="6415631"/>
            <a:ext cx="403249" cy="403249"/>
            <a:chOff x="0" y="0"/>
            <a:chExt cx="537665" cy="537665"/>
          </a:xfrm>
        </p:grpSpPr>
        <p:grpSp>
          <p:nvGrpSpPr>
            <p:cNvPr id="12" name="Group 12"/>
            <p:cNvGrpSpPr>
              <a:grpSpLocks noChangeAspect="1"/>
            </p:cNvGrpSpPr>
            <p:nvPr/>
          </p:nvGrpSpPr>
          <p:grpSpPr>
            <a:xfrm>
              <a:off x="0" y="0"/>
              <a:ext cx="537665" cy="537665"/>
              <a:chOff x="0" y="0"/>
              <a:chExt cx="6355080" cy="6355080"/>
            </a:xfrm>
          </p:grpSpPr>
          <p:sp>
            <p:nvSpPr>
              <p:cNvPr id="13" name="Freeform 13"/>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47615"/>
              </a:solidFill>
            </p:spPr>
          </p:sp>
        </p:grpSp>
        <p:grpSp>
          <p:nvGrpSpPr>
            <p:cNvPr id="14" name="Group 14"/>
            <p:cNvGrpSpPr/>
            <p:nvPr/>
          </p:nvGrpSpPr>
          <p:grpSpPr>
            <a:xfrm>
              <a:off x="82983" y="82983"/>
              <a:ext cx="371698" cy="37169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47615"/>
              </a:solidFill>
            </p:spPr>
          </p:sp>
        </p:grpSp>
      </p:grpSp>
      <p:sp>
        <p:nvSpPr>
          <p:cNvPr id="16" name="TextBox 16"/>
          <p:cNvSpPr txBox="1"/>
          <p:nvPr/>
        </p:nvSpPr>
        <p:spPr>
          <a:xfrm>
            <a:off x="7931363" y="3212106"/>
            <a:ext cx="8987314" cy="3524511"/>
          </a:xfrm>
          <a:prstGeom prst="rect">
            <a:avLst/>
          </a:prstGeom>
        </p:spPr>
        <p:txBody>
          <a:bodyPr lIns="0" tIns="0" rIns="0" bIns="0" rtlCol="0" anchor="t">
            <a:spAutoFit/>
          </a:bodyPr>
          <a:lstStyle/>
          <a:p>
            <a:pPr marL="971981" lvl="2" indent="-323994" algn="l">
              <a:lnSpc>
                <a:spcPts val="3149"/>
              </a:lnSpc>
              <a:buFont typeface="Arial"/>
              <a:buChar char="⚬"/>
            </a:pPr>
            <a:r>
              <a:rPr lang="en-US" sz="2250">
                <a:solidFill>
                  <a:srgbClr val="191919"/>
                </a:solidFill>
                <a:latin typeface="Poppins"/>
                <a:ea typeface="Poppins"/>
                <a:cs typeface="Poppins"/>
                <a:sym typeface="Poppins"/>
              </a:rPr>
              <a:t>Desconexion de Tenant de Telefonica – 10 Ene.</a:t>
            </a:r>
          </a:p>
          <a:p>
            <a:pPr marL="971981" lvl="2" indent="-323994" algn="l">
              <a:lnSpc>
                <a:spcPts val="3149"/>
              </a:lnSpc>
              <a:buFont typeface="Arial"/>
              <a:buChar char="⚬"/>
            </a:pPr>
            <a:r>
              <a:rPr lang="en-US" sz="2250">
                <a:solidFill>
                  <a:srgbClr val="191919"/>
                </a:solidFill>
                <a:latin typeface="Poppins"/>
                <a:ea typeface="Poppins"/>
                <a:cs typeface="Poppins"/>
                <a:sym typeface="Poppins"/>
              </a:rPr>
              <a:t>Creacion de Roles para administracion del Tenant. </a:t>
            </a:r>
          </a:p>
          <a:p>
            <a:pPr marL="971981" lvl="2" indent="-323994" algn="l">
              <a:lnSpc>
                <a:spcPts val="3149"/>
              </a:lnSpc>
              <a:buFont typeface="Arial"/>
              <a:buChar char="⚬"/>
            </a:pPr>
            <a:r>
              <a:rPr lang="en-US" sz="2250">
                <a:solidFill>
                  <a:srgbClr val="191919"/>
                </a:solidFill>
                <a:latin typeface="Poppins"/>
                <a:ea typeface="Poppins"/>
                <a:cs typeface="Poppins"/>
                <a:sym typeface="Poppins"/>
              </a:rPr>
              <a:t>Distribución de las tareas que tenia TGT entre Workplace y Seguridad.</a:t>
            </a:r>
          </a:p>
          <a:p>
            <a:pPr marL="971981" lvl="2" indent="-323994" algn="l">
              <a:lnSpc>
                <a:spcPts val="3149"/>
              </a:lnSpc>
              <a:buFont typeface="Arial"/>
              <a:buChar char="⚬"/>
            </a:pPr>
            <a:r>
              <a:rPr lang="en-US" sz="2250">
                <a:solidFill>
                  <a:srgbClr val="191919"/>
                </a:solidFill>
                <a:latin typeface="Poppins"/>
                <a:ea typeface="Poppins"/>
                <a:cs typeface="Poppins"/>
                <a:sym typeface="Poppins"/>
              </a:rPr>
              <a:t>Proceso de Remediacion para la continuidad del servicio O365.</a:t>
            </a:r>
          </a:p>
          <a:p>
            <a:pPr marL="971981" lvl="2" indent="-323994" algn="l">
              <a:lnSpc>
                <a:spcPts val="3149"/>
              </a:lnSpc>
              <a:buFont typeface="Arial"/>
              <a:buChar char="⚬"/>
            </a:pPr>
            <a:r>
              <a:rPr lang="en-US" sz="2250">
                <a:solidFill>
                  <a:srgbClr val="191919"/>
                </a:solidFill>
                <a:latin typeface="Poppins"/>
                <a:ea typeface="Poppins"/>
                <a:cs typeface="Poppins"/>
                <a:sym typeface="Poppins"/>
              </a:rPr>
              <a:t>Implemetacion de recomendaciones de Microsoft para el aumento de la puntuacion de Seguridad del Tenant (68.65%)</a:t>
            </a:r>
          </a:p>
        </p:txBody>
      </p:sp>
      <p:grpSp>
        <p:nvGrpSpPr>
          <p:cNvPr id="17" name="Group 17"/>
          <p:cNvGrpSpPr/>
          <p:nvPr/>
        </p:nvGrpSpPr>
        <p:grpSpPr>
          <a:xfrm>
            <a:off x="8863377" y="2396174"/>
            <a:ext cx="3086041" cy="654007"/>
            <a:chOff x="0" y="0"/>
            <a:chExt cx="1204730" cy="255312"/>
          </a:xfrm>
        </p:grpSpPr>
        <p:sp>
          <p:nvSpPr>
            <p:cNvPr id="18" name="Freeform 18"/>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19" name="TextBox 19"/>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0" name="Freeform 20"/>
          <p:cNvSpPr/>
          <p:nvPr/>
        </p:nvSpPr>
        <p:spPr>
          <a:xfrm>
            <a:off x="968026" y="909333"/>
            <a:ext cx="863507" cy="723776"/>
          </a:xfrm>
          <a:custGeom>
            <a:avLst/>
            <a:gdLst/>
            <a:ahLst/>
            <a:cxnLst/>
            <a:rect l="l" t="t" r="r" b="b"/>
            <a:pathLst>
              <a:path w="863507" h="723776">
                <a:moveTo>
                  <a:pt x="0" y="0"/>
                </a:moveTo>
                <a:lnTo>
                  <a:pt x="863507" y="0"/>
                </a:lnTo>
                <a:lnTo>
                  <a:pt x="863507" y="723776"/>
                </a:lnTo>
                <a:lnTo>
                  <a:pt x="0" y="72377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1" name="Group 21"/>
          <p:cNvGrpSpPr/>
          <p:nvPr/>
        </p:nvGrpSpPr>
        <p:grpSpPr>
          <a:xfrm>
            <a:off x="1813857" y="7097884"/>
            <a:ext cx="5672972" cy="674657"/>
            <a:chOff x="0" y="0"/>
            <a:chExt cx="1390367" cy="165349"/>
          </a:xfrm>
        </p:grpSpPr>
        <p:sp>
          <p:nvSpPr>
            <p:cNvPr id="22" name="Freeform 22">
              <a:hlinkClick r:id="rId11" tooltip="https://integratelcorp.sharepoint.com/:x:/r/sites/WorkplaceTI.TMHTP/_layouts/15/Doc.aspx?sourcedoc=%7B668DFBF4-24AB-4F91-8757-F381E69FCBA6%7D&amp;file=Gantt%20-%20Objetivos%202026%20(Unificado).xlsx&amp;action=default&amp;mobileredirect=true"/>
            </p:cNvPr>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23" name="TextBox 23"/>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sp>
        <p:nvSpPr>
          <p:cNvPr id="24" name="Freeform 24">
            <a:hlinkClick r:id="rId11" tooltip="https://integratelcorp.sharepoint.com/:x:/r/sites/WorkplaceTI.TMHTP/_layouts/15/Doc.aspx?sourcedoc=%7B668DFBF4-24AB-4F91-8757-F381E69FCBA6%7D&amp;file=Gantt%20-%20Objetivos%202026%20(Unificado).xlsx&amp;action=default&amp;mobileredirect=true"/>
          </p:cNvPr>
          <p:cNvSpPr/>
          <p:nvPr/>
        </p:nvSpPr>
        <p:spPr>
          <a:xfrm>
            <a:off x="5940465" y="7244473"/>
            <a:ext cx="381478" cy="381478"/>
          </a:xfrm>
          <a:custGeom>
            <a:avLst/>
            <a:gdLst/>
            <a:ahLst/>
            <a:cxnLst/>
            <a:rect l="l" t="t" r="r" b="b"/>
            <a:pathLst>
              <a:path w="381478" h="381478">
                <a:moveTo>
                  <a:pt x="0" y="0"/>
                </a:moveTo>
                <a:lnTo>
                  <a:pt x="381478" y="0"/>
                </a:lnTo>
                <a:lnTo>
                  <a:pt x="381478" y="381478"/>
                </a:lnTo>
                <a:lnTo>
                  <a:pt x="0" y="38147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5" name="TextBox 25"/>
          <p:cNvSpPr txBox="1"/>
          <p:nvPr/>
        </p:nvSpPr>
        <p:spPr>
          <a:xfrm>
            <a:off x="2432561" y="1042683"/>
            <a:ext cx="4771615" cy="902256"/>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PROYECTO TENANT</a:t>
            </a:r>
          </a:p>
        </p:txBody>
      </p:sp>
      <p:sp>
        <p:nvSpPr>
          <p:cNvPr id="26" name="TextBox 26"/>
          <p:cNvSpPr txBox="1"/>
          <p:nvPr/>
        </p:nvSpPr>
        <p:spPr>
          <a:xfrm>
            <a:off x="3383787" y="5108276"/>
            <a:ext cx="2533112" cy="471543"/>
          </a:xfrm>
          <a:prstGeom prst="rect">
            <a:avLst/>
          </a:prstGeom>
        </p:spPr>
        <p:txBody>
          <a:bodyPr lIns="0" tIns="0" rIns="0" bIns="0" rtlCol="0" anchor="t">
            <a:spAutoFit/>
          </a:bodyPr>
          <a:lstStyle/>
          <a:p>
            <a:pPr algn="ctr">
              <a:lnSpc>
                <a:spcPts val="3556"/>
              </a:lnSpc>
            </a:pPr>
            <a:r>
              <a:rPr lang="en-US" sz="2915" spc="-160">
                <a:solidFill>
                  <a:srgbClr val="FFFFFF"/>
                </a:solidFill>
                <a:latin typeface="Poppins"/>
                <a:ea typeface="Poppins"/>
                <a:cs typeface="Poppins"/>
                <a:sym typeface="Poppins"/>
              </a:rPr>
              <a:t>Enero - Marzo</a:t>
            </a:r>
          </a:p>
        </p:txBody>
      </p:sp>
      <p:sp>
        <p:nvSpPr>
          <p:cNvPr id="27" name="TextBox 27"/>
          <p:cNvSpPr txBox="1"/>
          <p:nvPr/>
        </p:nvSpPr>
        <p:spPr>
          <a:xfrm>
            <a:off x="4208659" y="6432789"/>
            <a:ext cx="1380294" cy="330831"/>
          </a:xfrm>
          <a:prstGeom prst="rect">
            <a:avLst/>
          </a:prstGeom>
        </p:spPr>
        <p:txBody>
          <a:bodyPr lIns="0" tIns="0" rIns="0" bIns="0" rtlCol="0" anchor="t">
            <a:spAutoFit/>
          </a:bodyPr>
          <a:lstStyle/>
          <a:p>
            <a:pPr marL="0" lvl="0" indent="0" algn="l">
              <a:lnSpc>
                <a:spcPts val="2515"/>
              </a:lnSpc>
            </a:pPr>
            <a:r>
              <a:rPr lang="en-US" sz="1935" b="1" spc="19">
                <a:solidFill>
                  <a:srgbClr val="147615"/>
                </a:solidFill>
                <a:latin typeface="Poppins Bold"/>
                <a:ea typeface="Poppins Bold"/>
                <a:cs typeface="Poppins Bold"/>
                <a:sym typeface="Poppins Bold"/>
              </a:rPr>
              <a:t>EN CURSO</a:t>
            </a:r>
          </a:p>
        </p:txBody>
      </p:sp>
      <p:sp>
        <p:nvSpPr>
          <p:cNvPr id="28" name="TextBox 28"/>
          <p:cNvSpPr txBox="1"/>
          <p:nvPr/>
        </p:nvSpPr>
        <p:spPr>
          <a:xfrm>
            <a:off x="9201502" y="2628429"/>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ACCIONES</a:t>
            </a:r>
          </a:p>
        </p:txBody>
      </p:sp>
      <p:sp>
        <p:nvSpPr>
          <p:cNvPr id="29" name="TextBox 29"/>
          <p:cNvSpPr txBox="1"/>
          <p:nvPr/>
        </p:nvSpPr>
        <p:spPr>
          <a:xfrm>
            <a:off x="2978744" y="7252238"/>
            <a:ext cx="2961721" cy="327848"/>
          </a:xfrm>
          <a:prstGeom prst="rect">
            <a:avLst/>
          </a:prstGeom>
        </p:spPr>
        <p:txBody>
          <a:bodyPr lIns="0" tIns="0" rIns="0" bIns="0" rtlCol="0" anchor="t">
            <a:spAutoFit/>
          </a:bodyPr>
          <a:lstStyle/>
          <a:p>
            <a:pPr marL="0" lvl="0" indent="0" algn="l">
              <a:lnSpc>
                <a:spcPts val="2515"/>
              </a:lnSpc>
            </a:pPr>
            <a:r>
              <a:rPr lang="en-US" sz="1935" b="1" spc="19">
                <a:solidFill>
                  <a:srgbClr val="009BF8"/>
                </a:solidFill>
                <a:latin typeface="Poppins Bold"/>
                <a:ea typeface="Poppins Bold"/>
                <a:cs typeface="Poppins Bold"/>
                <a:sym typeface="Poppins Bold"/>
                <a:hlinkClick r:id="rId11" tooltip="https://integratelcorp.sharepoint.com/:x:/r/sites/WorkplaceTI.TMHTP/_layouts/15/Doc.aspx?sourcedoc=%7B668DFBF4-24AB-4F91-8757-F381E69FCBA6%7D&amp;file=Gantt%20-%20Objetivos%202026%20(Unificado).xlsx&amp;action=default&amp;mobileredirect=true"/>
              </a:rPr>
              <a:t>HOJA DE SEGUIMIENTO</a:t>
            </a:r>
          </a:p>
        </p:txBody>
      </p:sp>
      <p:sp>
        <p:nvSpPr>
          <p:cNvPr id="30" name="Freeform 30"/>
          <p:cNvSpPr/>
          <p:nvPr/>
        </p:nvSpPr>
        <p:spPr>
          <a:xfrm>
            <a:off x="15712074" y="3278781"/>
            <a:ext cx="274525" cy="274525"/>
          </a:xfrm>
          <a:custGeom>
            <a:avLst/>
            <a:gdLst/>
            <a:ahLst/>
            <a:cxnLst/>
            <a:rect l="l" t="t" r="r" b="b"/>
            <a:pathLst>
              <a:path w="274525" h="274525">
                <a:moveTo>
                  <a:pt x="0" y="0"/>
                </a:moveTo>
                <a:lnTo>
                  <a:pt x="274525" y="0"/>
                </a:lnTo>
                <a:lnTo>
                  <a:pt x="274525" y="274524"/>
                </a:lnTo>
                <a:lnTo>
                  <a:pt x="0" y="27452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1" name="Freeform 31"/>
          <p:cNvSpPr/>
          <p:nvPr/>
        </p:nvSpPr>
        <p:spPr>
          <a:xfrm>
            <a:off x="16392297" y="3697343"/>
            <a:ext cx="274525" cy="274525"/>
          </a:xfrm>
          <a:custGeom>
            <a:avLst/>
            <a:gdLst/>
            <a:ahLst/>
            <a:cxnLst/>
            <a:rect l="l" t="t" r="r" b="b"/>
            <a:pathLst>
              <a:path w="274525" h="274525">
                <a:moveTo>
                  <a:pt x="0" y="0"/>
                </a:moveTo>
                <a:lnTo>
                  <a:pt x="274525" y="0"/>
                </a:lnTo>
                <a:lnTo>
                  <a:pt x="274525" y="274525"/>
                </a:lnTo>
                <a:lnTo>
                  <a:pt x="0" y="2745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2" name="Freeform 32"/>
          <p:cNvSpPr/>
          <p:nvPr/>
        </p:nvSpPr>
        <p:spPr>
          <a:xfrm>
            <a:off x="12479174" y="4478627"/>
            <a:ext cx="274525" cy="274525"/>
          </a:xfrm>
          <a:custGeom>
            <a:avLst/>
            <a:gdLst/>
            <a:ahLst/>
            <a:cxnLst/>
            <a:rect l="l" t="t" r="r" b="b"/>
            <a:pathLst>
              <a:path w="274525" h="274525">
                <a:moveTo>
                  <a:pt x="0" y="0"/>
                </a:moveTo>
                <a:lnTo>
                  <a:pt x="274524" y="0"/>
                </a:lnTo>
                <a:lnTo>
                  <a:pt x="274524" y="274525"/>
                </a:lnTo>
                <a:lnTo>
                  <a:pt x="0" y="2745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33" name="Group 33"/>
          <p:cNvGrpSpPr/>
          <p:nvPr/>
        </p:nvGrpSpPr>
        <p:grpSpPr>
          <a:xfrm>
            <a:off x="8863377" y="7003316"/>
            <a:ext cx="3086041" cy="654007"/>
            <a:chOff x="0" y="0"/>
            <a:chExt cx="1204730" cy="255312"/>
          </a:xfrm>
        </p:grpSpPr>
        <p:sp>
          <p:nvSpPr>
            <p:cNvPr id="34" name="Freeform 34"/>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35" name="TextBox 35"/>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36" name="TextBox 36"/>
          <p:cNvSpPr txBox="1"/>
          <p:nvPr/>
        </p:nvSpPr>
        <p:spPr>
          <a:xfrm>
            <a:off x="7931363" y="7819248"/>
            <a:ext cx="8987314" cy="40960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Ninguno.</a:t>
            </a:r>
          </a:p>
        </p:txBody>
      </p:sp>
      <p:sp>
        <p:nvSpPr>
          <p:cNvPr id="37" name="TextBox 37"/>
          <p:cNvSpPr txBox="1"/>
          <p:nvPr/>
        </p:nvSpPr>
        <p:spPr>
          <a:xfrm>
            <a:off x="9201502" y="7235572"/>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IMPEDIMENTOS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578053"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83114" y="463972"/>
            <a:ext cx="1433332" cy="1534106"/>
          </a:xfrm>
          <a:custGeom>
            <a:avLst/>
            <a:gdLst/>
            <a:ahLst/>
            <a:cxnLst/>
            <a:rect l="l" t="t" r="r" b="b"/>
            <a:pathLst>
              <a:path w="1433332" h="1534106">
                <a:moveTo>
                  <a:pt x="0" y="0"/>
                </a:moveTo>
                <a:lnTo>
                  <a:pt x="1433331" y="0"/>
                </a:lnTo>
                <a:lnTo>
                  <a:pt x="1433331" y="1534106"/>
                </a:lnTo>
                <a:lnTo>
                  <a:pt x="0" y="1534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1369324" y="2396174"/>
            <a:ext cx="6562039" cy="6148273"/>
            <a:chOff x="0" y="0"/>
            <a:chExt cx="8749386" cy="8197698"/>
          </a:xfrm>
        </p:grpSpPr>
        <p:sp>
          <p:nvSpPr>
            <p:cNvPr id="6" name="Freeform 6"/>
            <p:cNvSpPr/>
            <p:nvPr/>
          </p:nvSpPr>
          <p:spPr>
            <a:xfrm>
              <a:off x="0" y="0"/>
              <a:ext cx="8749411" cy="8197723"/>
            </a:xfrm>
            <a:custGeom>
              <a:avLst/>
              <a:gdLst/>
              <a:ahLst/>
              <a:cxnLst/>
              <a:rect l="l" t="t" r="r" b="b"/>
              <a:pathLst>
                <a:path w="8749411" h="8197723">
                  <a:moveTo>
                    <a:pt x="8222234" y="8197723"/>
                  </a:moveTo>
                  <a:lnTo>
                    <a:pt x="527177" y="8197723"/>
                  </a:lnTo>
                  <a:cubicBezTo>
                    <a:pt x="236728" y="8197723"/>
                    <a:pt x="0" y="7960995"/>
                    <a:pt x="0" y="7670546"/>
                  </a:cubicBezTo>
                  <a:lnTo>
                    <a:pt x="0" y="527177"/>
                  </a:lnTo>
                  <a:cubicBezTo>
                    <a:pt x="0" y="236728"/>
                    <a:pt x="236728" y="0"/>
                    <a:pt x="527177" y="0"/>
                  </a:cubicBezTo>
                  <a:lnTo>
                    <a:pt x="8222234" y="0"/>
                  </a:lnTo>
                  <a:cubicBezTo>
                    <a:pt x="8512683" y="0"/>
                    <a:pt x="8749411" y="236728"/>
                    <a:pt x="8749411" y="527177"/>
                  </a:cubicBezTo>
                  <a:lnTo>
                    <a:pt x="8749411" y="7670546"/>
                  </a:lnTo>
                  <a:cubicBezTo>
                    <a:pt x="8749411" y="7960995"/>
                    <a:pt x="8512683" y="8197723"/>
                    <a:pt x="8222234" y="8197723"/>
                  </a:cubicBezTo>
                  <a:close/>
                </a:path>
              </a:pathLst>
            </a:custGeom>
            <a:solidFill>
              <a:srgbClr val="009BF8"/>
            </a:solidFill>
          </p:spPr>
        </p:sp>
      </p:grpSp>
      <p:pic>
        <p:nvPicPr>
          <p:cNvPr id="7" name="Picture 7"/>
          <p:cNvPicPr>
            <a:picLocks noChangeAspect="1"/>
          </p:cNvPicPr>
          <p:nvPr/>
        </p:nvPicPr>
        <p:blipFill>
          <a:blip r:embed="rId8"/>
          <a:stretch>
            <a:fillRect/>
          </a:stretch>
        </p:blipFill>
        <p:spPr>
          <a:xfrm>
            <a:off x="3562387" y="3036552"/>
            <a:ext cx="2139766" cy="2139766"/>
          </a:xfrm>
          <a:prstGeom prst="rect">
            <a:avLst/>
          </a:prstGeom>
        </p:spPr>
      </p:pic>
      <p:grpSp>
        <p:nvGrpSpPr>
          <p:cNvPr id="8" name="Group 8"/>
          <p:cNvGrpSpPr/>
          <p:nvPr/>
        </p:nvGrpSpPr>
        <p:grpSpPr>
          <a:xfrm>
            <a:off x="1813857" y="6279927"/>
            <a:ext cx="5672972" cy="674657"/>
            <a:chOff x="0" y="0"/>
            <a:chExt cx="1390367" cy="165349"/>
          </a:xfrm>
        </p:grpSpPr>
        <p:sp>
          <p:nvSpPr>
            <p:cNvPr id="9" name="Freeform 9"/>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0" name="TextBox 10"/>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1" name="Group 11"/>
          <p:cNvGrpSpPr/>
          <p:nvPr/>
        </p:nvGrpSpPr>
        <p:grpSpPr>
          <a:xfrm>
            <a:off x="3675586" y="6415631"/>
            <a:ext cx="403249" cy="403249"/>
            <a:chOff x="0" y="0"/>
            <a:chExt cx="537665" cy="537665"/>
          </a:xfrm>
        </p:grpSpPr>
        <p:grpSp>
          <p:nvGrpSpPr>
            <p:cNvPr id="12" name="Group 12"/>
            <p:cNvGrpSpPr>
              <a:grpSpLocks noChangeAspect="1"/>
            </p:cNvGrpSpPr>
            <p:nvPr/>
          </p:nvGrpSpPr>
          <p:grpSpPr>
            <a:xfrm>
              <a:off x="0" y="0"/>
              <a:ext cx="537665" cy="537665"/>
              <a:chOff x="0" y="0"/>
              <a:chExt cx="6355080" cy="6355080"/>
            </a:xfrm>
          </p:grpSpPr>
          <p:sp>
            <p:nvSpPr>
              <p:cNvPr id="13" name="Freeform 13"/>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47615"/>
              </a:solidFill>
            </p:spPr>
          </p:sp>
        </p:grpSp>
        <p:grpSp>
          <p:nvGrpSpPr>
            <p:cNvPr id="14" name="Group 14"/>
            <p:cNvGrpSpPr/>
            <p:nvPr/>
          </p:nvGrpSpPr>
          <p:grpSpPr>
            <a:xfrm>
              <a:off x="82983" y="82983"/>
              <a:ext cx="371698" cy="37169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47615"/>
              </a:solidFill>
            </p:spPr>
          </p:sp>
        </p:grpSp>
      </p:grpSp>
      <p:grpSp>
        <p:nvGrpSpPr>
          <p:cNvPr id="16" name="Group 16"/>
          <p:cNvGrpSpPr/>
          <p:nvPr/>
        </p:nvGrpSpPr>
        <p:grpSpPr>
          <a:xfrm>
            <a:off x="8863377" y="2396174"/>
            <a:ext cx="3086041" cy="654007"/>
            <a:chOff x="0" y="0"/>
            <a:chExt cx="1204730" cy="255312"/>
          </a:xfrm>
        </p:grpSpPr>
        <p:sp>
          <p:nvSpPr>
            <p:cNvPr id="17" name="Freeform 17"/>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18" name="TextBox 18"/>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grpSp>
        <p:nvGrpSpPr>
          <p:cNvPr id="19" name="Group 19"/>
          <p:cNvGrpSpPr/>
          <p:nvPr/>
        </p:nvGrpSpPr>
        <p:grpSpPr>
          <a:xfrm>
            <a:off x="8863377" y="5621956"/>
            <a:ext cx="3086041" cy="654007"/>
            <a:chOff x="0" y="0"/>
            <a:chExt cx="1204730" cy="255312"/>
          </a:xfrm>
        </p:grpSpPr>
        <p:sp>
          <p:nvSpPr>
            <p:cNvPr id="20" name="Freeform 20"/>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21" name="TextBox 21"/>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2" name="Freeform 22"/>
          <p:cNvSpPr/>
          <p:nvPr/>
        </p:nvSpPr>
        <p:spPr>
          <a:xfrm>
            <a:off x="1011797" y="893439"/>
            <a:ext cx="775965" cy="775965"/>
          </a:xfrm>
          <a:custGeom>
            <a:avLst/>
            <a:gdLst/>
            <a:ahLst/>
            <a:cxnLst/>
            <a:rect l="l" t="t" r="r" b="b"/>
            <a:pathLst>
              <a:path w="775965" h="775965">
                <a:moveTo>
                  <a:pt x="0" y="0"/>
                </a:moveTo>
                <a:lnTo>
                  <a:pt x="775965" y="0"/>
                </a:lnTo>
                <a:lnTo>
                  <a:pt x="775965" y="775966"/>
                </a:lnTo>
                <a:lnTo>
                  <a:pt x="0" y="77596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3" name="Group 23"/>
          <p:cNvGrpSpPr/>
          <p:nvPr/>
        </p:nvGrpSpPr>
        <p:grpSpPr>
          <a:xfrm>
            <a:off x="1813857" y="7097884"/>
            <a:ext cx="5672972" cy="674657"/>
            <a:chOff x="0" y="0"/>
            <a:chExt cx="1390367" cy="165349"/>
          </a:xfrm>
        </p:grpSpPr>
        <p:sp>
          <p:nvSpPr>
            <p:cNvPr id="24" name="Freeform 24">
              <a:hlinkClick r:id="rId11" tooltip="https://integratelcorp.sharepoint.com/:x:/r/sites/WorkplaceTI.TMHTP/_layouts/15/Doc.aspx?sourcedoc=%7B668DFBF4-24AB-4F91-8757-F381E69FCBA6%7D&amp;file=Gantt%20-%20Objetivos%202026%20(Unificado).xlsx&amp;action=default&amp;mobileredirect=true"/>
            </p:cNvPr>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25" name="TextBox 25"/>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sp>
        <p:nvSpPr>
          <p:cNvPr id="26" name="Freeform 26">
            <a:hlinkClick r:id="rId11" tooltip="https://integratelcorp.sharepoint.com/:x:/r/sites/WorkplaceTI.TMHTP/_layouts/15/Doc.aspx?sourcedoc=%7B668DFBF4-24AB-4F91-8757-F381E69FCBA6%7D&amp;file=Gantt%20-%20Objetivos%202026%20(Unificado).xlsx&amp;action=default&amp;mobileredirect=true"/>
          </p:cNvPr>
          <p:cNvSpPr/>
          <p:nvPr/>
        </p:nvSpPr>
        <p:spPr>
          <a:xfrm>
            <a:off x="5940465" y="7244473"/>
            <a:ext cx="381478" cy="381478"/>
          </a:xfrm>
          <a:custGeom>
            <a:avLst/>
            <a:gdLst/>
            <a:ahLst/>
            <a:cxnLst/>
            <a:rect l="l" t="t" r="r" b="b"/>
            <a:pathLst>
              <a:path w="381478" h="381478">
                <a:moveTo>
                  <a:pt x="0" y="0"/>
                </a:moveTo>
                <a:lnTo>
                  <a:pt x="381478" y="0"/>
                </a:lnTo>
                <a:lnTo>
                  <a:pt x="381478" y="381478"/>
                </a:lnTo>
                <a:lnTo>
                  <a:pt x="0" y="38147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7" name="TextBox 27"/>
          <p:cNvSpPr txBox="1"/>
          <p:nvPr/>
        </p:nvSpPr>
        <p:spPr>
          <a:xfrm>
            <a:off x="2432561" y="1042683"/>
            <a:ext cx="4654039" cy="902256"/>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PROYECTO INTUNE</a:t>
            </a:r>
          </a:p>
        </p:txBody>
      </p:sp>
      <p:sp>
        <p:nvSpPr>
          <p:cNvPr id="28" name="TextBox 28"/>
          <p:cNvSpPr txBox="1"/>
          <p:nvPr/>
        </p:nvSpPr>
        <p:spPr>
          <a:xfrm>
            <a:off x="3383787" y="5108276"/>
            <a:ext cx="2533112" cy="471543"/>
          </a:xfrm>
          <a:prstGeom prst="rect">
            <a:avLst/>
          </a:prstGeom>
        </p:spPr>
        <p:txBody>
          <a:bodyPr lIns="0" tIns="0" rIns="0" bIns="0" rtlCol="0" anchor="t">
            <a:spAutoFit/>
          </a:bodyPr>
          <a:lstStyle/>
          <a:p>
            <a:pPr algn="ctr">
              <a:lnSpc>
                <a:spcPts val="3556"/>
              </a:lnSpc>
            </a:pPr>
            <a:r>
              <a:rPr lang="en-US" sz="2915" spc="-160">
                <a:solidFill>
                  <a:srgbClr val="FFFFFF"/>
                </a:solidFill>
                <a:latin typeface="Poppins"/>
                <a:ea typeface="Poppins"/>
                <a:cs typeface="Poppins"/>
                <a:sym typeface="Poppins"/>
              </a:rPr>
              <a:t>Enero - Mayo</a:t>
            </a:r>
          </a:p>
        </p:txBody>
      </p:sp>
      <p:sp>
        <p:nvSpPr>
          <p:cNvPr id="29" name="TextBox 29"/>
          <p:cNvSpPr txBox="1"/>
          <p:nvPr/>
        </p:nvSpPr>
        <p:spPr>
          <a:xfrm>
            <a:off x="4208659" y="6432789"/>
            <a:ext cx="1380294" cy="330831"/>
          </a:xfrm>
          <a:prstGeom prst="rect">
            <a:avLst/>
          </a:prstGeom>
        </p:spPr>
        <p:txBody>
          <a:bodyPr lIns="0" tIns="0" rIns="0" bIns="0" rtlCol="0" anchor="t">
            <a:spAutoFit/>
          </a:bodyPr>
          <a:lstStyle/>
          <a:p>
            <a:pPr marL="0" lvl="0" indent="0" algn="l">
              <a:lnSpc>
                <a:spcPts val="2515"/>
              </a:lnSpc>
            </a:pPr>
            <a:r>
              <a:rPr lang="en-US" sz="1935" b="1" spc="19">
                <a:solidFill>
                  <a:srgbClr val="147615"/>
                </a:solidFill>
                <a:latin typeface="Poppins Bold"/>
                <a:ea typeface="Poppins Bold"/>
                <a:cs typeface="Poppins Bold"/>
                <a:sym typeface="Poppins Bold"/>
              </a:rPr>
              <a:t>EN CURSO</a:t>
            </a:r>
          </a:p>
        </p:txBody>
      </p:sp>
      <p:sp>
        <p:nvSpPr>
          <p:cNvPr id="30" name="TextBox 30"/>
          <p:cNvSpPr txBox="1"/>
          <p:nvPr/>
        </p:nvSpPr>
        <p:spPr>
          <a:xfrm>
            <a:off x="7931363" y="3212106"/>
            <a:ext cx="8987314" cy="1962411"/>
          </a:xfrm>
          <a:prstGeom prst="rect">
            <a:avLst/>
          </a:prstGeom>
        </p:spPr>
        <p:txBody>
          <a:bodyPr lIns="0" tIns="0" rIns="0" bIns="0" rtlCol="0" anchor="t">
            <a:spAutoFit/>
          </a:bodyPr>
          <a:lstStyle/>
          <a:p>
            <a:pPr marL="971981" lvl="2" indent="-323994" algn="l">
              <a:lnSpc>
                <a:spcPts val="3149"/>
              </a:lnSpc>
              <a:buFont typeface="Arial"/>
              <a:buChar char="⚬"/>
            </a:pPr>
            <a:r>
              <a:rPr lang="en-US" sz="2250">
                <a:solidFill>
                  <a:srgbClr val="191919"/>
                </a:solidFill>
                <a:latin typeface="Poppins"/>
                <a:ea typeface="Poppins"/>
                <a:cs typeface="Poppins"/>
                <a:sym typeface="Poppins"/>
              </a:rPr>
              <a:t>Reunión con seguridad (Configuración).</a:t>
            </a:r>
          </a:p>
          <a:p>
            <a:pPr marL="971981" lvl="2" indent="-323994" algn="l">
              <a:lnSpc>
                <a:spcPts val="3149"/>
              </a:lnSpc>
              <a:buFont typeface="Arial"/>
              <a:buChar char="⚬"/>
            </a:pPr>
            <a:r>
              <a:rPr lang="en-US" sz="2250">
                <a:solidFill>
                  <a:srgbClr val="191919"/>
                </a:solidFill>
                <a:latin typeface="Poppins"/>
                <a:ea typeface="Poppins"/>
                <a:cs typeface="Poppins"/>
                <a:sym typeface="Poppins"/>
              </a:rPr>
              <a:t>Configurar tenant Intune writeback de dispositivos</a:t>
            </a:r>
          </a:p>
          <a:p>
            <a:pPr marL="971981" lvl="2" indent="-323994" algn="l">
              <a:lnSpc>
                <a:spcPts val="3149"/>
              </a:lnSpc>
              <a:buFont typeface="Arial"/>
              <a:buChar char="⚬"/>
            </a:pPr>
            <a:r>
              <a:rPr lang="en-US" sz="2250">
                <a:solidFill>
                  <a:srgbClr val="191919"/>
                </a:solidFill>
                <a:latin typeface="Poppins"/>
                <a:ea typeface="Poppins"/>
                <a:cs typeface="Poppins"/>
                <a:sym typeface="Poppins"/>
              </a:rPr>
              <a:t>Enrolar dispositivos.</a:t>
            </a:r>
          </a:p>
          <a:p>
            <a:pPr marL="971981" lvl="2" indent="-323994" algn="l">
              <a:lnSpc>
                <a:spcPts val="3149"/>
              </a:lnSpc>
              <a:buFont typeface="Arial"/>
              <a:buChar char="⚬"/>
            </a:pPr>
            <a:r>
              <a:rPr lang="en-US" sz="2250">
                <a:solidFill>
                  <a:srgbClr val="191919"/>
                </a:solidFill>
                <a:latin typeface="Poppins"/>
                <a:ea typeface="Poppins"/>
                <a:cs typeface="Poppins"/>
                <a:sym typeface="Poppins"/>
              </a:rPr>
              <a:t>Validar despliegue.</a:t>
            </a:r>
          </a:p>
          <a:p>
            <a:pPr marL="971981" lvl="2" indent="-323994" algn="l">
              <a:lnSpc>
                <a:spcPts val="3149"/>
              </a:lnSpc>
              <a:buFont typeface="Arial"/>
              <a:buChar char="⚬"/>
            </a:pPr>
            <a:r>
              <a:rPr lang="en-US" sz="2250">
                <a:solidFill>
                  <a:srgbClr val="191919"/>
                </a:solidFill>
                <a:latin typeface="Poppins"/>
                <a:ea typeface="Poppins"/>
                <a:cs typeface="Poppins"/>
                <a:sym typeface="Poppins"/>
              </a:rPr>
              <a:t>Validar políticas.</a:t>
            </a:r>
          </a:p>
        </p:txBody>
      </p:sp>
      <p:sp>
        <p:nvSpPr>
          <p:cNvPr id="31" name="TextBox 31"/>
          <p:cNvSpPr txBox="1"/>
          <p:nvPr/>
        </p:nvSpPr>
        <p:spPr>
          <a:xfrm>
            <a:off x="9201502" y="2628429"/>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ACCIONES</a:t>
            </a:r>
          </a:p>
        </p:txBody>
      </p:sp>
      <p:sp>
        <p:nvSpPr>
          <p:cNvPr id="32" name="TextBox 32"/>
          <p:cNvSpPr txBox="1"/>
          <p:nvPr/>
        </p:nvSpPr>
        <p:spPr>
          <a:xfrm>
            <a:off x="7931363" y="6437888"/>
            <a:ext cx="8987314" cy="80965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Reunion con seguridad/Configuración. (posible bloqueante identificado) </a:t>
            </a:r>
          </a:p>
        </p:txBody>
      </p:sp>
      <p:sp>
        <p:nvSpPr>
          <p:cNvPr id="33" name="TextBox 33"/>
          <p:cNvSpPr txBox="1"/>
          <p:nvPr/>
        </p:nvSpPr>
        <p:spPr>
          <a:xfrm>
            <a:off x="9201502" y="5854212"/>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IMPEDIMENTOS</a:t>
            </a:r>
          </a:p>
        </p:txBody>
      </p:sp>
      <p:sp>
        <p:nvSpPr>
          <p:cNvPr id="34" name="TextBox 34"/>
          <p:cNvSpPr txBox="1"/>
          <p:nvPr/>
        </p:nvSpPr>
        <p:spPr>
          <a:xfrm>
            <a:off x="2978744" y="7252238"/>
            <a:ext cx="2961721" cy="327848"/>
          </a:xfrm>
          <a:prstGeom prst="rect">
            <a:avLst/>
          </a:prstGeom>
        </p:spPr>
        <p:txBody>
          <a:bodyPr lIns="0" tIns="0" rIns="0" bIns="0" rtlCol="0" anchor="t">
            <a:spAutoFit/>
          </a:bodyPr>
          <a:lstStyle/>
          <a:p>
            <a:pPr marL="0" lvl="0" indent="0" algn="l">
              <a:lnSpc>
                <a:spcPts val="2515"/>
              </a:lnSpc>
            </a:pPr>
            <a:r>
              <a:rPr lang="en-US" sz="1935" b="1" spc="19">
                <a:solidFill>
                  <a:srgbClr val="009BF8"/>
                </a:solidFill>
                <a:latin typeface="Poppins Bold"/>
                <a:ea typeface="Poppins Bold"/>
                <a:cs typeface="Poppins Bold"/>
                <a:sym typeface="Poppins Bold"/>
                <a:hlinkClick r:id="rId11" tooltip="https://integratelcorp.sharepoint.com/:x:/r/sites/WorkplaceTI.TMHTP/_layouts/15/Doc.aspx?sourcedoc=%7B668DFBF4-24AB-4F91-8757-F381E69FCBA6%7D&amp;file=Gantt%20-%20Objetivos%202026%20(Unificado).xlsx&amp;action=default&amp;mobileredirect=true"/>
              </a:rPr>
              <a:t>HOJA DE SEGUIMIENTO</a:t>
            </a:r>
          </a:p>
        </p:txBody>
      </p:sp>
      <p:grpSp>
        <p:nvGrpSpPr>
          <p:cNvPr id="35" name="Group 35"/>
          <p:cNvGrpSpPr/>
          <p:nvPr/>
        </p:nvGrpSpPr>
        <p:grpSpPr>
          <a:xfrm>
            <a:off x="14078317" y="8884180"/>
            <a:ext cx="3180983" cy="705000"/>
            <a:chOff x="0" y="0"/>
            <a:chExt cx="4241311" cy="940001"/>
          </a:xfrm>
        </p:grpSpPr>
        <p:grpSp>
          <p:nvGrpSpPr>
            <p:cNvPr id="36" name="Group 36"/>
            <p:cNvGrpSpPr/>
            <p:nvPr/>
          </p:nvGrpSpPr>
          <p:grpSpPr>
            <a:xfrm>
              <a:off x="0" y="0"/>
              <a:ext cx="4241311" cy="940001"/>
              <a:chOff x="0" y="0"/>
              <a:chExt cx="746060" cy="165349"/>
            </a:xfrm>
          </p:grpSpPr>
          <p:sp>
            <p:nvSpPr>
              <p:cNvPr id="37" name="Freeform 37">
                <a:hlinkClick r:id="rId14" action="ppaction://hlinksldjump"/>
              </p:cNvPr>
              <p:cNvSpPr/>
              <p:nvPr/>
            </p:nvSpPr>
            <p:spPr>
              <a:xfrm>
                <a:off x="0" y="0"/>
                <a:ext cx="746060" cy="165349"/>
              </a:xfrm>
              <a:custGeom>
                <a:avLst/>
                <a:gdLst/>
                <a:ahLst/>
                <a:cxnLst/>
                <a:rect l="l" t="t" r="r" b="b"/>
                <a:pathLst>
                  <a:path w="746060" h="165349">
                    <a:moveTo>
                      <a:pt x="82675" y="0"/>
                    </a:moveTo>
                    <a:lnTo>
                      <a:pt x="663386" y="0"/>
                    </a:lnTo>
                    <a:cubicBezTo>
                      <a:pt x="709046" y="0"/>
                      <a:pt x="746060" y="37015"/>
                      <a:pt x="746060" y="82675"/>
                    </a:cubicBezTo>
                    <a:lnTo>
                      <a:pt x="746060" y="82675"/>
                    </a:lnTo>
                    <a:cubicBezTo>
                      <a:pt x="746060" y="128334"/>
                      <a:pt x="709046" y="165349"/>
                      <a:pt x="663386" y="165349"/>
                    </a:cubicBezTo>
                    <a:lnTo>
                      <a:pt x="82675" y="165349"/>
                    </a:lnTo>
                    <a:cubicBezTo>
                      <a:pt x="37015" y="165349"/>
                      <a:pt x="0" y="128334"/>
                      <a:pt x="0" y="82675"/>
                    </a:cubicBezTo>
                    <a:lnTo>
                      <a:pt x="0" y="82675"/>
                    </a:lnTo>
                    <a:cubicBezTo>
                      <a:pt x="0" y="37015"/>
                      <a:pt x="37015" y="0"/>
                      <a:pt x="82675" y="0"/>
                    </a:cubicBezTo>
                    <a:close/>
                  </a:path>
                </a:pathLst>
              </a:custGeom>
              <a:solidFill>
                <a:srgbClr val="009BF8"/>
              </a:solidFill>
            </p:spPr>
          </p:sp>
          <p:sp>
            <p:nvSpPr>
              <p:cNvPr id="38" name="TextBox 38"/>
              <p:cNvSpPr txBox="1"/>
              <p:nvPr/>
            </p:nvSpPr>
            <p:spPr>
              <a:xfrm>
                <a:off x="0" y="-133350"/>
                <a:ext cx="746060" cy="298699"/>
              </a:xfrm>
              <a:prstGeom prst="rect">
                <a:avLst/>
              </a:prstGeom>
            </p:spPr>
            <p:txBody>
              <a:bodyPr lIns="50800" tIns="50800" rIns="50800" bIns="50800" rtlCol="0" anchor="ctr"/>
              <a:lstStyle/>
              <a:p>
                <a:pPr algn="ctr">
                  <a:lnSpc>
                    <a:spcPts val="3520"/>
                  </a:lnSpc>
                </a:pPr>
                <a:endParaRPr/>
              </a:p>
            </p:txBody>
          </p:sp>
        </p:grpSp>
        <p:sp>
          <p:nvSpPr>
            <p:cNvPr id="39" name="Freeform 39"/>
            <p:cNvSpPr/>
            <p:nvPr/>
          </p:nvSpPr>
          <p:spPr>
            <a:xfrm>
              <a:off x="2750498" y="204243"/>
              <a:ext cx="531514" cy="531514"/>
            </a:xfrm>
            <a:custGeom>
              <a:avLst/>
              <a:gdLst/>
              <a:ahLst/>
              <a:cxnLst/>
              <a:rect l="l" t="t" r="r" b="b"/>
              <a:pathLst>
                <a:path w="531514" h="531514">
                  <a:moveTo>
                    <a:pt x="0" y="0"/>
                  </a:moveTo>
                  <a:lnTo>
                    <a:pt x="531514" y="0"/>
                  </a:lnTo>
                  <a:lnTo>
                    <a:pt x="531514" y="531514"/>
                  </a:lnTo>
                  <a:lnTo>
                    <a:pt x="0" y="531514"/>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40" name="TextBox 40"/>
            <p:cNvSpPr txBox="1"/>
            <p:nvPr/>
          </p:nvSpPr>
          <p:spPr>
            <a:xfrm>
              <a:off x="953455" y="226772"/>
              <a:ext cx="1610352" cy="448357"/>
            </a:xfrm>
            <a:prstGeom prst="rect">
              <a:avLst/>
            </a:prstGeom>
          </p:spPr>
          <p:txBody>
            <a:bodyPr lIns="0" tIns="0" rIns="0" bIns="0" rtlCol="0" anchor="t">
              <a:spAutoFit/>
            </a:bodyPr>
            <a:lstStyle/>
            <a:p>
              <a:pPr marL="0" lvl="0" indent="0" algn="l">
                <a:lnSpc>
                  <a:spcPts val="2628"/>
                </a:lnSpc>
              </a:pPr>
              <a:r>
                <a:rPr lang="en-US" sz="2022" b="1" spc="20" dirty="0">
                  <a:solidFill>
                    <a:srgbClr val="FFFFFF"/>
                  </a:solidFill>
                  <a:latin typeface="Poppins Bold"/>
                  <a:ea typeface="Poppins Bold"/>
                  <a:cs typeface="Poppins Bold"/>
                  <a:sym typeface="Poppins Bold"/>
                </a:rPr>
                <a:t>DETALLLE</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578053"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83114" y="463972"/>
            <a:ext cx="1433332" cy="1534106"/>
          </a:xfrm>
          <a:custGeom>
            <a:avLst/>
            <a:gdLst/>
            <a:ahLst/>
            <a:cxnLst/>
            <a:rect l="l" t="t" r="r" b="b"/>
            <a:pathLst>
              <a:path w="1433332" h="1534106">
                <a:moveTo>
                  <a:pt x="0" y="0"/>
                </a:moveTo>
                <a:lnTo>
                  <a:pt x="1433331" y="0"/>
                </a:lnTo>
                <a:lnTo>
                  <a:pt x="1433331" y="1534106"/>
                </a:lnTo>
                <a:lnTo>
                  <a:pt x="0" y="1534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1369324" y="2396174"/>
            <a:ext cx="6562039" cy="6148273"/>
            <a:chOff x="0" y="0"/>
            <a:chExt cx="8749386" cy="8197698"/>
          </a:xfrm>
        </p:grpSpPr>
        <p:sp>
          <p:nvSpPr>
            <p:cNvPr id="6" name="Freeform 6"/>
            <p:cNvSpPr/>
            <p:nvPr/>
          </p:nvSpPr>
          <p:spPr>
            <a:xfrm>
              <a:off x="0" y="0"/>
              <a:ext cx="8749411" cy="8197723"/>
            </a:xfrm>
            <a:custGeom>
              <a:avLst/>
              <a:gdLst/>
              <a:ahLst/>
              <a:cxnLst/>
              <a:rect l="l" t="t" r="r" b="b"/>
              <a:pathLst>
                <a:path w="8749411" h="8197723">
                  <a:moveTo>
                    <a:pt x="8222234" y="8197723"/>
                  </a:moveTo>
                  <a:lnTo>
                    <a:pt x="527177" y="8197723"/>
                  </a:lnTo>
                  <a:cubicBezTo>
                    <a:pt x="236728" y="8197723"/>
                    <a:pt x="0" y="7960995"/>
                    <a:pt x="0" y="7670546"/>
                  </a:cubicBezTo>
                  <a:lnTo>
                    <a:pt x="0" y="527177"/>
                  </a:lnTo>
                  <a:cubicBezTo>
                    <a:pt x="0" y="236728"/>
                    <a:pt x="236728" y="0"/>
                    <a:pt x="527177" y="0"/>
                  </a:cubicBezTo>
                  <a:lnTo>
                    <a:pt x="8222234" y="0"/>
                  </a:lnTo>
                  <a:cubicBezTo>
                    <a:pt x="8512683" y="0"/>
                    <a:pt x="8749411" y="236728"/>
                    <a:pt x="8749411" y="527177"/>
                  </a:cubicBezTo>
                  <a:lnTo>
                    <a:pt x="8749411" y="7670546"/>
                  </a:lnTo>
                  <a:cubicBezTo>
                    <a:pt x="8749411" y="7960995"/>
                    <a:pt x="8512683" y="8197723"/>
                    <a:pt x="8222234" y="8197723"/>
                  </a:cubicBezTo>
                  <a:close/>
                </a:path>
              </a:pathLst>
            </a:custGeom>
            <a:solidFill>
              <a:srgbClr val="009BF8"/>
            </a:solidFill>
          </p:spPr>
        </p:sp>
      </p:grpSp>
      <p:pic>
        <p:nvPicPr>
          <p:cNvPr id="7" name="Picture 7"/>
          <p:cNvPicPr>
            <a:picLocks noChangeAspect="1"/>
          </p:cNvPicPr>
          <p:nvPr/>
        </p:nvPicPr>
        <p:blipFill>
          <a:blip r:embed="rId8"/>
          <a:stretch>
            <a:fillRect/>
          </a:stretch>
        </p:blipFill>
        <p:spPr>
          <a:xfrm>
            <a:off x="3562387" y="3036552"/>
            <a:ext cx="2139766" cy="2139766"/>
          </a:xfrm>
          <a:prstGeom prst="rect">
            <a:avLst/>
          </a:prstGeom>
        </p:spPr>
      </p:pic>
      <p:grpSp>
        <p:nvGrpSpPr>
          <p:cNvPr id="8" name="Group 8"/>
          <p:cNvGrpSpPr/>
          <p:nvPr/>
        </p:nvGrpSpPr>
        <p:grpSpPr>
          <a:xfrm>
            <a:off x="1813857" y="6279927"/>
            <a:ext cx="5672972" cy="674657"/>
            <a:chOff x="0" y="0"/>
            <a:chExt cx="1390367" cy="165349"/>
          </a:xfrm>
        </p:grpSpPr>
        <p:sp>
          <p:nvSpPr>
            <p:cNvPr id="9" name="Freeform 9"/>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0" name="TextBox 10"/>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1" name="Group 11"/>
          <p:cNvGrpSpPr/>
          <p:nvPr/>
        </p:nvGrpSpPr>
        <p:grpSpPr>
          <a:xfrm>
            <a:off x="8863377" y="2396174"/>
            <a:ext cx="3086041" cy="654007"/>
            <a:chOff x="0" y="0"/>
            <a:chExt cx="1204730" cy="255312"/>
          </a:xfrm>
        </p:grpSpPr>
        <p:sp>
          <p:nvSpPr>
            <p:cNvPr id="12" name="Freeform 12"/>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13" name="TextBox 13"/>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14" name="TextBox 14"/>
          <p:cNvSpPr txBox="1"/>
          <p:nvPr/>
        </p:nvSpPr>
        <p:spPr>
          <a:xfrm>
            <a:off x="2432561" y="1042683"/>
            <a:ext cx="4654039" cy="902256"/>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PROYECTO COPILOT CHAT</a:t>
            </a:r>
          </a:p>
        </p:txBody>
      </p:sp>
      <p:sp>
        <p:nvSpPr>
          <p:cNvPr id="15" name="TextBox 15"/>
          <p:cNvSpPr txBox="1"/>
          <p:nvPr/>
        </p:nvSpPr>
        <p:spPr>
          <a:xfrm>
            <a:off x="3383787" y="5108276"/>
            <a:ext cx="2533112" cy="471543"/>
          </a:xfrm>
          <a:prstGeom prst="rect">
            <a:avLst/>
          </a:prstGeom>
        </p:spPr>
        <p:txBody>
          <a:bodyPr lIns="0" tIns="0" rIns="0" bIns="0" rtlCol="0" anchor="t">
            <a:spAutoFit/>
          </a:bodyPr>
          <a:lstStyle/>
          <a:p>
            <a:pPr algn="ctr">
              <a:lnSpc>
                <a:spcPts val="3556"/>
              </a:lnSpc>
            </a:pPr>
            <a:r>
              <a:rPr lang="en-US" sz="2915" spc="-160">
                <a:solidFill>
                  <a:srgbClr val="FFFFFF"/>
                </a:solidFill>
                <a:latin typeface="Poppins"/>
                <a:ea typeface="Poppins"/>
                <a:cs typeface="Poppins"/>
                <a:sym typeface="Poppins"/>
              </a:rPr>
              <a:t>Enero - Mayo</a:t>
            </a:r>
          </a:p>
        </p:txBody>
      </p:sp>
      <p:sp>
        <p:nvSpPr>
          <p:cNvPr id="16" name="TextBox 16"/>
          <p:cNvSpPr txBox="1"/>
          <p:nvPr/>
        </p:nvSpPr>
        <p:spPr>
          <a:xfrm>
            <a:off x="4208659" y="6432789"/>
            <a:ext cx="1380294" cy="330831"/>
          </a:xfrm>
          <a:prstGeom prst="rect">
            <a:avLst/>
          </a:prstGeom>
        </p:spPr>
        <p:txBody>
          <a:bodyPr lIns="0" tIns="0" rIns="0" bIns="0" rtlCol="0" anchor="t">
            <a:spAutoFit/>
          </a:bodyPr>
          <a:lstStyle/>
          <a:p>
            <a:pPr marL="0" lvl="0" indent="0" algn="l">
              <a:lnSpc>
                <a:spcPts val="2515"/>
              </a:lnSpc>
            </a:pPr>
            <a:r>
              <a:rPr lang="en-US" sz="1935" b="1" spc="19">
                <a:solidFill>
                  <a:srgbClr val="147615"/>
                </a:solidFill>
                <a:latin typeface="Poppins Bold"/>
                <a:ea typeface="Poppins Bold"/>
                <a:cs typeface="Poppins Bold"/>
                <a:sym typeface="Poppins Bold"/>
              </a:rPr>
              <a:t>EN CURSO</a:t>
            </a:r>
          </a:p>
        </p:txBody>
      </p:sp>
      <p:sp>
        <p:nvSpPr>
          <p:cNvPr id="17" name="TextBox 17"/>
          <p:cNvSpPr txBox="1"/>
          <p:nvPr/>
        </p:nvSpPr>
        <p:spPr>
          <a:xfrm>
            <a:off x="7931363" y="3212106"/>
            <a:ext cx="8987314" cy="1571886"/>
          </a:xfrm>
          <a:prstGeom prst="rect">
            <a:avLst/>
          </a:prstGeom>
        </p:spPr>
        <p:txBody>
          <a:bodyPr lIns="0" tIns="0" rIns="0" bIns="0" rtlCol="0" anchor="t">
            <a:spAutoFit/>
          </a:bodyPr>
          <a:lstStyle/>
          <a:p>
            <a:pPr marL="971981" lvl="2" indent="-323994" algn="l">
              <a:lnSpc>
                <a:spcPts val="3149"/>
              </a:lnSpc>
              <a:buFont typeface="Arial"/>
              <a:buChar char="⚬"/>
            </a:pPr>
            <a:r>
              <a:rPr lang="en-US" sz="2250">
                <a:solidFill>
                  <a:srgbClr val="191919"/>
                </a:solidFill>
                <a:latin typeface="Poppins"/>
                <a:ea typeface="Poppins"/>
                <a:cs typeface="Poppins"/>
                <a:sym typeface="Poppins"/>
              </a:rPr>
              <a:t>Implementación con grupo reducido.</a:t>
            </a:r>
          </a:p>
          <a:p>
            <a:pPr marL="971981" lvl="2" indent="-323994" algn="l">
              <a:lnSpc>
                <a:spcPts val="3149"/>
              </a:lnSpc>
              <a:buFont typeface="Arial"/>
              <a:buChar char="⚬"/>
            </a:pPr>
            <a:r>
              <a:rPr lang="en-US" sz="2250">
                <a:solidFill>
                  <a:srgbClr val="191919"/>
                </a:solidFill>
                <a:latin typeface="Poppins"/>
                <a:ea typeface="Poppins"/>
                <a:cs typeface="Poppins"/>
                <a:sym typeface="Poppins"/>
              </a:rPr>
              <a:t>Recolección de feedback.</a:t>
            </a:r>
          </a:p>
          <a:p>
            <a:pPr marL="971981" lvl="2" indent="-323994" algn="l">
              <a:lnSpc>
                <a:spcPts val="3149"/>
              </a:lnSpc>
              <a:buFont typeface="Arial"/>
              <a:buChar char="⚬"/>
            </a:pPr>
            <a:r>
              <a:rPr lang="en-US" sz="2250">
                <a:solidFill>
                  <a:srgbClr val="191919"/>
                </a:solidFill>
                <a:latin typeface="Poppins"/>
                <a:ea typeface="Poppins"/>
                <a:cs typeface="Poppins"/>
                <a:sym typeface="Poppins"/>
              </a:rPr>
              <a:t>Identificación de riesgos operativos.</a:t>
            </a:r>
          </a:p>
          <a:p>
            <a:pPr marL="971981" lvl="2" indent="-323994" algn="l">
              <a:lnSpc>
                <a:spcPts val="3149"/>
              </a:lnSpc>
              <a:buFont typeface="Arial"/>
              <a:buChar char="⚬"/>
            </a:pPr>
            <a:r>
              <a:rPr lang="en-US" sz="2250">
                <a:solidFill>
                  <a:srgbClr val="191919"/>
                </a:solidFill>
                <a:latin typeface="Poppins"/>
                <a:ea typeface="Poppins"/>
                <a:cs typeface="Poppins"/>
                <a:sym typeface="Poppins"/>
              </a:rPr>
              <a:t>Casos de uso identificado.</a:t>
            </a:r>
          </a:p>
        </p:txBody>
      </p:sp>
      <p:sp>
        <p:nvSpPr>
          <p:cNvPr id="18" name="TextBox 18"/>
          <p:cNvSpPr txBox="1"/>
          <p:nvPr/>
        </p:nvSpPr>
        <p:spPr>
          <a:xfrm>
            <a:off x="9201502" y="2628429"/>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ACCIONES</a:t>
            </a:r>
          </a:p>
        </p:txBody>
      </p:sp>
      <p:sp>
        <p:nvSpPr>
          <p:cNvPr id="19" name="Freeform 19"/>
          <p:cNvSpPr/>
          <p:nvPr/>
        </p:nvSpPr>
        <p:spPr>
          <a:xfrm>
            <a:off x="973573" y="909333"/>
            <a:ext cx="852413" cy="723776"/>
          </a:xfrm>
          <a:custGeom>
            <a:avLst/>
            <a:gdLst/>
            <a:ahLst/>
            <a:cxnLst/>
            <a:rect l="l" t="t" r="r" b="b"/>
            <a:pathLst>
              <a:path w="852413" h="723776">
                <a:moveTo>
                  <a:pt x="0" y="0"/>
                </a:moveTo>
                <a:lnTo>
                  <a:pt x="852413" y="0"/>
                </a:lnTo>
                <a:lnTo>
                  <a:pt x="852413" y="723776"/>
                </a:lnTo>
                <a:lnTo>
                  <a:pt x="0" y="72377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0" name="Group 20"/>
          <p:cNvGrpSpPr/>
          <p:nvPr/>
        </p:nvGrpSpPr>
        <p:grpSpPr>
          <a:xfrm>
            <a:off x="1813857" y="7097884"/>
            <a:ext cx="5672972" cy="674657"/>
            <a:chOff x="0" y="0"/>
            <a:chExt cx="1390367" cy="165349"/>
          </a:xfrm>
        </p:grpSpPr>
        <p:sp>
          <p:nvSpPr>
            <p:cNvPr id="21" name="Freeform 21">
              <a:hlinkClick r:id="rId11" tooltip="https://integratelcorp.sharepoint.com/:x:/r/sites/WorkplaceTI.TMHTP/_layouts/15/Doc.aspx?sourcedoc=%7B668DFBF4-24AB-4F91-8757-F381E69FCBA6%7D&amp;file=Gantt%20-%20Objetivos%202026%20(Unificado).xlsx&amp;action=default&amp;mobileredirect=true"/>
            </p:cNvPr>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22" name="TextBox 22"/>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sp>
        <p:nvSpPr>
          <p:cNvPr id="23" name="Freeform 23">
            <a:hlinkClick r:id="rId11" tooltip="https://integratelcorp.sharepoint.com/:x:/r/sites/WorkplaceTI.TMHTP/_layouts/15/Doc.aspx?sourcedoc=%7B668DFBF4-24AB-4F91-8757-F381E69FCBA6%7D&amp;file=Gantt%20-%20Objetivos%202026%20(Unificado).xlsx&amp;action=default&amp;mobileredirect=true"/>
          </p:cNvPr>
          <p:cNvSpPr/>
          <p:nvPr/>
        </p:nvSpPr>
        <p:spPr>
          <a:xfrm>
            <a:off x="5940465" y="7244473"/>
            <a:ext cx="381478" cy="381478"/>
          </a:xfrm>
          <a:custGeom>
            <a:avLst/>
            <a:gdLst/>
            <a:ahLst/>
            <a:cxnLst/>
            <a:rect l="l" t="t" r="r" b="b"/>
            <a:pathLst>
              <a:path w="381478" h="381478">
                <a:moveTo>
                  <a:pt x="0" y="0"/>
                </a:moveTo>
                <a:lnTo>
                  <a:pt x="381478" y="0"/>
                </a:lnTo>
                <a:lnTo>
                  <a:pt x="381478" y="381478"/>
                </a:lnTo>
                <a:lnTo>
                  <a:pt x="0" y="38147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4" name="TextBox 24"/>
          <p:cNvSpPr txBox="1"/>
          <p:nvPr/>
        </p:nvSpPr>
        <p:spPr>
          <a:xfrm>
            <a:off x="2978744" y="7252238"/>
            <a:ext cx="2961721" cy="327848"/>
          </a:xfrm>
          <a:prstGeom prst="rect">
            <a:avLst/>
          </a:prstGeom>
        </p:spPr>
        <p:txBody>
          <a:bodyPr lIns="0" tIns="0" rIns="0" bIns="0" rtlCol="0" anchor="t">
            <a:spAutoFit/>
          </a:bodyPr>
          <a:lstStyle/>
          <a:p>
            <a:pPr marL="0" lvl="0" indent="0" algn="l">
              <a:lnSpc>
                <a:spcPts val="2515"/>
              </a:lnSpc>
            </a:pPr>
            <a:r>
              <a:rPr lang="en-US" sz="1935" b="1" spc="19">
                <a:solidFill>
                  <a:srgbClr val="009BF8"/>
                </a:solidFill>
                <a:latin typeface="Poppins Bold"/>
                <a:ea typeface="Poppins Bold"/>
                <a:cs typeface="Poppins Bold"/>
                <a:sym typeface="Poppins Bold"/>
                <a:hlinkClick r:id="rId11" tooltip="https://integratelcorp.sharepoint.com/:x:/r/sites/WorkplaceTI.TMHTP/_layouts/15/Doc.aspx?sourcedoc=%7B668DFBF4-24AB-4F91-8757-F381E69FCBA6%7D&amp;file=Gantt%20-%20Objetivos%202026%20(Unificado).xlsx&amp;action=default&amp;mobileredirect=true"/>
              </a:rPr>
              <a:t>HOJA DE SEGUIMIENTO</a:t>
            </a:r>
          </a:p>
        </p:txBody>
      </p:sp>
      <p:grpSp>
        <p:nvGrpSpPr>
          <p:cNvPr id="25" name="Group 25"/>
          <p:cNvGrpSpPr/>
          <p:nvPr/>
        </p:nvGrpSpPr>
        <p:grpSpPr>
          <a:xfrm>
            <a:off x="8863377" y="6744247"/>
            <a:ext cx="3086041" cy="654007"/>
            <a:chOff x="0" y="0"/>
            <a:chExt cx="1204730" cy="255312"/>
          </a:xfrm>
        </p:grpSpPr>
        <p:sp>
          <p:nvSpPr>
            <p:cNvPr id="26" name="Freeform 26"/>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27" name="TextBox 27"/>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8" name="TextBox 28"/>
          <p:cNvSpPr txBox="1"/>
          <p:nvPr/>
        </p:nvSpPr>
        <p:spPr>
          <a:xfrm>
            <a:off x="7931363" y="7560179"/>
            <a:ext cx="8987314" cy="40960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Ninguno.</a:t>
            </a:r>
          </a:p>
        </p:txBody>
      </p:sp>
      <p:sp>
        <p:nvSpPr>
          <p:cNvPr id="29" name="TextBox 29"/>
          <p:cNvSpPr txBox="1"/>
          <p:nvPr/>
        </p:nvSpPr>
        <p:spPr>
          <a:xfrm>
            <a:off x="9201502" y="6976502"/>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IMPEDIMENTOS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578053" y="1028700"/>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83114" y="463972"/>
            <a:ext cx="1433332" cy="1534106"/>
          </a:xfrm>
          <a:custGeom>
            <a:avLst/>
            <a:gdLst/>
            <a:ahLst/>
            <a:cxnLst/>
            <a:rect l="l" t="t" r="r" b="b"/>
            <a:pathLst>
              <a:path w="1433332" h="1534106">
                <a:moveTo>
                  <a:pt x="0" y="0"/>
                </a:moveTo>
                <a:lnTo>
                  <a:pt x="1433331" y="0"/>
                </a:lnTo>
                <a:lnTo>
                  <a:pt x="1433331" y="1534106"/>
                </a:lnTo>
                <a:lnTo>
                  <a:pt x="0" y="15341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2432561" y="1042683"/>
            <a:ext cx="7092439" cy="902256"/>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PROYECTO RESETEO DE CONTRASEÑA CON OFFICE</a:t>
            </a:r>
          </a:p>
        </p:txBody>
      </p:sp>
      <p:grpSp>
        <p:nvGrpSpPr>
          <p:cNvPr id="6" name="Group 6"/>
          <p:cNvGrpSpPr/>
          <p:nvPr/>
        </p:nvGrpSpPr>
        <p:grpSpPr>
          <a:xfrm>
            <a:off x="1369324" y="2396174"/>
            <a:ext cx="6562039" cy="6148273"/>
            <a:chOff x="0" y="0"/>
            <a:chExt cx="8749386" cy="8197698"/>
          </a:xfrm>
        </p:grpSpPr>
        <p:sp>
          <p:nvSpPr>
            <p:cNvPr id="7" name="Freeform 7"/>
            <p:cNvSpPr/>
            <p:nvPr/>
          </p:nvSpPr>
          <p:spPr>
            <a:xfrm>
              <a:off x="0" y="0"/>
              <a:ext cx="8749411" cy="8197723"/>
            </a:xfrm>
            <a:custGeom>
              <a:avLst/>
              <a:gdLst/>
              <a:ahLst/>
              <a:cxnLst/>
              <a:rect l="l" t="t" r="r" b="b"/>
              <a:pathLst>
                <a:path w="8749411" h="8197723">
                  <a:moveTo>
                    <a:pt x="8222234" y="8197723"/>
                  </a:moveTo>
                  <a:lnTo>
                    <a:pt x="527177" y="8197723"/>
                  </a:lnTo>
                  <a:cubicBezTo>
                    <a:pt x="236728" y="8197723"/>
                    <a:pt x="0" y="7960995"/>
                    <a:pt x="0" y="7670546"/>
                  </a:cubicBezTo>
                  <a:lnTo>
                    <a:pt x="0" y="527177"/>
                  </a:lnTo>
                  <a:cubicBezTo>
                    <a:pt x="0" y="236728"/>
                    <a:pt x="236728" y="0"/>
                    <a:pt x="527177" y="0"/>
                  </a:cubicBezTo>
                  <a:lnTo>
                    <a:pt x="8222234" y="0"/>
                  </a:lnTo>
                  <a:cubicBezTo>
                    <a:pt x="8512683" y="0"/>
                    <a:pt x="8749411" y="236728"/>
                    <a:pt x="8749411" y="527177"/>
                  </a:cubicBezTo>
                  <a:lnTo>
                    <a:pt x="8749411" y="7670546"/>
                  </a:lnTo>
                  <a:cubicBezTo>
                    <a:pt x="8749411" y="7960995"/>
                    <a:pt x="8512683" y="8197723"/>
                    <a:pt x="8222234" y="8197723"/>
                  </a:cubicBezTo>
                  <a:close/>
                </a:path>
              </a:pathLst>
            </a:custGeom>
            <a:solidFill>
              <a:srgbClr val="009BF8"/>
            </a:solidFill>
          </p:spPr>
        </p:sp>
      </p:grpSp>
      <p:pic>
        <p:nvPicPr>
          <p:cNvPr id="8" name="Picture 8"/>
          <p:cNvPicPr>
            <a:picLocks noChangeAspect="1"/>
          </p:cNvPicPr>
          <p:nvPr/>
        </p:nvPicPr>
        <p:blipFill>
          <a:blip r:embed="rId8"/>
          <a:stretch>
            <a:fillRect/>
          </a:stretch>
        </p:blipFill>
        <p:spPr>
          <a:xfrm>
            <a:off x="3562387" y="3036552"/>
            <a:ext cx="2139766" cy="2139766"/>
          </a:xfrm>
          <a:prstGeom prst="rect">
            <a:avLst/>
          </a:prstGeom>
        </p:spPr>
      </p:pic>
      <p:sp>
        <p:nvSpPr>
          <p:cNvPr id="9" name="TextBox 9"/>
          <p:cNvSpPr txBox="1"/>
          <p:nvPr/>
        </p:nvSpPr>
        <p:spPr>
          <a:xfrm>
            <a:off x="3383787" y="5108276"/>
            <a:ext cx="2533112" cy="471543"/>
          </a:xfrm>
          <a:prstGeom prst="rect">
            <a:avLst/>
          </a:prstGeom>
        </p:spPr>
        <p:txBody>
          <a:bodyPr lIns="0" tIns="0" rIns="0" bIns="0" rtlCol="0" anchor="t">
            <a:spAutoFit/>
          </a:bodyPr>
          <a:lstStyle/>
          <a:p>
            <a:pPr algn="ctr">
              <a:lnSpc>
                <a:spcPts val="3556"/>
              </a:lnSpc>
            </a:pPr>
            <a:r>
              <a:rPr lang="en-US" sz="2915" spc="-160">
                <a:solidFill>
                  <a:srgbClr val="FFFFFF"/>
                </a:solidFill>
                <a:latin typeface="Poppins"/>
                <a:ea typeface="Poppins"/>
                <a:cs typeface="Poppins"/>
                <a:sym typeface="Poppins"/>
              </a:rPr>
              <a:t>Enero - Mayo</a:t>
            </a:r>
          </a:p>
        </p:txBody>
      </p:sp>
      <p:grpSp>
        <p:nvGrpSpPr>
          <p:cNvPr id="10" name="Group 10"/>
          <p:cNvGrpSpPr/>
          <p:nvPr/>
        </p:nvGrpSpPr>
        <p:grpSpPr>
          <a:xfrm>
            <a:off x="1813857" y="6279927"/>
            <a:ext cx="5672972" cy="674657"/>
            <a:chOff x="0" y="0"/>
            <a:chExt cx="1390367" cy="165349"/>
          </a:xfrm>
        </p:grpSpPr>
        <p:sp>
          <p:nvSpPr>
            <p:cNvPr id="11" name="Freeform 11"/>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12" name="TextBox 12"/>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grpSp>
        <p:nvGrpSpPr>
          <p:cNvPr id="13" name="Group 13"/>
          <p:cNvGrpSpPr/>
          <p:nvPr/>
        </p:nvGrpSpPr>
        <p:grpSpPr>
          <a:xfrm>
            <a:off x="3675586" y="6415631"/>
            <a:ext cx="403249" cy="403249"/>
            <a:chOff x="0" y="0"/>
            <a:chExt cx="537665" cy="537665"/>
          </a:xfrm>
        </p:grpSpPr>
        <p:grpSp>
          <p:nvGrpSpPr>
            <p:cNvPr id="14" name="Group 14"/>
            <p:cNvGrpSpPr>
              <a:grpSpLocks noChangeAspect="1"/>
            </p:cNvGrpSpPr>
            <p:nvPr/>
          </p:nvGrpSpPr>
          <p:grpSpPr>
            <a:xfrm>
              <a:off x="0" y="0"/>
              <a:ext cx="537665" cy="537665"/>
              <a:chOff x="0" y="0"/>
              <a:chExt cx="6355080" cy="6355080"/>
            </a:xfrm>
          </p:grpSpPr>
          <p:sp>
            <p:nvSpPr>
              <p:cNvPr id="15" name="Freeform 1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47615"/>
              </a:solidFill>
            </p:spPr>
          </p:sp>
        </p:grpSp>
        <p:grpSp>
          <p:nvGrpSpPr>
            <p:cNvPr id="16" name="Group 16"/>
            <p:cNvGrpSpPr/>
            <p:nvPr/>
          </p:nvGrpSpPr>
          <p:grpSpPr>
            <a:xfrm>
              <a:off x="82983" y="82983"/>
              <a:ext cx="371698" cy="37169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47615"/>
              </a:solidFill>
            </p:spPr>
          </p:sp>
        </p:grpSp>
      </p:grpSp>
      <p:sp>
        <p:nvSpPr>
          <p:cNvPr id="18" name="TextBox 18"/>
          <p:cNvSpPr txBox="1"/>
          <p:nvPr/>
        </p:nvSpPr>
        <p:spPr>
          <a:xfrm>
            <a:off x="4208659" y="6432789"/>
            <a:ext cx="1380294" cy="330831"/>
          </a:xfrm>
          <a:prstGeom prst="rect">
            <a:avLst/>
          </a:prstGeom>
        </p:spPr>
        <p:txBody>
          <a:bodyPr lIns="0" tIns="0" rIns="0" bIns="0" rtlCol="0" anchor="t">
            <a:spAutoFit/>
          </a:bodyPr>
          <a:lstStyle/>
          <a:p>
            <a:pPr marL="0" lvl="0" indent="0" algn="l">
              <a:lnSpc>
                <a:spcPts val="2515"/>
              </a:lnSpc>
            </a:pPr>
            <a:r>
              <a:rPr lang="en-US" sz="1935" b="1" spc="19">
                <a:solidFill>
                  <a:srgbClr val="147615"/>
                </a:solidFill>
                <a:latin typeface="Poppins Bold"/>
                <a:ea typeface="Poppins Bold"/>
                <a:cs typeface="Poppins Bold"/>
                <a:sym typeface="Poppins Bold"/>
              </a:rPr>
              <a:t>EN CURSO</a:t>
            </a:r>
          </a:p>
        </p:txBody>
      </p:sp>
      <p:sp>
        <p:nvSpPr>
          <p:cNvPr id="19" name="TextBox 19"/>
          <p:cNvSpPr txBox="1"/>
          <p:nvPr/>
        </p:nvSpPr>
        <p:spPr>
          <a:xfrm>
            <a:off x="7931363" y="3212106"/>
            <a:ext cx="8987314" cy="1962411"/>
          </a:xfrm>
          <a:prstGeom prst="rect">
            <a:avLst/>
          </a:prstGeom>
        </p:spPr>
        <p:txBody>
          <a:bodyPr lIns="0" tIns="0" rIns="0" bIns="0" rtlCol="0" anchor="t">
            <a:spAutoFit/>
          </a:bodyPr>
          <a:lstStyle/>
          <a:p>
            <a:pPr marL="971981" lvl="2" indent="-323994" algn="l">
              <a:lnSpc>
                <a:spcPts val="3149"/>
              </a:lnSpc>
              <a:buFont typeface="Arial"/>
              <a:buChar char="⚬"/>
            </a:pPr>
            <a:r>
              <a:rPr lang="en-US" sz="2250">
                <a:solidFill>
                  <a:srgbClr val="191919"/>
                </a:solidFill>
                <a:latin typeface="Poppins"/>
                <a:ea typeface="Poppins"/>
                <a:cs typeface="Poppins"/>
                <a:sym typeface="Poppins"/>
              </a:rPr>
              <a:t>Reunión con seguridad (Configuración).</a:t>
            </a:r>
          </a:p>
          <a:p>
            <a:pPr marL="971981" lvl="2" indent="-323994" algn="l">
              <a:lnSpc>
                <a:spcPts val="3149"/>
              </a:lnSpc>
              <a:buFont typeface="Arial"/>
              <a:buChar char="⚬"/>
            </a:pPr>
            <a:r>
              <a:rPr lang="en-US" sz="2250">
                <a:solidFill>
                  <a:srgbClr val="191919"/>
                </a:solidFill>
                <a:latin typeface="Poppins"/>
                <a:ea typeface="Poppins"/>
                <a:cs typeface="Poppins"/>
                <a:sym typeface="Poppins"/>
              </a:rPr>
              <a:t>Habilitar Password Writeback.</a:t>
            </a:r>
          </a:p>
          <a:p>
            <a:pPr marL="971981" lvl="2" indent="-323994" algn="l">
              <a:lnSpc>
                <a:spcPts val="3149"/>
              </a:lnSpc>
              <a:buFont typeface="Arial"/>
              <a:buChar char="⚬"/>
            </a:pPr>
            <a:r>
              <a:rPr lang="en-US" sz="2250">
                <a:solidFill>
                  <a:srgbClr val="191919"/>
                </a:solidFill>
                <a:latin typeface="Poppins"/>
                <a:ea typeface="Poppins"/>
                <a:cs typeface="Poppins"/>
                <a:sym typeface="Poppins"/>
              </a:rPr>
              <a:t>Seleccionar grupo piloto (10–15%)</a:t>
            </a:r>
          </a:p>
          <a:p>
            <a:pPr marL="971981" lvl="2" indent="-323994" algn="l">
              <a:lnSpc>
                <a:spcPts val="3149"/>
              </a:lnSpc>
              <a:buFont typeface="Arial"/>
              <a:buChar char="⚬"/>
            </a:pPr>
            <a:r>
              <a:rPr lang="en-US" sz="2250">
                <a:solidFill>
                  <a:srgbClr val="191919"/>
                </a:solidFill>
                <a:latin typeface="Poppins"/>
                <a:ea typeface="Poppins"/>
                <a:cs typeface="Poppins"/>
                <a:sym typeface="Poppins"/>
              </a:rPr>
              <a:t>Validar registro de métodos de recuperación.</a:t>
            </a:r>
          </a:p>
          <a:p>
            <a:pPr marL="971981" lvl="2" indent="-323994" algn="l">
              <a:lnSpc>
                <a:spcPts val="3149"/>
              </a:lnSpc>
              <a:buFont typeface="Arial"/>
              <a:buChar char="⚬"/>
            </a:pPr>
            <a:r>
              <a:rPr lang="en-US" sz="2250">
                <a:solidFill>
                  <a:srgbClr val="191919"/>
                </a:solidFill>
                <a:latin typeface="Poppins"/>
                <a:ea typeface="Poppins"/>
                <a:cs typeface="Poppins"/>
                <a:sym typeface="Poppins"/>
              </a:rPr>
              <a:t>Simular proceso de reseteo.</a:t>
            </a:r>
          </a:p>
        </p:txBody>
      </p:sp>
      <p:grpSp>
        <p:nvGrpSpPr>
          <p:cNvPr id="20" name="Group 20"/>
          <p:cNvGrpSpPr/>
          <p:nvPr/>
        </p:nvGrpSpPr>
        <p:grpSpPr>
          <a:xfrm>
            <a:off x="8863377" y="2396174"/>
            <a:ext cx="3086041" cy="654007"/>
            <a:chOff x="0" y="0"/>
            <a:chExt cx="1204730" cy="255312"/>
          </a:xfrm>
        </p:grpSpPr>
        <p:sp>
          <p:nvSpPr>
            <p:cNvPr id="21" name="Freeform 21"/>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22" name="TextBox 22"/>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3" name="TextBox 23"/>
          <p:cNvSpPr txBox="1"/>
          <p:nvPr/>
        </p:nvSpPr>
        <p:spPr>
          <a:xfrm>
            <a:off x="9201502" y="2628429"/>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PRÓXIMOS PASOS</a:t>
            </a:r>
          </a:p>
        </p:txBody>
      </p:sp>
      <p:sp>
        <p:nvSpPr>
          <p:cNvPr id="24" name="Freeform 24"/>
          <p:cNvSpPr/>
          <p:nvPr/>
        </p:nvSpPr>
        <p:spPr>
          <a:xfrm>
            <a:off x="936894" y="893439"/>
            <a:ext cx="925772" cy="775965"/>
          </a:xfrm>
          <a:custGeom>
            <a:avLst/>
            <a:gdLst/>
            <a:ahLst/>
            <a:cxnLst/>
            <a:rect l="l" t="t" r="r" b="b"/>
            <a:pathLst>
              <a:path w="925772" h="775965">
                <a:moveTo>
                  <a:pt x="0" y="0"/>
                </a:moveTo>
                <a:lnTo>
                  <a:pt x="925772" y="0"/>
                </a:lnTo>
                <a:lnTo>
                  <a:pt x="925772" y="775966"/>
                </a:lnTo>
                <a:lnTo>
                  <a:pt x="0" y="77596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5" name="Group 25"/>
          <p:cNvGrpSpPr/>
          <p:nvPr/>
        </p:nvGrpSpPr>
        <p:grpSpPr>
          <a:xfrm>
            <a:off x="1813857" y="7097884"/>
            <a:ext cx="5672972" cy="674657"/>
            <a:chOff x="0" y="0"/>
            <a:chExt cx="1390367" cy="165349"/>
          </a:xfrm>
        </p:grpSpPr>
        <p:sp>
          <p:nvSpPr>
            <p:cNvPr id="26" name="Freeform 26">
              <a:hlinkClick r:id="rId11" tooltip="https://integratelcorp.sharepoint.com/:x:/r/sites/WorkplaceTI.TMHTP/_layouts/15/Doc.aspx?sourcedoc=%7B668DFBF4-24AB-4F91-8757-F381E69FCBA6%7D&amp;file=Gantt%20-%20Objetivos%202026%20(Unificado).xlsx&amp;action=default&amp;mobileredirect=true"/>
            </p:cNvPr>
            <p:cNvSpPr/>
            <p:nvPr/>
          </p:nvSpPr>
          <p:spPr>
            <a:xfrm>
              <a:off x="0" y="0"/>
              <a:ext cx="1390367" cy="165349"/>
            </a:xfrm>
            <a:custGeom>
              <a:avLst/>
              <a:gdLst/>
              <a:ahLst/>
              <a:cxnLst/>
              <a:rect l="l" t="t" r="r" b="b"/>
              <a:pathLst>
                <a:path w="1390367" h="165349">
                  <a:moveTo>
                    <a:pt x="65506" y="0"/>
                  </a:moveTo>
                  <a:lnTo>
                    <a:pt x="1324862" y="0"/>
                  </a:lnTo>
                  <a:cubicBezTo>
                    <a:pt x="1342235" y="0"/>
                    <a:pt x="1358897" y="6901"/>
                    <a:pt x="1371181" y="19186"/>
                  </a:cubicBezTo>
                  <a:cubicBezTo>
                    <a:pt x="1383466" y="31471"/>
                    <a:pt x="1390367" y="48133"/>
                    <a:pt x="1390367" y="65506"/>
                  </a:cubicBezTo>
                  <a:lnTo>
                    <a:pt x="1390367" y="99843"/>
                  </a:lnTo>
                  <a:cubicBezTo>
                    <a:pt x="1390367" y="136021"/>
                    <a:pt x="1361040" y="165349"/>
                    <a:pt x="1324862" y="165349"/>
                  </a:cubicBezTo>
                  <a:lnTo>
                    <a:pt x="65506" y="165349"/>
                  </a:lnTo>
                  <a:cubicBezTo>
                    <a:pt x="29328" y="165349"/>
                    <a:pt x="0" y="136021"/>
                    <a:pt x="0" y="99843"/>
                  </a:cubicBezTo>
                  <a:lnTo>
                    <a:pt x="0" y="65506"/>
                  </a:lnTo>
                  <a:cubicBezTo>
                    <a:pt x="0" y="29328"/>
                    <a:pt x="29328" y="0"/>
                    <a:pt x="65506" y="0"/>
                  </a:cubicBezTo>
                  <a:close/>
                </a:path>
              </a:pathLst>
            </a:custGeom>
            <a:solidFill>
              <a:srgbClr val="FFFFFF"/>
            </a:solidFill>
          </p:spPr>
        </p:sp>
        <p:sp>
          <p:nvSpPr>
            <p:cNvPr id="27" name="TextBox 27"/>
            <p:cNvSpPr txBox="1"/>
            <p:nvPr/>
          </p:nvSpPr>
          <p:spPr>
            <a:xfrm>
              <a:off x="0" y="-133350"/>
              <a:ext cx="1390367" cy="298699"/>
            </a:xfrm>
            <a:prstGeom prst="rect">
              <a:avLst/>
            </a:prstGeom>
          </p:spPr>
          <p:txBody>
            <a:bodyPr lIns="50800" tIns="50800" rIns="50800" bIns="50800" rtlCol="0" anchor="ctr"/>
            <a:lstStyle/>
            <a:p>
              <a:pPr algn="ctr">
                <a:lnSpc>
                  <a:spcPts val="3520"/>
                </a:lnSpc>
              </a:pPr>
              <a:endParaRPr/>
            </a:p>
          </p:txBody>
        </p:sp>
      </p:grpSp>
      <p:sp>
        <p:nvSpPr>
          <p:cNvPr id="28" name="Freeform 28">
            <a:hlinkClick r:id="rId11" tooltip="https://integratelcorp.sharepoint.com/:x:/r/sites/WorkplaceTI.TMHTP/_layouts/15/Doc.aspx?sourcedoc=%7B668DFBF4-24AB-4F91-8757-F381E69FCBA6%7D&amp;file=Gantt%20-%20Objetivos%202026%20(Unificado).xlsx&amp;action=default&amp;mobileredirect=true"/>
          </p:cNvPr>
          <p:cNvSpPr/>
          <p:nvPr/>
        </p:nvSpPr>
        <p:spPr>
          <a:xfrm>
            <a:off x="5940465" y="7244473"/>
            <a:ext cx="381478" cy="381478"/>
          </a:xfrm>
          <a:custGeom>
            <a:avLst/>
            <a:gdLst/>
            <a:ahLst/>
            <a:cxnLst/>
            <a:rect l="l" t="t" r="r" b="b"/>
            <a:pathLst>
              <a:path w="381478" h="381478">
                <a:moveTo>
                  <a:pt x="0" y="0"/>
                </a:moveTo>
                <a:lnTo>
                  <a:pt x="381478" y="0"/>
                </a:lnTo>
                <a:lnTo>
                  <a:pt x="381478" y="381478"/>
                </a:lnTo>
                <a:lnTo>
                  <a:pt x="0" y="38147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9" name="TextBox 29"/>
          <p:cNvSpPr txBox="1"/>
          <p:nvPr/>
        </p:nvSpPr>
        <p:spPr>
          <a:xfrm>
            <a:off x="2978744" y="7252238"/>
            <a:ext cx="2961721" cy="327848"/>
          </a:xfrm>
          <a:prstGeom prst="rect">
            <a:avLst/>
          </a:prstGeom>
        </p:spPr>
        <p:txBody>
          <a:bodyPr lIns="0" tIns="0" rIns="0" bIns="0" rtlCol="0" anchor="t">
            <a:spAutoFit/>
          </a:bodyPr>
          <a:lstStyle/>
          <a:p>
            <a:pPr marL="0" lvl="0" indent="0" algn="l">
              <a:lnSpc>
                <a:spcPts val="2515"/>
              </a:lnSpc>
            </a:pPr>
            <a:r>
              <a:rPr lang="en-US" sz="1935" b="1" spc="19">
                <a:solidFill>
                  <a:srgbClr val="009BF8"/>
                </a:solidFill>
                <a:latin typeface="Poppins Bold"/>
                <a:ea typeface="Poppins Bold"/>
                <a:cs typeface="Poppins Bold"/>
                <a:sym typeface="Poppins Bold"/>
                <a:hlinkClick r:id="rId11" tooltip="https://integratelcorp.sharepoint.com/:x:/r/sites/WorkplaceTI.TMHTP/_layouts/15/Doc.aspx?sourcedoc=%7B668DFBF4-24AB-4F91-8757-F381E69FCBA6%7D&amp;file=Gantt%20-%20Objetivos%202026%20(Unificado).xlsx&amp;action=default&amp;mobileredirect=true"/>
              </a:rPr>
              <a:t>HOJA DE SEGUIMIENTO</a:t>
            </a:r>
          </a:p>
        </p:txBody>
      </p:sp>
      <p:grpSp>
        <p:nvGrpSpPr>
          <p:cNvPr id="30" name="Group 30"/>
          <p:cNvGrpSpPr/>
          <p:nvPr/>
        </p:nvGrpSpPr>
        <p:grpSpPr>
          <a:xfrm>
            <a:off x="8863377" y="6744247"/>
            <a:ext cx="3086041" cy="654007"/>
            <a:chOff x="0" y="0"/>
            <a:chExt cx="1204730" cy="255312"/>
          </a:xfrm>
        </p:grpSpPr>
        <p:sp>
          <p:nvSpPr>
            <p:cNvPr id="31" name="Freeform 31"/>
            <p:cNvSpPr/>
            <p:nvPr/>
          </p:nvSpPr>
          <p:spPr>
            <a:xfrm>
              <a:off x="0" y="0"/>
              <a:ext cx="1204730" cy="255312"/>
            </a:xfrm>
            <a:custGeom>
              <a:avLst/>
              <a:gdLst/>
              <a:ahLst/>
              <a:cxnLst/>
              <a:rect l="l" t="t" r="r" b="b"/>
              <a:pathLst>
                <a:path w="1204730" h="255312">
                  <a:moveTo>
                    <a:pt x="120417" y="0"/>
                  </a:moveTo>
                  <a:lnTo>
                    <a:pt x="1084313" y="0"/>
                  </a:lnTo>
                  <a:cubicBezTo>
                    <a:pt x="1150817" y="0"/>
                    <a:pt x="1204730" y="53913"/>
                    <a:pt x="1204730" y="120417"/>
                  </a:cubicBezTo>
                  <a:lnTo>
                    <a:pt x="1204730" y="134894"/>
                  </a:lnTo>
                  <a:cubicBezTo>
                    <a:pt x="1204730" y="201399"/>
                    <a:pt x="1150817" y="255312"/>
                    <a:pt x="1084313" y="255312"/>
                  </a:cubicBezTo>
                  <a:lnTo>
                    <a:pt x="120417" y="255312"/>
                  </a:lnTo>
                  <a:cubicBezTo>
                    <a:pt x="53913" y="255312"/>
                    <a:pt x="0" y="201399"/>
                    <a:pt x="0" y="134894"/>
                  </a:cubicBezTo>
                  <a:lnTo>
                    <a:pt x="0" y="120417"/>
                  </a:lnTo>
                  <a:cubicBezTo>
                    <a:pt x="0" y="53913"/>
                    <a:pt x="53913" y="0"/>
                    <a:pt x="120417" y="0"/>
                  </a:cubicBezTo>
                  <a:close/>
                </a:path>
              </a:pathLst>
            </a:custGeom>
            <a:ln w="38100" cap="rnd">
              <a:solidFill>
                <a:srgbClr val="009BF8"/>
              </a:solidFill>
              <a:prstDash val="solid"/>
              <a:round/>
            </a:ln>
          </p:spPr>
        </p:sp>
        <p:sp>
          <p:nvSpPr>
            <p:cNvPr id="32" name="TextBox 32"/>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33" name="TextBox 33"/>
          <p:cNvSpPr txBox="1"/>
          <p:nvPr/>
        </p:nvSpPr>
        <p:spPr>
          <a:xfrm>
            <a:off x="7931363" y="7560179"/>
            <a:ext cx="8987314" cy="409600"/>
          </a:xfrm>
          <a:prstGeom prst="rect">
            <a:avLst/>
          </a:prstGeom>
        </p:spPr>
        <p:txBody>
          <a:bodyPr lIns="0" tIns="0" rIns="0" bIns="0" rtlCol="0" anchor="t">
            <a:spAutoFit/>
          </a:bodyPr>
          <a:lstStyle/>
          <a:p>
            <a:pPr marL="971982" lvl="2" indent="-323994" algn="l">
              <a:lnSpc>
                <a:spcPts val="3150"/>
              </a:lnSpc>
              <a:buFont typeface="Arial"/>
              <a:buChar char="⚬"/>
            </a:pPr>
            <a:r>
              <a:rPr lang="en-US" sz="2251">
                <a:solidFill>
                  <a:srgbClr val="191919"/>
                </a:solidFill>
                <a:latin typeface="Poppins"/>
                <a:ea typeface="Poppins"/>
                <a:cs typeface="Poppins"/>
                <a:sym typeface="Poppins"/>
              </a:rPr>
              <a:t>Reunión con seguridad (Configuración).</a:t>
            </a:r>
          </a:p>
        </p:txBody>
      </p:sp>
      <p:sp>
        <p:nvSpPr>
          <p:cNvPr id="34" name="TextBox 34"/>
          <p:cNvSpPr txBox="1"/>
          <p:nvPr/>
        </p:nvSpPr>
        <p:spPr>
          <a:xfrm>
            <a:off x="9201502" y="6976502"/>
            <a:ext cx="2161853" cy="237121"/>
          </a:xfrm>
          <a:prstGeom prst="rect">
            <a:avLst/>
          </a:prstGeom>
        </p:spPr>
        <p:txBody>
          <a:bodyPr lIns="0" tIns="0" rIns="0" bIns="0" rtlCol="0" anchor="t">
            <a:spAutoFit/>
          </a:bodyPr>
          <a:lstStyle/>
          <a:p>
            <a:pPr marL="0" lvl="0" indent="0" algn="l">
              <a:lnSpc>
                <a:spcPts val="1667"/>
              </a:lnSpc>
            </a:pPr>
            <a:r>
              <a:rPr lang="en-US" sz="1895">
                <a:solidFill>
                  <a:srgbClr val="009BF8"/>
                </a:solidFill>
                <a:latin typeface="Lovelo"/>
                <a:ea typeface="Lovelo"/>
                <a:cs typeface="Lovelo"/>
                <a:sym typeface="Lovelo"/>
              </a:rPr>
              <a:t>IMPEDIMENTOS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9050"/>
            <a:ext cx="18288000" cy="10301859"/>
            <a:chOff x="0" y="0"/>
            <a:chExt cx="24384000" cy="13735812"/>
          </a:xfrm>
        </p:grpSpPr>
        <p:sp>
          <p:nvSpPr>
            <p:cNvPr id="3" name="Freeform 3"/>
            <p:cNvSpPr/>
            <p:nvPr/>
          </p:nvSpPr>
          <p:spPr>
            <a:xfrm>
              <a:off x="0" y="0"/>
              <a:ext cx="24384000" cy="13735813"/>
            </a:xfrm>
            <a:custGeom>
              <a:avLst/>
              <a:gdLst/>
              <a:ahLst/>
              <a:cxnLst/>
              <a:rect l="l" t="t" r="r" b="b"/>
              <a:pathLst>
                <a:path w="24384000" h="13735813">
                  <a:moveTo>
                    <a:pt x="24384000" y="0"/>
                  </a:moveTo>
                  <a:lnTo>
                    <a:pt x="0" y="0"/>
                  </a:lnTo>
                  <a:lnTo>
                    <a:pt x="0" y="13735813"/>
                  </a:lnTo>
                  <a:lnTo>
                    <a:pt x="24384000" y="13735813"/>
                  </a:lnTo>
                  <a:close/>
                </a:path>
              </a:pathLst>
            </a:custGeom>
            <a:solidFill>
              <a:srgbClr val="019DF4"/>
            </a:solidFill>
          </p:spPr>
        </p:sp>
      </p:grpSp>
      <p:sp>
        <p:nvSpPr>
          <p:cNvPr id="4" name="Freeform 4"/>
          <p:cNvSpPr/>
          <p:nvPr/>
        </p:nvSpPr>
        <p:spPr>
          <a:xfrm>
            <a:off x="7963757" y="4314577"/>
            <a:ext cx="2214562" cy="1643062"/>
          </a:xfrm>
          <a:custGeom>
            <a:avLst/>
            <a:gdLst/>
            <a:ahLst/>
            <a:cxnLst/>
            <a:rect l="l" t="t" r="r" b="b"/>
            <a:pathLst>
              <a:path w="2214562" h="1643062">
                <a:moveTo>
                  <a:pt x="0" y="0"/>
                </a:moveTo>
                <a:lnTo>
                  <a:pt x="2214563" y="0"/>
                </a:lnTo>
                <a:lnTo>
                  <a:pt x="2214563" y="1643063"/>
                </a:lnTo>
                <a:lnTo>
                  <a:pt x="0" y="1643063"/>
                </a:lnTo>
                <a:lnTo>
                  <a:pt x="0" y="0"/>
                </a:lnTo>
                <a:close/>
              </a:path>
            </a:pathLst>
          </a:custGeom>
          <a:blipFill>
            <a:blip r:embed="rId2">
              <a:extLst>
                <a:ext uri="{96DAC541-7B7A-43D3-8B79-37D633B846F1}">
                  <asvg:svgBlip xmlns:asvg="http://schemas.microsoft.com/office/drawing/2016/SVG/main" r:embed="rId3"/>
                </a:ext>
              </a:extLst>
            </a:blip>
            <a:stretch>
              <a:fillRect l="-177" r="-177"/>
            </a:stretch>
          </a:blipFill>
        </p:spPr>
      </p:sp>
      <p:sp>
        <p:nvSpPr>
          <p:cNvPr id="5" name="Freeform 5"/>
          <p:cNvSpPr/>
          <p:nvPr/>
        </p:nvSpPr>
        <p:spPr>
          <a:xfrm>
            <a:off x="11292430" y="-993372"/>
            <a:ext cx="6995570" cy="607162"/>
          </a:xfrm>
          <a:custGeom>
            <a:avLst/>
            <a:gdLst/>
            <a:ahLst/>
            <a:cxnLst/>
            <a:rect l="l" t="t" r="r" b="b"/>
            <a:pathLst>
              <a:path w="6995570" h="607162">
                <a:moveTo>
                  <a:pt x="0" y="0"/>
                </a:moveTo>
                <a:lnTo>
                  <a:pt x="6995570" y="0"/>
                </a:lnTo>
                <a:lnTo>
                  <a:pt x="6995570" y="607162"/>
                </a:lnTo>
                <a:lnTo>
                  <a:pt x="0" y="607162"/>
                </a:lnTo>
                <a:lnTo>
                  <a:pt x="0" y="0"/>
                </a:lnTo>
                <a:close/>
              </a:path>
            </a:pathLst>
          </a:custGeom>
          <a:blipFill>
            <a:blip r:embed="rId4">
              <a:extLst>
                <a:ext uri="{96DAC541-7B7A-43D3-8B79-37D633B846F1}">
                  <asvg:svgBlip xmlns:asvg="http://schemas.microsoft.com/office/drawing/2016/SVG/main" r:embed="rId5"/>
                </a:ext>
              </a:extLst>
            </a:blip>
            <a:stretch>
              <a:fillRect t="-163" b="-161"/>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629250" y="509054"/>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96211" y="144008"/>
            <a:ext cx="1433332" cy="1700832"/>
          </a:xfrm>
          <a:custGeom>
            <a:avLst/>
            <a:gdLst/>
            <a:ahLst/>
            <a:cxnLst/>
            <a:rect l="l" t="t" r="r" b="b"/>
            <a:pathLst>
              <a:path w="1433332" h="1700832">
                <a:moveTo>
                  <a:pt x="0" y="0"/>
                </a:moveTo>
                <a:lnTo>
                  <a:pt x="1433331" y="0"/>
                </a:lnTo>
                <a:lnTo>
                  <a:pt x="1433331" y="1700832"/>
                </a:lnTo>
                <a:lnTo>
                  <a:pt x="0" y="17008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aphicFrame>
        <p:nvGraphicFramePr>
          <p:cNvPr id="5" name="Table 5"/>
          <p:cNvGraphicFramePr>
            <a:graphicFrameLocks noGrp="1"/>
          </p:cNvGraphicFramePr>
          <p:nvPr/>
        </p:nvGraphicFramePr>
        <p:xfrm>
          <a:off x="1870220" y="5671476"/>
          <a:ext cx="14524195" cy="3063685"/>
        </p:xfrm>
        <a:graphic>
          <a:graphicData uri="http://schemas.openxmlformats.org/drawingml/2006/table">
            <a:tbl>
              <a:tblPr/>
              <a:tblGrid>
                <a:gridCol w="2904839">
                  <a:extLst>
                    <a:ext uri="{9D8B030D-6E8A-4147-A177-3AD203B41FA5}">
                      <a16:colId xmlns:a16="http://schemas.microsoft.com/office/drawing/2014/main" val="20000"/>
                    </a:ext>
                  </a:extLst>
                </a:gridCol>
                <a:gridCol w="2904839">
                  <a:extLst>
                    <a:ext uri="{9D8B030D-6E8A-4147-A177-3AD203B41FA5}">
                      <a16:colId xmlns:a16="http://schemas.microsoft.com/office/drawing/2014/main" val="20001"/>
                    </a:ext>
                  </a:extLst>
                </a:gridCol>
                <a:gridCol w="2904839">
                  <a:extLst>
                    <a:ext uri="{9D8B030D-6E8A-4147-A177-3AD203B41FA5}">
                      <a16:colId xmlns:a16="http://schemas.microsoft.com/office/drawing/2014/main" val="20002"/>
                    </a:ext>
                  </a:extLst>
                </a:gridCol>
                <a:gridCol w="2904839">
                  <a:extLst>
                    <a:ext uri="{9D8B030D-6E8A-4147-A177-3AD203B41FA5}">
                      <a16:colId xmlns:a16="http://schemas.microsoft.com/office/drawing/2014/main" val="20003"/>
                    </a:ext>
                  </a:extLst>
                </a:gridCol>
                <a:gridCol w="2904839">
                  <a:extLst>
                    <a:ext uri="{9D8B030D-6E8A-4147-A177-3AD203B41FA5}">
                      <a16:colId xmlns:a16="http://schemas.microsoft.com/office/drawing/2014/main" val="20004"/>
                    </a:ext>
                  </a:extLst>
                </a:gridCol>
              </a:tblGrid>
              <a:tr h="535629">
                <a:tc>
                  <a:txBody>
                    <a:bodyPr/>
                    <a:lstStyle/>
                    <a:p>
                      <a:pPr algn="l">
                        <a:lnSpc>
                          <a:spcPts val="1680"/>
                        </a:lnSpc>
                        <a:defRPr/>
                      </a:pPr>
                      <a:r>
                        <a:rPr lang="en-US" sz="1400" b="1">
                          <a:solidFill>
                            <a:srgbClr val="FFFFFF"/>
                          </a:solidFill>
                          <a:latin typeface="Poppins Bold"/>
                          <a:ea typeface="Poppins Bold"/>
                          <a:cs typeface="Poppins Bold"/>
                          <a:sym typeface="Poppins Bold"/>
                        </a:rPr>
                        <a:t>Tipo de Buzón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9EF4"/>
                    </a:solidFill>
                  </a:tcPr>
                </a:tc>
                <a:tc>
                  <a:txBody>
                    <a:bodyPr/>
                    <a:lstStyle/>
                    <a:p>
                      <a:pPr algn="l">
                        <a:lnSpc>
                          <a:spcPts val="1680"/>
                        </a:lnSpc>
                        <a:defRPr/>
                      </a:pPr>
                      <a:r>
                        <a:rPr lang="en-US" sz="1400" b="1">
                          <a:solidFill>
                            <a:srgbClr val="FFFFFF"/>
                          </a:solidFill>
                          <a:latin typeface="Poppins Bold"/>
                          <a:ea typeface="Poppins Bold"/>
                          <a:cs typeface="Poppins Bold"/>
                          <a:sym typeface="Poppins Bold"/>
                        </a:rPr>
                        <a:t>Usuario propio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9EF4"/>
                    </a:solidFill>
                  </a:tcPr>
                </a:tc>
                <a:tc>
                  <a:txBody>
                    <a:bodyPr/>
                    <a:lstStyle/>
                    <a:p>
                      <a:pPr algn="l">
                        <a:lnSpc>
                          <a:spcPts val="1680"/>
                        </a:lnSpc>
                        <a:defRPr/>
                      </a:pPr>
                      <a:r>
                        <a:rPr lang="en-US" sz="1400" b="1">
                          <a:solidFill>
                            <a:srgbClr val="FFFFFF"/>
                          </a:solidFill>
                          <a:latin typeface="Poppins Bold"/>
                          <a:ea typeface="Poppins Bold"/>
                          <a:cs typeface="Poppins Bold"/>
                          <a:sym typeface="Poppins Bold"/>
                        </a:rPr>
                        <a:t>Contraseña propia</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9EF4"/>
                    </a:solidFill>
                  </a:tcPr>
                </a:tc>
                <a:tc>
                  <a:txBody>
                    <a:bodyPr/>
                    <a:lstStyle/>
                    <a:p>
                      <a:pPr algn="l">
                        <a:lnSpc>
                          <a:spcPts val="1680"/>
                        </a:lnSpc>
                        <a:defRPr/>
                      </a:pPr>
                      <a:r>
                        <a:rPr lang="en-US" sz="1400" b="1">
                          <a:solidFill>
                            <a:srgbClr val="FFFFFF"/>
                          </a:solidFill>
                          <a:latin typeface="Poppins Bold"/>
                          <a:ea typeface="Poppins Bold"/>
                          <a:cs typeface="Poppins Bold"/>
                          <a:sym typeface="Poppins Bold"/>
                        </a:rPr>
                        <a:t>Licencia</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9EF4"/>
                    </a:solidFill>
                  </a:tcPr>
                </a:tc>
                <a:tc>
                  <a:txBody>
                    <a:bodyPr/>
                    <a:lstStyle/>
                    <a:p>
                      <a:pPr algn="l">
                        <a:lnSpc>
                          <a:spcPts val="1680"/>
                        </a:lnSpc>
                        <a:defRPr/>
                      </a:pPr>
                      <a:r>
                        <a:rPr lang="en-US" sz="1400" b="1">
                          <a:solidFill>
                            <a:srgbClr val="FFFFFF"/>
                          </a:solidFill>
                          <a:latin typeface="Poppins Bold"/>
                          <a:ea typeface="Poppins Bold"/>
                          <a:cs typeface="Poppins Bold"/>
                          <a:sym typeface="Poppins Bold"/>
                        </a:rPr>
                        <a:t>Acceso múltiple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9EF4"/>
                    </a:solidFill>
                  </a:tcPr>
                </a:tc>
                <a:extLst>
                  <a:ext uri="{0D108BD9-81ED-4DB2-BD59-A6C34878D82A}">
                    <a16:rowId xmlns:a16="http://schemas.microsoft.com/office/drawing/2014/main" val="10000"/>
                  </a:ext>
                </a:extLst>
              </a:tr>
              <a:tr h="629629">
                <a:tc>
                  <a:txBody>
                    <a:bodyPr/>
                    <a:lstStyle/>
                    <a:p>
                      <a:pPr algn="l">
                        <a:lnSpc>
                          <a:spcPts val="2160"/>
                        </a:lnSpc>
                        <a:defRPr/>
                      </a:pPr>
                      <a:r>
                        <a:rPr lang="en-US" sz="1800">
                          <a:solidFill>
                            <a:srgbClr val="000000"/>
                          </a:solidFill>
                          <a:latin typeface="Poppins"/>
                          <a:ea typeface="Poppins"/>
                          <a:cs typeface="Poppins"/>
                          <a:sym typeface="Poppins"/>
                        </a:rPr>
                        <a:t>Personal</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a:solidFill>
                            <a:srgbClr val="000000"/>
                          </a:solidFill>
                          <a:latin typeface="Poppins"/>
                          <a:ea typeface="Poppins"/>
                          <a:cs typeface="Poppins"/>
                          <a:sym typeface="Poppins"/>
                        </a:rPr>
                        <a:t>SI</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a:solidFill>
                            <a:srgbClr val="000000"/>
                          </a:solidFill>
                          <a:latin typeface="Poppins"/>
                          <a:ea typeface="Poppins"/>
                          <a:cs typeface="Poppins"/>
                          <a:sym typeface="Poppins"/>
                        </a:rPr>
                        <a:t>SI</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a:solidFill>
                            <a:srgbClr val="000000"/>
                          </a:solidFill>
                          <a:latin typeface="Poppins"/>
                          <a:ea typeface="Poppins"/>
                          <a:cs typeface="Poppins"/>
                          <a:sym typeface="Poppins"/>
                        </a:rPr>
                        <a:t>SI</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a:solidFill>
                            <a:srgbClr val="000000"/>
                          </a:solidFill>
                          <a:latin typeface="Poppins"/>
                          <a:ea typeface="Poppins"/>
                          <a:cs typeface="Poppins"/>
                          <a:sym typeface="Poppins"/>
                        </a:rPr>
                        <a:t>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1"/>
                  </a:ext>
                </a:extLst>
              </a:tr>
              <a:tr h="629629">
                <a:tc>
                  <a:txBody>
                    <a:bodyPr/>
                    <a:lstStyle/>
                    <a:p>
                      <a:pPr algn="l">
                        <a:lnSpc>
                          <a:spcPts val="2160"/>
                        </a:lnSpc>
                        <a:defRPr/>
                      </a:pPr>
                      <a:r>
                        <a:rPr lang="en-US" sz="1800">
                          <a:solidFill>
                            <a:srgbClr val="000000"/>
                          </a:solidFill>
                          <a:latin typeface="Poppins"/>
                          <a:ea typeface="Poppins"/>
                          <a:cs typeface="Poppins"/>
                          <a:sym typeface="Poppins"/>
                        </a:rPr>
                        <a:t>Compartido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a:solidFill>
                            <a:srgbClr val="000000"/>
                          </a:solidFill>
                          <a:latin typeface="Poppins"/>
                          <a:ea typeface="Poppins"/>
                          <a:cs typeface="Poppins"/>
                          <a:sym typeface="Poppins"/>
                        </a:rPr>
                        <a:t>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a:solidFill>
                            <a:srgbClr val="000000"/>
                          </a:solidFill>
                          <a:latin typeface="Poppins"/>
                          <a:ea typeface="Poppins"/>
                          <a:cs typeface="Poppins"/>
                          <a:sym typeface="Poppins"/>
                        </a:rPr>
                        <a:t>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a:solidFill>
                            <a:srgbClr val="000000"/>
                          </a:solidFill>
                          <a:latin typeface="Poppins"/>
                          <a:ea typeface="Poppins"/>
                          <a:cs typeface="Poppins"/>
                          <a:sym typeface="Poppins"/>
                        </a:rPr>
                        <a:t>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a:solidFill>
                            <a:srgbClr val="000000"/>
                          </a:solidFill>
                          <a:latin typeface="Poppins"/>
                          <a:ea typeface="Poppins"/>
                          <a:cs typeface="Poppins"/>
                          <a:sym typeface="Poppins"/>
                        </a:rPr>
                        <a:t>SI</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629629">
                <a:tc>
                  <a:txBody>
                    <a:bodyPr/>
                    <a:lstStyle/>
                    <a:p>
                      <a:pPr algn="l">
                        <a:lnSpc>
                          <a:spcPts val="2160"/>
                        </a:lnSpc>
                        <a:defRPr/>
                      </a:pPr>
                      <a:r>
                        <a:rPr lang="en-US" sz="1800">
                          <a:solidFill>
                            <a:srgbClr val="000000"/>
                          </a:solidFill>
                          <a:latin typeface="Poppins"/>
                          <a:ea typeface="Poppins"/>
                          <a:cs typeface="Poppins"/>
                          <a:sym typeface="Poppins"/>
                        </a:rPr>
                        <a:t>Genérico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a:solidFill>
                            <a:srgbClr val="000000"/>
                          </a:solidFill>
                          <a:latin typeface="Poppins"/>
                          <a:ea typeface="Poppins"/>
                          <a:cs typeface="Poppins"/>
                          <a:sym typeface="Poppins"/>
                        </a:rPr>
                        <a:t>DEPENDE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a:solidFill>
                            <a:srgbClr val="000000"/>
                          </a:solidFill>
                          <a:latin typeface="Poppins"/>
                          <a:ea typeface="Poppins"/>
                          <a:cs typeface="Poppins"/>
                          <a:sym typeface="Poppins"/>
                        </a:rPr>
                        <a:t>SI</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a:solidFill>
                            <a:srgbClr val="000000"/>
                          </a:solidFill>
                          <a:latin typeface="Poppins"/>
                          <a:ea typeface="Poppins"/>
                          <a:cs typeface="Poppins"/>
                          <a:sym typeface="Poppins"/>
                        </a:rPr>
                        <a:t>SI</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tc>
                  <a:txBody>
                    <a:bodyPr/>
                    <a:lstStyle/>
                    <a:p>
                      <a:pPr algn="l">
                        <a:lnSpc>
                          <a:spcPts val="2160"/>
                        </a:lnSpc>
                        <a:defRPr/>
                      </a:pPr>
                      <a:r>
                        <a:rPr lang="en-US" sz="1800">
                          <a:solidFill>
                            <a:srgbClr val="000000"/>
                          </a:solidFill>
                          <a:latin typeface="Poppins"/>
                          <a:ea typeface="Poppins"/>
                          <a:cs typeface="Poppins"/>
                          <a:sym typeface="Poppins"/>
                        </a:rPr>
                        <a:t>DEPENDE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0D8E8"/>
                    </a:solidFill>
                  </a:tcPr>
                </a:tc>
                <a:extLst>
                  <a:ext uri="{0D108BD9-81ED-4DB2-BD59-A6C34878D82A}">
                    <a16:rowId xmlns:a16="http://schemas.microsoft.com/office/drawing/2014/main" val="10003"/>
                  </a:ext>
                </a:extLst>
              </a:tr>
              <a:tr h="639169">
                <a:tc>
                  <a:txBody>
                    <a:bodyPr/>
                    <a:lstStyle/>
                    <a:p>
                      <a:pPr algn="l">
                        <a:lnSpc>
                          <a:spcPts val="2160"/>
                        </a:lnSpc>
                        <a:defRPr/>
                      </a:pPr>
                      <a:r>
                        <a:rPr lang="en-US" sz="1800">
                          <a:solidFill>
                            <a:srgbClr val="000000"/>
                          </a:solidFill>
                          <a:latin typeface="Poppins"/>
                          <a:ea typeface="Poppins"/>
                          <a:cs typeface="Poppins"/>
                          <a:sym typeface="Poppins"/>
                        </a:rPr>
                        <a:t>Externo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160"/>
                        </a:lnSpc>
                        <a:defRPr/>
                      </a:pPr>
                      <a:r>
                        <a:rPr lang="en-US" sz="1800">
                          <a:solidFill>
                            <a:srgbClr val="000000"/>
                          </a:solidFill>
                          <a:latin typeface="Poppins"/>
                          <a:ea typeface="Poppins"/>
                          <a:cs typeface="Poppins"/>
                          <a:sym typeface="Poppins"/>
                        </a:rPr>
                        <a:t>SI</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520"/>
                        </a:lnSpc>
                        <a:defRPr/>
                      </a:pPr>
                      <a:r>
                        <a:rPr lang="en-US" sz="1800">
                          <a:solidFill>
                            <a:srgbClr val="000000"/>
                          </a:solidFill>
                          <a:latin typeface="Poppins"/>
                          <a:ea typeface="Poppins"/>
                          <a:cs typeface="Poppins"/>
                          <a:sym typeface="Poppins"/>
                        </a:rPr>
                        <a:t>SÍ</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520"/>
                        </a:lnSpc>
                        <a:defRPr/>
                      </a:pPr>
                      <a:r>
                        <a:rPr lang="en-US" sz="1800">
                          <a:solidFill>
                            <a:srgbClr val="000000"/>
                          </a:solidFill>
                          <a:latin typeface="Poppins"/>
                          <a:ea typeface="Poppins"/>
                          <a:cs typeface="Poppins"/>
                          <a:sym typeface="Poppins"/>
                        </a:rPr>
                        <a:t>SÍ</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tc>
                  <a:txBody>
                    <a:bodyPr/>
                    <a:lstStyle/>
                    <a:p>
                      <a:pPr algn="l">
                        <a:lnSpc>
                          <a:spcPts val="2520"/>
                        </a:lnSpc>
                        <a:defRPr/>
                      </a:pPr>
                      <a:r>
                        <a:rPr lang="en-US" sz="1800">
                          <a:solidFill>
                            <a:srgbClr val="000000"/>
                          </a:solidFill>
                          <a:latin typeface="Poppins"/>
                          <a:ea typeface="Poppins"/>
                          <a:cs typeface="Poppins"/>
                          <a:sym typeface="Poppins"/>
                        </a:rPr>
                        <a:t>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9EDF4"/>
                    </a:solidFill>
                  </a:tcPr>
                </a:tc>
                <a:extLst>
                  <a:ext uri="{0D108BD9-81ED-4DB2-BD59-A6C34878D82A}">
                    <a16:rowId xmlns:a16="http://schemas.microsoft.com/office/drawing/2014/main" val="10004"/>
                  </a:ext>
                </a:extLst>
              </a:tr>
            </a:tbl>
          </a:graphicData>
        </a:graphic>
      </p:graphicFrame>
      <p:grpSp>
        <p:nvGrpSpPr>
          <p:cNvPr id="6" name="Group 6"/>
          <p:cNvGrpSpPr/>
          <p:nvPr/>
        </p:nvGrpSpPr>
        <p:grpSpPr>
          <a:xfrm>
            <a:off x="1092866" y="2484641"/>
            <a:ext cx="3810788" cy="1916602"/>
            <a:chOff x="0" y="0"/>
            <a:chExt cx="1003664" cy="504784"/>
          </a:xfrm>
        </p:grpSpPr>
        <p:sp>
          <p:nvSpPr>
            <p:cNvPr id="7" name="Freeform 7"/>
            <p:cNvSpPr/>
            <p:nvPr/>
          </p:nvSpPr>
          <p:spPr>
            <a:xfrm>
              <a:off x="0" y="0"/>
              <a:ext cx="1003664" cy="504784"/>
            </a:xfrm>
            <a:custGeom>
              <a:avLst/>
              <a:gdLst/>
              <a:ahLst/>
              <a:cxnLst/>
              <a:rect l="l" t="t" r="r" b="b"/>
              <a:pathLst>
                <a:path w="1003664" h="504784">
                  <a:moveTo>
                    <a:pt x="111737" y="0"/>
                  </a:moveTo>
                  <a:lnTo>
                    <a:pt x="891928" y="0"/>
                  </a:lnTo>
                  <a:cubicBezTo>
                    <a:pt x="921562" y="0"/>
                    <a:pt x="949983" y="11772"/>
                    <a:pt x="970937" y="32727"/>
                  </a:cubicBezTo>
                  <a:cubicBezTo>
                    <a:pt x="991892" y="53682"/>
                    <a:pt x="1003664" y="82102"/>
                    <a:pt x="1003664" y="111737"/>
                  </a:cubicBezTo>
                  <a:lnTo>
                    <a:pt x="1003664" y="393047"/>
                  </a:lnTo>
                  <a:cubicBezTo>
                    <a:pt x="1003664" y="422682"/>
                    <a:pt x="991892" y="451102"/>
                    <a:pt x="970937" y="472057"/>
                  </a:cubicBezTo>
                  <a:cubicBezTo>
                    <a:pt x="949983" y="493012"/>
                    <a:pt x="921562" y="504784"/>
                    <a:pt x="891928" y="504784"/>
                  </a:cubicBezTo>
                  <a:lnTo>
                    <a:pt x="111737" y="504784"/>
                  </a:lnTo>
                  <a:cubicBezTo>
                    <a:pt x="82102" y="504784"/>
                    <a:pt x="53682" y="493012"/>
                    <a:pt x="32727" y="472057"/>
                  </a:cubicBezTo>
                  <a:cubicBezTo>
                    <a:pt x="11772" y="451102"/>
                    <a:pt x="0" y="422682"/>
                    <a:pt x="0" y="393047"/>
                  </a:cubicBezTo>
                  <a:lnTo>
                    <a:pt x="0" y="111737"/>
                  </a:lnTo>
                  <a:cubicBezTo>
                    <a:pt x="0" y="82102"/>
                    <a:pt x="11772" y="53682"/>
                    <a:pt x="32727" y="32727"/>
                  </a:cubicBezTo>
                  <a:cubicBezTo>
                    <a:pt x="53682" y="11772"/>
                    <a:pt x="82102" y="0"/>
                    <a:pt x="111737" y="0"/>
                  </a:cubicBezTo>
                  <a:close/>
                </a:path>
              </a:pathLst>
            </a:custGeom>
            <a:solidFill>
              <a:srgbClr val="009BF8"/>
            </a:solidFill>
          </p:spPr>
        </p:sp>
        <p:sp>
          <p:nvSpPr>
            <p:cNvPr id="8" name="TextBox 8"/>
            <p:cNvSpPr txBox="1"/>
            <p:nvPr/>
          </p:nvSpPr>
          <p:spPr>
            <a:xfrm>
              <a:off x="0" y="-133350"/>
              <a:ext cx="1003664" cy="638134"/>
            </a:xfrm>
            <a:prstGeom prst="rect">
              <a:avLst/>
            </a:prstGeom>
          </p:spPr>
          <p:txBody>
            <a:bodyPr lIns="50800" tIns="50800" rIns="50800" bIns="50800" rtlCol="0" anchor="ctr"/>
            <a:lstStyle/>
            <a:p>
              <a:pPr algn="ctr">
                <a:lnSpc>
                  <a:spcPts val="3520"/>
                </a:lnSpc>
              </a:pPr>
              <a:endParaRPr/>
            </a:p>
          </p:txBody>
        </p:sp>
      </p:grpSp>
      <p:grpSp>
        <p:nvGrpSpPr>
          <p:cNvPr id="9" name="Group 9"/>
          <p:cNvGrpSpPr/>
          <p:nvPr/>
        </p:nvGrpSpPr>
        <p:grpSpPr>
          <a:xfrm>
            <a:off x="1402601" y="2191371"/>
            <a:ext cx="3239500" cy="686529"/>
            <a:chOff x="0" y="0"/>
            <a:chExt cx="1204730" cy="255312"/>
          </a:xfrm>
        </p:grpSpPr>
        <p:sp>
          <p:nvSpPr>
            <p:cNvPr id="10" name="Freeform 10"/>
            <p:cNvSpPr/>
            <p:nvPr/>
          </p:nvSpPr>
          <p:spPr>
            <a:xfrm>
              <a:off x="0" y="0"/>
              <a:ext cx="1204730" cy="255312"/>
            </a:xfrm>
            <a:custGeom>
              <a:avLst/>
              <a:gdLst/>
              <a:ahLst/>
              <a:cxnLst/>
              <a:rect l="l" t="t" r="r" b="b"/>
              <a:pathLst>
                <a:path w="1204730" h="255312">
                  <a:moveTo>
                    <a:pt x="114713" y="0"/>
                  </a:moveTo>
                  <a:lnTo>
                    <a:pt x="1090017" y="0"/>
                  </a:lnTo>
                  <a:cubicBezTo>
                    <a:pt x="1153371" y="0"/>
                    <a:pt x="1204730" y="51359"/>
                    <a:pt x="1204730" y="114713"/>
                  </a:cubicBezTo>
                  <a:lnTo>
                    <a:pt x="1204730" y="140599"/>
                  </a:lnTo>
                  <a:cubicBezTo>
                    <a:pt x="1204730" y="203953"/>
                    <a:pt x="1153371" y="255312"/>
                    <a:pt x="1090017" y="255312"/>
                  </a:cubicBezTo>
                  <a:lnTo>
                    <a:pt x="114713" y="255312"/>
                  </a:lnTo>
                  <a:cubicBezTo>
                    <a:pt x="51359" y="255312"/>
                    <a:pt x="0" y="203953"/>
                    <a:pt x="0" y="140599"/>
                  </a:cubicBezTo>
                  <a:lnTo>
                    <a:pt x="0" y="114713"/>
                  </a:lnTo>
                  <a:cubicBezTo>
                    <a:pt x="0" y="51359"/>
                    <a:pt x="51359" y="0"/>
                    <a:pt x="114713" y="0"/>
                  </a:cubicBezTo>
                  <a:close/>
                </a:path>
              </a:pathLst>
            </a:custGeom>
            <a:solidFill>
              <a:srgbClr val="FFFFFF"/>
            </a:solidFill>
            <a:ln w="38100" cap="rnd">
              <a:solidFill>
                <a:srgbClr val="009BF8"/>
              </a:solidFill>
              <a:prstDash val="solid"/>
              <a:round/>
            </a:ln>
          </p:spPr>
        </p:sp>
        <p:sp>
          <p:nvSpPr>
            <p:cNvPr id="11" name="TextBox 11"/>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grpSp>
        <p:nvGrpSpPr>
          <p:cNvPr id="12" name="Group 12"/>
          <p:cNvGrpSpPr/>
          <p:nvPr/>
        </p:nvGrpSpPr>
        <p:grpSpPr>
          <a:xfrm>
            <a:off x="5191269" y="2484641"/>
            <a:ext cx="3810788" cy="1916602"/>
            <a:chOff x="0" y="0"/>
            <a:chExt cx="1003664" cy="504784"/>
          </a:xfrm>
        </p:grpSpPr>
        <p:sp>
          <p:nvSpPr>
            <p:cNvPr id="13" name="Freeform 13"/>
            <p:cNvSpPr/>
            <p:nvPr/>
          </p:nvSpPr>
          <p:spPr>
            <a:xfrm>
              <a:off x="0" y="0"/>
              <a:ext cx="1003664" cy="504784"/>
            </a:xfrm>
            <a:custGeom>
              <a:avLst/>
              <a:gdLst/>
              <a:ahLst/>
              <a:cxnLst/>
              <a:rect l="l" t="t" r="r" b="b"/>
              <a:pathLst>
                <a:path w="1003664" h="504784">
                  <a:moveTo>
                    <a:pt x="111737" y="0"/>
                  </a:moveTo>
                  <a:lnTo>
                    <a:pt x="891928" y="0"/>
                  </a:lnTo>
                  <a:cubicBezTo>
                    <a:pt x="921562" y="0"/>
                    <a:pt x="949983" y="11772"/>
                    <a:pt x="970937" y="32727"/>
                  </a:cubicBezTo>
                  <a:cubicBezTo>
                    <a:pt x="991892" y="53682"/>
                    <a:pt x="1003664" y="82102"/>
                    <a:pt x="1003664" y="111737"/>
                  </a:cubicBezTo>
                  <a:lnTo>
                    <a:pt x="1003664" y="393047"/>
                  </a:lnTo>
                  <a:cubicBezTo>
                    <a:pt x="1003664" y="422682"/>
                    <a:pt x="991892" y="451102"/>
                    <a:pt x="970937" y="472057"/>
                  </a:cubicBezTo>
                  <a:cubicBezTo>
                    <a:pt x="949983" y="493012"/>
                    <a:pt x="921562" y="504784"/>
                    <a:pt x="891928" y="504784"/>
                  </a:cubicBezTo>
                  <a:lnTo>
                    <a:pt x="111737" y="504784"/>
                  </a:lnTo>
                  <a:cubicBezTo>
                    <a:pt x="82102" y="504784"/>
                    <a:pt x="53682" y="493012"/>
                    <a:pt x="32727" y="472057"/>
                  </a:cubicBezTo>
                  <a:cubicBezTo>
                    <a:pt x="11772" y="451102"/>
                    <a:pt x="0" y="422682"/>
                    <a:pt x="0" y="393047"/>
                  </a:cubicBezTo>
                  <a:lnTo>
                    <a:pt x="0" y="111737"/>
                  </a:lnTo>
                  <a:cubicBezTo>
                    <a:pt x="0" y="82102"/>
                    <a:pt x="11772" y="53682"/>
                    <a:pt x="32727" y="32727"/>
                  </a:cubicBezTo>
                  <a:cubicBezTo>
                    <a:pt x="53682" y="11772"/>
                    <a:pt x="82102" y="0"/>
                    <a:pt x="111737" y="0"/>
                  </a:cubicBezTo>
                  <a:close/>
                </a:path>
              </a:pathLst>
            </a:custGeom>
            <a:solidFill>
              <a:srgbClr val="009BF8"/>
            </a:solidFill>
          </p:spPr>
        </p:sp>
        <p:sp>
          <p:nvSpPr>
            <p:cNvPr id="14" name="TextBox 14"/>
            <p:cNvSpPr txBox="1"/>
            <p:nvPr/>
          </p:nvSpPr>
          <p:spPr>
            <a:xfrm>
              <a:off x="0" y="-133350"/>
              <a:ext cx="1003664" cy="638134"/>
            </a:xfrm>
            <a:prstGeom prst="rect">
              <a:avLst/>
            </a:prstGeom>
          </p:spPr>
          <p:txBody>
            <a:bodyPr lIns="50800" tIns="50800" rIns="50800" bIns="50800" rtlCol="0" anchor="ctr"/>
            <a:lstStyle/>
            <a:p>
              <a:pPr algn="ctr">
                <a:lnSpc>
                  <a:spcPts val="3520"/>
                </a:lnSpc>
              </a:pPr>
              <a:endParaRPr/>
            </a:p>
          </p:txBody>
        </p:sp>
      </p:grpSp>
      <p:grpSp>
        <p:nvGrpSpPr>
          <p:cNvPr id="15" name="Group 15"/>
          <p:cNvGrpSpPr/>
          <p:nvPr/>
        </p:nvGrpSpPr>
        <p:grpSpPr>
          <a:xfrm>
            <a:off x="5473175" y="2191371"/>
            <a:ext cx="3239500" cy="686529"/>
            <a:chOff x="0" y="0"/>
            <a:chExt cx="1204730" cy="255312"/>
          </a:xfrm>
        </p:grpSpPr>
        <p:sp>
          <p:nvSpPr>
            <p:cNvPr id="16" name="Freeform 16"/>
            <p:cNvSpPr/>
            <p:nvPr/>
          </p:nvSpPr>
          <p:spPr>
            <a:xfrm>
              <a:off x="0" y="0"/>
              <a:ext cx="1204730" cy="255312"/>
            </a:xfrm>
            <a:custGeom>
              <a:avLst/>
              <a:gdLst/>
              <a:ahLst/>
              <a:cxnLst/>
              <a:rect l="l" t="t" r="r" b="b"/>
              <a:pathLst>
                <a:path w="1204730" h="255312">
                  <a:moveTo>
                    <a:pt x="114713" y="0"/>
                  </a:moveTo>
                  <a:lnTo>
                    <a:pt x="1090017" y="0"/>
                  </a:lnTo>
                  <a:cubicBezTo>
                    <a:pt x="1153371" y="0"/>
                    <a:pt x="1204730" y="51359"/>
                    <a:pt x="1204730" y="114713"/>
                  </a:cubicBezTo>
                  <a:lnTo>
                    <a:pt x="1204730" y="140599"/>
                  </a:lnTo>
                  <a:cubicBezTo>
                    <a:pt x="1204730" y="203953"/>
                    <a:pt x="1153371" y="255312"/>
                    <a:pt x="1090017" y="255312"/>
                  </a:cubicBezTo>
                  <a:lnTo>
                    <a:pt x="114713" y="255312"/>
                  </a:lnTo>
                  <a:cubicBezTo>
                    <a:pt x="51359" y="255312"/>
                    <a:pt x="0" y="203953"/>
                    <a:pt x="0" y="140599"/>
                  </a:cubicBezTo>
                  <a:lnTo>
                    <a:pt x="0" y="114713"/>
                  </a:lnTo>
                  <a:cubicBezTo>
                    <a:pt x="0" y="51359"/>
                    <a:pt x="51359" y="0"/>
                    <a:pt x="114713" y="0"/>
                  </a:cubicBezTo>
                  <a:close/>
                </a:path>
              </a:pathLst>
            </a:custGeom>
            <a:solidFill>
              <a:srgbClr val="FFFFFF"/>
            </a:solidFill>
            <a:ln w="38100" cap="rnd">
              <a:solidFill>
                <a:srgbClr val="009BF8"/>
              </a:solidFill>
              <a:prstDash val="solid"/>
              <a:round/>
            </a:ln>
          </p:spPr>
        </p:sp>
        <p:sp>
          <p:nvSpPr>
            <p:cNvPr id="17" name="TextBox 17"/>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grpSp>
        <p:nvGrpSpPr>
          <p:cNvPr id="18" name="Group 18"/>
          <p:cNvGrpSpPr/>
          <p:nvPr/>
        </p:nvGrpSpPr>
        <p:grpSpPr>
          <a:xfrm>
            <a:off x="9287807" y="2484641"/>
            <a:ext cx="3810788" cy="1916602"/>
            <a:chOff x="0" y="0"/>
            <a:chExt cx="1003664" cy="504784"/>
          </a:xfrm>
        </p:grpSpPr>
        <p:sp>
          <p:nvSpPr>
            <p:cNvPr id="19" name="Freeform 19"/>
            <p:cNvSpPr/>
            <p:nvPr/>
          </p:nvSpPr>
          <p:spPr>
            <a:xfrm>
              <a:off x="0" y="0"/>
              <a:ext cx="1003664" cy="504784"/>
            </a:xfrm>
            <a:custGeom>
              <a:avLst/>
              <a:gdLst/>
              <a:ahLst/>
              <a:cxnLst/>
              <a:rect l="l" t="t" r="r" b="b"/>
              <a:pathLst>
                <a:path w="1003664" h="504784">
                  <a:moveTo>
                    <a:pt x="111737" y="0"/>
                  </a:moveTo>
                  <a:lnTo>
                    <a:pt x="891928" y="0"/>
                  </a:lnTo>
                  <a:cubicBezTo>
                    <a:pt x="921562" y="0"/>
                    <a:pt x="949983" y="11772"/>
                    <a:pt x="970937" y="32727"/>
                  </a:cubicBezTo>
                  <a:cubicBezTo>
                    <a:pt x="991892" y="53682"/>
                    <a:pt x="1003664" y="82102"/>
                    <a:pt x="1003664" y="111737"/>
                  </a:cubicBezTo>
                  <a:lnTo>
                    <a:pt x="1003664" y="393047"/>
                  </a:lnTo>
                  <a:cubicBezTo>
                    <a:pt x="1003664" y="422682"/>
                    <a:pt x="991892" y="451102"/>
                    <a:pt x="970937" y="472057"/>
                  </a:cubicBezTo>
                  <a:cubicBezTo>
                    <a:pt x="949983" y="493012"/>
                    <a:pt x="921562" y="504784"/>
                    <a:pt x="891928" y="504784"/>
                  </a:cubicBezTo>
                  <a:lnTo>
                    <a:pt x="111737" y="504784"/>
                  </a:lnTo>
                  <a:cubicBezTo>
                    <a:pt x="82102" y="504784"/>
                    <a:pt x="53682" y="493012"/>
                    <a:pt x="32727" y="472057"/>
                  </a:cubicBezTo>
                  <a:cubicBezTo>
                    <a:pt x="11772" y="451102"/>
                    <a:pt x="0" y="422682"/>
                    <a:pt x="0" y="393047"/>
                  </a:cubicBezTo>
                  <a:lnTo>
                    <a:pt x="0" y="111737"/>
                  </a:lnTo>
                  <a:cubicBezTo>
                    <a:pt x="0" y="82102"/>
                    <a:pt x="11772" y="53682"/>
                    <a:pt x="32727" y="32727"/>
                  </a:cubicBezTo>
                  <a:cubicBezTo>
                    <a:pt x="53682" y="11772"/>
                    <a:pt x="82102" y="0"/>
                    <a:pt x="111737" y="0"/>
                  </a:cubicBezTo>
                  <a:close/>
                </a:path>
              </a:pathLst>
            </a:custGeom>
            <a:solidFill>
              <a:srgbClr val="009BF8"/>
            </a:solidFill>
          </p:spPr>
        </p:sp>
        <p:sp>
          <p:nvSpPr>
            <p:cNvPr id="20" name="TextBox 20"/>
            <p:cNvSpPr txBox="1"/>
            <p:nvPr/>
          </p:nvSpPr>
          <p:spPr>
            <a:xfrm>
              <a:off x="0" y="-133350"/>
              <a:ext cx="1003664" cy="638134"/>
            </a:xfrm>
            <a:prstGeom prst="rect">
              <a:avLst/>
            </a:prstGeom>
          </p:spPr>
          <p:txBody>
            <a:bodyPr lIns="50800" tIns="50800" rIns="50800" bIns="50800" rtlCol="0" anchor="ctr"/>
            <a:lstStyle/>
            <a:p>
              <a:pPr algn="ctr">
                <a:lnSpc>
                  <a:spcPts val="3520"/>
                </a:lnSpc>
              </a:pPr>
              <a:endParaRPr/>
            </a:p>
          </p:txBody>
        </p:sp>
      </p:grpSp>
      <p:grpSp>
        <p:nvGrpSpPr>
          <p:cNvPr id="21" name="Group 21"/>
          <p:cNvGrpSpPr/>
          <p:nvPr/>
        </p:nvGrpSpPr>
        <p:grpSpPr>
          <a:xfrm>
            <a:off x="9573557" y="2191371"/>
            <a:ext cx="3239500" cy="686529"/>
            <a:chOff x="0" y="0"/>
            <a:chExt cx="1204730" cy="255312"/>
          </a:xfrm>
        </p:grpSpPr>
        <p:sp>
          <p:nvSpPr>
            <p:cNvPr id="22" name="Freeform 22"/>
            <p:cNvSpPr/>
            <p:nvPr/>
          </p:nvSpPr>
          <p:spPr>
            <a:xfrm>
              <a:off x="0" y="0"/>
              <a:ext cx="1204730" cy="255312"/>
            </a:xfrm>
            <a:custGeom>
              <a:avLst/>
              <a:gdLst/>
              <a:ahLst/>
              <a:cxnLst/>
              <a:rect l="l" t="t" r="r" b="b"/>
              <a:pathLst>
                <a:path w="1204730" h="255312">
                  <a:moveTo>
                    <a:pt x="114713" y="0"/>
                  </a:moveTo>
                  <a:lnTo>
                    <a:pt x="1090017" y="0"/>
                  </a:lnTo>
                  <a:cubicBezTo>
                    <a:pt x="1153371" y="0"/>
                    <a:pt x="1204730" y="51359"/>
                    <a:pt x="1204730" y="114713"/>
                  </a:cubicBezTo>
                  <a:lnTo>
                    <a:pt x="1204730" y="140599"/>
                  </a:lnTo>
                  <a:cubicBezTo>
                    <a:pt x="1204730" y="203953"/>
                    <a:pt x="1153371" y="255312"/>
                    <a:pt x="1090017" y="255312"/>
                  </a:cubicBezTo>
                  <a:lnTo>
                    <a:pt x="114713" y="255312"/>
                  </a:lnTo>
                  <a:cubicBezTo>
                    <a:pt x="51359" y="255312"/>
                    <a:pt x="0" y="203953"/>
                    <a:pt x="0" y="140599"/>
                  </a:cubicBezTo>
                  <a:lnTo>
                    <a:pt x="0" y="114713"/>
                  </a:lnTo>
                  <a:cubicBezTo>
                    <a:pt x="0" y="51359"/>
                    <a:pt x="51359" y="0"/>
                    <a:pt x="114713" y="0"/>
                  </a:cubicBezTo>
                  <a:close/>
                </a:path>
              </a:pathLst>
            </a:custGeom>
            <a:solidFill>
              <a:srgbClr val="FFFFFF"/>
            </a:solidFill>
            <a:ln w="38100" cap="rnd">
              <a:solidFill>
                <a:srgbClr val="009BF8"/>
              </a:solidFill>
              <a:prstDash val="solid"/>
              <a:round/>
            </a:ln>
          </p:spPr>
        </p:sp>
        <p:sp>
          <p:nvSpPr>
            <p:cNvPr id="23" name="TextBox 23"/>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grpSp>
        <p:nvGrpSpPr>
          <p:cNvPr id="24" name="Group 24"/>
          <p:cNvGrpSpPr/>
          <p:nvPr/>
        </p:nvGrpSpPr>
        <p:grpSpPr>
          <a:xfrm>
            <a:off x="13384346" y="2484641"/>
            <a:ext cx="3810788" cy="1916602"/>
            <a:chOff x="0" y="0"/>
            <a:chExt cx="1003664" cy="504784"/>
          </a:xfrm>
        </p:grpSpPr>
        <p:sp>
          <p:nvSpPr>
            <p:cNvPr id="25" name="Freeform 25"/>
            <p:cNvSpPr/>
            <p:nvPr/>
          </p:nvSpPr>
          <p:spPr>
            <a:xfrm>
              <a:off x="0" y="0"/>
              <a:ext cx="1003664" cy="504784"/>
            </a:xfrm>
            <a:custGeom>
              <a:avLst/>
              <a:gdLst/>
              <a:ahLst/>
              <a:cxnLst/>
              <a:rect l="l" t="t" r="r" b="b"/>
              <a:pathLst>
                <a:path w="1003664" h="504784">
                  <a:moveTo>
                    <a:pt x="111737" y="0"/>
                  </a:moveTo>
                  <a:lnTo>
                    <a:pt x="891928" y="0"/>
                  </a:lnTo>
                  <a:cubicBezTo>
                    <a:pt x="921562" y="0"/>
                    <a:pt x="949983" y="11772"/>
                    <a:pt x="970937" y="32727"/>
                  </a:cubicBezTo>
                  <a:cubicBezTo>
                    <a:pt x="991892" y="53682"/>
                    <a:pt x="1003664" y="82102"/>
                    <a:pt x="1003664" y="111737"/>
                  </a:cubicBezTo>
                  <a:lnTo>
                    <a:pt x="1003664" y="393047"/>
                  </a:lnTo>
                  <a:cubicBezTo>
                    <a:pt x="1003664" y="422682"/>
                    <a:pt x="991892" y="451102"/>
                    <a:pt x="970937" y="472057"/>
                  </a:cubicBezTo>
                  <a:cubicBezTo>
                    <a:pt x="949983" y="493012"/>
                    <a:pt x="921562" y="504784"/>
                    <a:pt x="891928" y="504784"/>
                  </a:cubicBezTo>
                  <a:lnTo>
                    <a:pt x="111737" y="504784"/>
                  </a:lnTo>
                  <a:cubicBezTo>
                    <a:pt x="82102" y="504784"/>
                    <a:pt x="53682" y="493012"/>
                    <a:pt x="32727" y="472057"/>
                  </a:cubicBezTo>
                  <a:cubicBezTo>
                    <a:pt x="11772" y="451102"/>
                    <a:pt x="0" y="422682"/>
                    <a:pt x="0" y="393047"/>
                  </a:cubicBezTo>
                  <a:lnTo>
                    <a:pt x="0" y="111737"/>
                  </a:lnTo>
                  <a:cubicBezTo>
                    <a:pt x="0" y="82102"/>
                    <a:pt x="11772" y="53682"/>
                    <a:pt x="32727" y="32727"/>
                  </a:cubicBezTo>
                  <a:cubicBezTo>
                    <a:pt x="53682" y="11772"/>
                    <a:pt x="82102" y="0"/>
                    <a:pt x="111737" y="0"/>
                  </a:cubicBezTo>
                  <a:close/>
                </a:path>
              </a:pathLst>
            </a:custGeom>
            <a:solidFill>
              <a:srgbClr val="009BF8"/>
            </a:solidFill>
          </p:spPr>
        </p:sp>
        <p:sp>
          <p:nvSpPr>
            <p:cNvPr id="26" name="TextBox 26"/>
            <p:cNvSpPr txBox="1"/>
            <p:nvPr/>
          </p:nvSpPr>
          <p:spPr>
            <a:xfrm>
              <a:off x="0" y="-133350"/>
              <a:ext cx="1003664" cy="638134"/>
            </a:xfrm>
            <a:prstGeom prst="rect">
              <a:avLst/>
            </a:prstGeom>
          </p:spPr>
          <p:txBody>
            <a:bodyPr lIns="50800" tIns="50800" rIns="50800" bIns="50800" rtlCol="0" anchor="ctr"/>
            <a:lstStyle/>
            <a:p>
              <a:pPr algn="ctr">
                <a:lnSpc>
                  <a:spcPts val="3520"/>
                </a:lnSpc>
              </a:pPr>
              <a:endParaRPr/>
            </a:p>
          </p:txBody>
        </p:sp>
      </p:grpSp>
      <p:grpSp>
        <p:nvGrpSpPr>
          <p:cNvPr id="27" name="Group 27"/>
          <p:cNvGrpSpPr/>
          <p:nvPr/>
        </p:nvGrpSpPr>
        <p:grpSpPr>
          <a:xfrm>
            <a:off x="13669990" y="2191371"/>
            <a:ext cx="3239500" cy="686529"/>
            <a:chOff x="0" y="0"/>
            <a:chExt cx="1204730" cy="255312"/>
          </a:xfrm>
        </p:grpSpPr>
        <p:sp>
          <p:nvSpPr>
            <p:cNvPr id="28" name="Freeform 28"/>
            <p:cNvSpPr/>
            <p:nvPr/>
          </p:nvSpPr>
          <p:spPr>
            <a:xfrm>
              <a:off x="0" y="0"/>
              <a:ext cx="1204730" cy="255312"/>
            </a:xfrm>
            <a:custGeom>
              <a:avLst/>
              <a:gdLst/>
              <a:ahLst/>
              <a:cxnLst/>
              <a:rect l="l" t="t" r="r" b="b"/>
              <a:pathLst>
                <a:path w="1204730" h="255312">
                  <a:moveTo>
                    <a:pt x="114713" y="0"/>
                  </a:moveTo>
                  <a:lnTo>
                    <a:pt x="1090017" y="0"/>
                  </a:lnTo>
                  <a:cubicBezTo>
                    <a:pt x="1153371" y="0"/>
                    <a:pt x="1204730" y="51359"/>
                    <a:pt x="1204730" y="114713"/>
                  </a:cubicBezTo>
                  <a:lnTo>
                    <a:pt x="1204730" y="140599"/>
                  </a:lnTo>
                  <a:cubicBezTo>
                    <a:pt x="1204730" y="203953"/>
                    <a:pt x="1153371" y="255312"/>
                    <a:pt x="1090017" y="255312"/>
                  </a:cubicBezTo>
                  <a:lnTo>
                    <a:pt x="114713" y="255312"/>
                  </a:lnTo>
                  <a:cubicBezTo>
                    <a:pt x="51359" y="255312"/>
                    <a:pt x="0" y="203953"/>
                    <a:pt x="0" y="140599"/>
                  </a:cubicBezTo>
                  <a:lnTo>
                    <a:pt x="0" y="114713"/>
                  </a:lnTo>
                  <a:cubicBezTo>
                    <a:pt x="0" y="51359"/>
                    <a:pt x="51359" y="0"/>
                    <a:pt x="114713" y="0"/>
                  </a:cubicBezTo>
                  <a:close/>
                </a:path>
              </a:pathLst>
            </a:custGeom>
            <a:solidFill>
              <a:srgbClr val="FFFFFF"/>
            </a:solidFill>
            <a:ln w="38100" cap="rnd">
              <a:solidFill>
                <a:srgbClr val="009BF8"/>
              </a:solidFill>
              <a:prstDash val="solid"/>
              <a:round/>
            </a:ln>
          </p:spPr>
        </p:sp>
        <p:sp>
          <p:nvSpPr>
            <p:cNvPr id="29" name="TextBox 29"/>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30" name="TextBox 30"/>
          <p:cNvSpPr txBox="1"/>
          <p:nvPr/>
        </p:nvSpPr>
        <p:spPr>
          <a:xfrm>
            <a:off x="2432561" y="1042683"/>
            <a:ext cx="7991437" cy="402117"/>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CORREO OFFICE 365</a:t>
            </a:r>
          </a:p>
        </p:txBody>
      </p:sp>
      <p:sp>
        <p:nvSpPr>
          <p:cNvPr id="31" name="TextBox 31"/>
          <p:cNvSpPr txBox="1"/>
          <p:nvPr/>
        </p:nvSpPr>
        <p:spPr>
          <a:xfrm>
            <a:off x="2068909" y="2423283"/>
            <a:ext cx="1906884" cy="260806"/>
          </a:xfrm>
          <a:prstGeom prst="rect">
            <a:avLst/>
          </a:prstGeom>
        </p:spPr>
        <p:txBody>
          <a:bodyPr lIns="0" tIns="0" rIns="0" bIns="0" rtlCol="0" anchor="t">
            <a:spAutoFit/>
          </a:bodyPr>
          <a:lstStyle/>
          <a:p>
            <a:pPr marL="0" lvl="0" indent="0" algn="l">
              <a:lnSpc>
                <a:spcPts val="1750"/>
              </a:lnSpc>
            </a:pPr>
            <a:r>
              <a:rPr lang="en-US" sz="1989">
                <a:solidFill>
                  <a:srgbClr val="009BF8"/>
                </a:solidFill>
                <a:latin typeface="Lovelo"/>
                <a:ea typeface="Lovelo"/>
                <a:cs typeface="Lovelo"/>
                <a:sym typeface="Lovelo"/>
              </a:rPr>
              <a:t>BUZÓN PROPIO</a:t>
            </a:r>
          </a:p>
        </p:txBody>
      </p:sp>
      <p:sp>
        <p:nvSpPr>
          <p:cNvPr id="32" name="TextBox 32"/>
          <p:cNvSpPr txBox="1"/>
          <p:nvPr/>
        </p:nvSpPr>
        <p:spPr>
          <a:xfrm>
            <a:off x="5795135" y="2423283"/>
            <a:ext cx="2595579" cy="260806"/>
          </a:xfrm>
          <a:prstGeom prst="rect">
            <a:avLst/>
          </a:prstGeom>
        </p:spPr>
        <p:txBody>
          <a:bodyPr lIns="0" tIns="0" rIns="0" bIns="0" rtlCol="0" anchor="t">
            <a:spAutoFit/>
          </a:bodyPr>
          <a:lstStyle/>
          <a:p>
            <a:pPr marL="0" lvl="0" indent="0" algn="l">
              <a:lnSpc>
                <a:spcPts val="1750"/>
              </a:lnSpc>
            </a:pPr>
            <a:r>
              <a:rPr lang="en-US" sz="1989">
                <a:solidFill>
                  <a:srgbClr val="009BF8"/>
                </a:solidFill>
                <a:latin typeface="Lovelo"/>
                <a:ea typeface="Lovelo"/>
                <a:cs typeface="Lovelo"/>
                <a:sym typeface="Lovelo"/>
              </a:rPr>
              <a:t>BUZÓN COMPARTIDO</a:t>
            </a:r>
          </a:p>
        </p:txBody>
      </p:sp>
      <p:sp>
        <p:nvSpPr>
          <p:cNvPr id="33" name="TextBox 33"/>
          <p:cNvSpPr txBox="1"/>
          <p:nvPr/>
        </p:nvSpPr>
        <p:spPr>
          <a:xfrm>
            <a:off x="10126593" y="2423283"/>
            <a:ext cx="2133428" cy="260806"/>
          </a:xfrm>
          <a:prstGeom prst="rect">
            <a:avLst/>
          </a:prstGeom>
        </p:spPr>
        <p:txBody>
          <a:bodyPr lIns="0" tIns="0" rIns="0" bIns="0" rtlCol="0" anchor="t">
            <a:spAutoFit/>
          </a:bodyPr>
          <a:lstStyle/>
          <a:p>
            <a:pPr marL="0" lvl="0" indent="0" algn="l">
              <a:lnSpc>
                <a:spcPts val="1750"/>
              </a:lnSpc>
            </a:pPr>
            <a:r>
              <a:rPr lang="en-US" sz="1989">
                <a:solidFill>
                  <a:srgbClr val="009BF8"/>
                </a:solidFill>
                <a:latin typeface="Lovelo"/>
                <a:ea typeface="Lovelo"/>
                <a:cs typeface="Lovelo"/>
                <a:sym typeface="Lovelo"/>
              </a:rPr>
              <a:t>BUZÓN GENÉRICO</a:t>
            </a:r>
          </a:p>
        </p:txBody>
      </p:sp>
      <p:sp>
        <p:nvSpPr>
          <p:cNvPr id="34" name="TextBox 34"/>
          <p:cNvSpPr txBox="1"/>
          <p:nvPr/>
        </p:nvSpPr>
        <p:spPr>
          <a:xfrm>
            <a:off x="14277396" y="2423283"/>
            <a:ext cx="2024687" cy="260806"/>
          </a:xfrm>
          <a:prstGeom prst="rect">
            <a:avLst/>
          </a:prstGeom>
        </p:spPr>
        <p:txBody>
          <a:bodyPr lIns="0" tIns="0" rIns="0" bIns="0" rtlCol="0" anchor="t">
            <a:spAutoFit/>
          </a:bodyPr>
          <a:lstStyle/>
          <a:p>
            <a:pPr marL="0" lvl="0" indent="0" algn="l">
              <a:lnSpc>
                <a:spcPts val="1750"/>
              </a:lnSpc>
            </a:pPr>
            <a:r>
              <a:rPr lang="en-US" sz="1989">
                <a:solidFill>
                  <a:srgbClr val="009BF8"/>
                </a:solidFill>
                <a:latin typeface="Lovelo"/>
                <a:ea typeface="Lovelo"/>
                <a:cs typeface="Lovelo"/>
                <a:sym typeface="Lovelo"/>
              </a:rPr>
              <a:t>BUZÓN EXTERNO</a:t>
            </a:r>
          </a:p>
        </p:txBody>
      </p:sp>
      <p:sp>
        <p:nvSpPr>
          <p:cNvPr id="35" name="TextBox 35"/>
          <p:cNvSpPr txBox="1"/>
          <p:nvPr/>
        </p:nvSpPr>
        <p:spPr>
          <a:xfrm>
            <a:off x="1375224" y="3351379"/>
            <a:ext cx="3246073" cy="487208"/>
          </a:xfrm>
          <a:prstGeom prst="rect">
            <a:avLst/>
          </a:prstGeom>
        </p:spPr>
        <p:txBody>
          <a:bodyPr lIns="0" tIns="0" rIns="0" bIns="0" rtlCol="0" anchor="t">
            <a:spAutoFit/>
          </a:bodyPr>
          <a:lstStyle/>
          <a:p>
            <a:pPr algn="ctr">
              <a:lnSpc>
                <a:spcPts val="1843"/>
              </a:lnSpc>
            </a:pPr>
            <a:r>
              <a:rPr lang="en-US" sz="1707">
                <a:solidFill>
                  <a:srgbClr val="FFFFFF"/>
                </a:solidFill>
                <a:latin typeface="Poppins"/>
                <a:ea typeface="Poppins"/>
                <a:cs typeface="Poppins"/>
                <a:sym typeface="Poppins"/>
              </a:rPr>
              <a:t>Cuenta asignada a un usuario específico planilla.</a:t>
            </a:r>
          </a:p>
        </p:txBody>
      </p:sp>
      <p:sp>
        <p:nvSpPr>
          <p:cNvPr id="36" name="TextBox 36"/>
          <p:cNvSpPr txBox="1"/>
          <p:nvPr/>
        </p:nvSpPr>
        <p:spPr>
          <a:xfrm>
            <a:off x="5480651" y="3292265"/>
            <a:ext cx="3232024" cy="759161"/>
          </a:xfrm>
          <a:prstGeom prst="rect">
            <a:avLst/>
          </a:prstGeom>
        </p:spPr>
        <p:txBody>
          <a:bodyPr lIns="0" tIns="0" rIns="0" bIns="0" rtlCol="0" anchor="t">
            <a:spAutoFit/>
          </a:bodyPr>
          <a:lstStyle/>
          <a:p>
            <a:pPr algn="ctr">
              <a:lnSpc>
                <a:spcPts val="1946"/>
              </a:lnSpc>
            </a:pPr>
            <a:r>
              <a:rPr lang="en-US" sz="1801">
                <a:solidFill>
                  <a:srgbClr val="FFFFFF"/>
                </a:solidFill>
                <a:latin typeface="Poppins"/>
                <a:ea typeface="Poppins"/>
                <a:cs typeface="Poppins"/>
                <a:sym typeface="Poppins"/>
              </a:rPr>
              <a:t>Cuenta de correo a la que pueden acceder varias personas.</a:t>
            </a:r>
          </a:p>
        </p:txBody>
      </p:sp>
      <p:sp>
        <p:nvSpPr>
          <p:cNvPr id="37" name="TextBox 37"/>
          <p:cNvSpPr txBox="1"/>
          <p:nvPr/>
        </p:nvSpPr>
        <p:spPr>
          <a:xfrm>
            <a:off x="9577189" y="3243481"/>
            <a:ext cx="3232024" cy="759161"/>
          </a:xfrm>
          <a:prstGeom prst="rect">
            <a:avLst/>
          </a:prstGeom>
        </p:spPr>
        <p:txBody>
          <a:bodyPr lIns="0" tIns="0" rIns="0" bIns="0" rtlCol="0" anchor="t">
            <a:spAutoFit/>
          </a:bodyPr>
          <a:lstStyle/>
          <a:p>
            <a:pPr algn="ctr">
              <a:lnSpc>
                <a:spcPts val="1946"/>
              </a:lnSpc>
            </a:pPr>
            <a:r>
              <a:rPr lang="en-US" sz="1801">
                <a:solidFill>
                  <a:srgbClr val="FFFFFF"/>
                </a:solidFill>
                <a:latin typeface="Poppins"/>
                <a:ea typeface="Poppins"/>
                <a:cs typeface="Poppins"/>
                <a:sym typeface="Poppins"/>
              </a:rPr>
              <a:t>Correo que no pertenece a una persona específica, sino a un rol o función.</a:t>
            </a:r>
          </a:p>
        </p:txBody>
      </p:sp>
      <p:sp>
        <p:nvSpPr>
          <p:cNvPr id="38" name="TextBox 38"/>
          <p:cNvSpPr txBox="1"/>
          <p:nvPr/>
        </p:nvSpPr>
        <p:spPr>
          <a:xfrm>
            <a:off x="1564659" y="4470905"/>
            <a:ext cx="2867203" cy="222454"/>
          </a:xfrm>
          <a:prstGeom prst="rect">
            <a:avLst/>
          </a:prstGeom>
        </p:spPr>
        <p:txBody>
          <a:bodyPr lIns="0" tIns="0" rIns="0" bIns="0" rtlCol="0" anchor="t">
            <a:spAutoFit/>
          </a:bodyPr>
          <a:lstStyle/>
          <a:p>
            <a:pPr algn="ctr">
              <a:lnSpc>
                <a:spcPts val="1628"/>
              </a:lnSpc>
            </a:pPr>
            <a:r>
              <a:rPr lang="en-US" sz="1507" b="1">
                <a:solidFill>
                  <a:srgbClr val="000468"/>
                </a:solidFill>
                <a:latin typeface="Poppins Bold"/>
                <a:ea typeface="Poppins Bold"/>
                <a:cs typeface="Poppins Bold"/>
                <a:sym typeface="Poppins Bold"/>
              </a:rPr>
              <a:t>jose.perez@empresa.com</a:t>
            </a:r>
          </a:p>
        </p:txBody>
      </p:sp>
      <p:sp>
        <p:nvSpPr>
          <p:cNvPr id="39" name="TextBox 39"/>
          <p:cNvSpPr txBox="1"/>
          <p:nvPr/>
        </p:nvSpPr>
        <p:spPr>
          <a:xfrm>
            <a:off x="5659324" y="4470905"/>
            <a:ext cx="2867203" cy="222454"/>
          </a:xfrm>
          <a:prstGeom prst="rect">
            <a:avLst/>
          </a:prstGeom>
        </p:spPr>
        <p:txBody>
          <a:bodyPr lIns="0" tIns="0" rIns="0" bIns="0" rtlCol="0" anchor="t">
            <a:spAutoFit/>
          </a:bodyPr>
          <a:lstStyle/>
          <a:p>
            <a:pPr algn="ctr">
              <a:lnSpc>
                <a:spcPts val="1628"/>
              </a:lnSpc>
            </a:pPr>
            <a:r>
              <a:rPr lang="en-US" sz="1507" b="1">
                <a:solidFill>
                  <a:srgbClr val="000468"/>
                </a:solidFill>
                <a:latin typeface="Poppins Bold"/>
                <a:ea typeface="Poppins Bold"/>
                <a:cs typeface="Poppins Bold"/>
                <a:sym typeface="Poppins Bold"/>
              </a:rPr>
              <a:t> soporte@empresa.com</a:t>
            </a:r>
          </a:p>
        </p:txBody>
      </p:sp>
      <p:sp>
        <p:nvSpPr>
          <p:cNvPr id="40" name="TextBox 40"/>
          <p:cNvSpPr txBox="1"/>
          <p:nvPr/>
        </p:nvSpPr>
        <p:spPr>
          <a:xfrm>
            <a:off x="9763710" y="4470905"/>
            <a:ext cx="2867203" cy="222454"/>
          </a:xfrm>
          <a:prstGeom prst="rect">
            <a:avLst/>
          </a:prstGeom>
        </p:spPr>
        <p:txBody>
          <a:bodyPr lIns="0" tIns="0" rIns="0" bIns="0" rtlCol="0" anchor="t">
            <a:spAutoFit/>
          </a:bodyPr>
          <a:lstStyle/>
          <a:p>
            <a:pPr algn="ctr">
              <a:lnSpc>
                <a:spcPts val="1628"/>
              </a:lnSpc>
            </a:pPr>
            <a:r>
              <a:rPr lang="en-US" sz="1507" b="1">
                <a:solidFill>
                  <a:srgbClr val="000468"/>
                </a:solidFill>
                <a:latin typeface="Poppins Bold"/>
                <a:ea typeface="Poppins Bold"/>
                <a:cs typeface="Poppins Bold"/>
                <a:sym typeface="Poppins Bold"/>
              </a:rPr>
              <a:t>recepcion@empresa.com</a:t>
            </a:r>
          </a:p>
        </p:txBody>
      </p:sp>
      <p:sp>
        <p:nvSpPr>
          <p:cNvPr id="41" name="TextBox 41"/>
          <p:cNvSpPr txBox="1"/>
          <p:nvPr/>
        </p:nvSpPr>
        <p:spPr>
          <a:xfrm>
            <a:off x="13775091" y="4470905"/>
            <a:ext cx="3183100" cy="222454"/>
          </a:xfrm>
          <a:prstGeom prst="rect">
            <a:avLst/>
          </a:prstGeom>
        </p:spPr>
        <p:txBody>
          <a:bodyPr lIns="0" tIns="0" rIns="0" bIns="0" rtlCol="0" anchor="t">
            <a:spAutoFit/>
          </a:bodyPr>
          <a:lstStyle/>
          <a:p>
            <a:pPr algn="ctr">
              <a:lnSpc>
                <a:spcPts val="1628"/>
              </a:lnSpc>
            </a:pPr>
            <a:r>
              <a:rPr lang="en-US" sz="1507" b="1">
                <a:solidFill>
                  <a:srgbClr val="000468"/>
                </a:solidFill>
                <a:latin typeface="Poppins Bold"/>
                <a:ea typeface="Poppins Bold"/>
                <a:cs typeface="Poppins Bold"/>
                <a:sym typeface="Poppins Bold"/>
              </a:rPr>
              <a:t>ext .jose.perez@empresa.com</a:t>
            </a:r>
          </a:p>
        </p:txBody>
      </p:sp>
      <p:sp>
        <p:nvSpPr>
          <p:cNvPr id="42" name="TextBox 42"/>
          <p:cNvSpPr txBox="1"/>
          <p:nvPr/>
        </p:nvSpPr>
        <p:spPr>
          <a:xfrm>
            <a:off x="13673728" y="3342115"/>
            <a:ext cx="3232024" cy="515261"/>
          </a:xfrm>
          <a:prstGeom prst="rect">
            <a:avLst/>
          </a:prstGeom>
        </p:spPr>
        <p:txBody>
          <a:bodyPr lIns="0" tIns="0" rIns="0" bIns="0" rtlCol="0" anchor="t">
            <a:spAutoFit/>
          </a:bodyPr>
          <a:lstStyle/>
          <a:p>
            <a:pPr algn="ctr">
              <a:lnSpc>
                <a:spcPts val="1946"/>
              </a:lnSpc>
            </a:pPr>
            <a:r>
              <a:rPr lang="en-US" sz="1801">
                <a:solidFill>
                  <a:srgbClr val="FFFFFF"/>
                </a:solidFill>
                <a:latin typeface="Poppins"/>
                <a:ea typeface="Poppins"/>
                <a:cs typeface="Poppins"/>
                <a:sym typeface="Poppins"/>
              </a:rPr>
              <a:t>Cuenta asignada a un usuario específico externo. </a:t>
            </a:r>
          </a:p>
        </p:txBody>
      </p:sp>
      <p:sp>
        <p:nvSpPr>
          <p:cNvPr id="43" name="Freeform 43"/>
          <p:cNvSpPr/>
          <p:nvPr/>
        </p:nvSpPr>
        <p:spPr>
          <a:xfrm>
            <a:off x="939715" y="761776"/>
            <a:ext cx="925772" cy="775965"/>
          </a:xfrm>
          <a:custGeom>
            <a:avLst/>
            <a:gdLst/>
            <a:ahLst/>
            <a:cxnLst/>
            <a:rect l="l" t="t" r="r" b="b"/>
            <a:pathLst>
              <a:path w="925772" h="775965">
                <a:moveTo>
                  <a:pt x="0" y="0"/>
                </a:moveTo>
                <a:lnTo>
                  <a:pt x="925772" y="0"/>
                </a:lnTo>
                <a:lnTo>
                  <a:pt x="925772" y="775966"/>
                </a:lnTo>
                <a:lnTo>
                  <a:pt x="0" y="77596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44" name="Group 35">
            <a:extLst>
              <a:ext uri="{FF2B5EF4-FFF2-40B4-BE49-F238E27FC236}">
                <a16:creationId xmlns:a16="http://schemas.microsoft.com/office/drawing/2014/main" id="{270ABBEF-F1B4-40E4-8B5E-945B79041124}"/>
              </a:ext>
            </a:extLst>
          </p:cNvPr>
          <p:cNvGrpSpPr/>
          <p:nvPr/>
        </p:nvGrpSpPr>
        <p:grpSpPr>
          <a:xfrm>
            <a:off x="14078317" y="8878423"/>
            <a:ext cx="3180983" cy="705000"/>
            <a:chOff x="0" y="0"/>
            <a:chExt cx="4241311" cy="940001"/>
          </a:xfrm>
        </p:grpSpPr>
        <p:grpSp>
          <p:nvGrpSpPr>
            <p:cNvPr id="45" name="Group 36">
              <a:extLst>
                <a:ext uri="{FF2B5EF4-FFF2-40B4-BE49-F238E27FC236}">
                  <a16:creationId xmlns:a16="http://schemas.microsoft.com/office/drawing/2014/main" id="{8BAA673D-FE34-4175-8408-BBE07362726F}"/>
                </a:ext>
              </a:extLst>
            </p:cNvPr>
            <p:cNvGrpSpPr/>
            <p:nvPr/>
          </p:nvGrpSpPr>
          <p:grpSpPr>
            <a:xfrm>
              <a:off x="0" y="0"/>
              <a:ext cx="4241311" cy="940001"/>
              <a:chOff x="0" y="0"/>
              <a:chExt cx="746060" cy="165349"/>
            </a:xfrm>
          </p:grpSpPr>
          <p:sp>
            <p:nvSpPr>
              <p:cNvPr id="48" name="Freeform 37">
                <a:hlinkClick r:id="rId10" action="ppaction://hlinksldjump"/>
                <a:extLst>
                  <a:ext uri="{FF2B5EF4-FFF2-40B4-BE49-F238E27FC236}">
                    <a16:creationId xmlns:a16="http://schemas.microsoft.com/office/drawing/2014/main" id="{92F79AC7-2615-43CE-8556-34C8CB954013}"/>
                  </a:ext>
                </a:extLst>
              </p:cNvPr>
              <p:cNvSpPr/>
              <p:nvPr/>
            </p:nvSpPr>
            <p:spPr>
              <a:xfrm>
                <a:off x="0" y="0"/>
                <a:ext cx="746060" cy="165349"/>
              </a:xfrm>
              <a:custGeom>
                <a:avLst/>
                <a:gdLst/>
                <a:ahLst/>
                <a:cxnLst/>
                <a:rect l="l" t="t" r="r" b="b"/>
                <a:pathLst>
                  <a:path w="746060" h="165349">
                    <a:moveTo>
                      <a:pt x="82675" y="0"/>
                    </a:moveTo>
                    <a:lnTo>
                      <a:pt x="663386" y="0"/>
                    </a:lnTo>
                    <a:cubicBezTo>
                      <a:pt x="709046" y="0"/>
                      <a:pt x="746060" y="37015"/>
                      <a:pt x="746060" y="82675"/>
                    </a:cubicBezTo>
                    <a:lnTo>
                      <a:pt x="746060" y="82675"/>
                    </a:lnTo>
                    <a:cubicBezTo>
                      <a:pt x="746060" y="128334"/>
                      <a:pt x="709046" y="165349"/>
                      <a:pt x="663386" y="165349"/>
                    </a:cubicBezTo>
                    <a:lnTo>
                      <a:pt x="82675" y="165349"/>
                    </a:lnTo>
                    <a:cubicBezTo>
                      <a:pt x="37015" y="165349"/>
                      <a:pt x="0" y="128334"/>
                      <a:pt x="0" y="82675"/>
                    </a:cubicBezTo>
                    <a:lnTo>
                      <a:pt x="0" y="82675"/>
                    </a:lnTo>
                    <a:cubicBezTo>
                      <a:pt x="0" y="37015"/>
                      <a:pt x="37015" y="0"/>
                      <a:pt x="82675" y="0"/>
                    </a:cubicBezTo>
                    <a:close/>
                  </a:path>
                </a:pathLst>
              </a:custGeom>
              <a:solidFill>
                <a:srgbClr val="009BF8"/>
              </a:solidFill>
            </p:spPr>
          </p:sp>
          <p:sp>
            <p:nvSpPr>
              <p:cNvPr id="49" name="TextBox 38">
                <a:extLst>
                  <a:ext uri="{FF2B5EF4-FFF2-40B4-BE49-F238E27FC236}">
                    <a16:creationId xmlns:a16="http://schemas.microsoft.com/office/drawing/2014/main" id="{D5967357-CB1E-4924-96D7-3E90C4629C19}"/>
                  </a:ext>
                </a:extLst>
              </p:cNvPr>
              <p:cNvSpPr txBox="1"/>
              <p:nvPr/>
            </p:nvSpPr>
            <p:spPr>
              <a:xfrm>
                <a:off x="0" y="-133350"/>
                <a:ext cx="746060" cy="298699"/>
              </a:xfrm>
              <a:prstGeom prst="rect">
                <a:avLst/>
              </a:prstGeom>
            </p:spPr>
            <p:txBody>
              <a:bodyPr lIns="50800" tIns="50800" rIns="50800" bIns="50800" rtlCol="0" anchor="ctr"/>
              <a:lstStyle/>
              <a:p>
                <a:pPr algn="ctr">
                  <a:lnSpc>
                    <a:spcPts val="3520"/>
                  </a:lnSpc>
                </a:pPr>
                <a:endParaRPr/>
              </a:p>
            </p:txBody>
          </p:sp>
        </p:grpSp>
        <p:sp>
          <p:nvSpPr>
            <p:cNvPr id="46" name="Freeform 39">
              <a:extLst>
                <a:ext uri="{FF2B5EF4-FFF2-40B4-BE49-F238E27FC236}">
                  <a16:creationId xmlns:a16="http://schemas.microsoft.com/office/drawing/2014/main" id="{1908C9A1-6E56-4E2F-A00A-F93A978BAF2C}"/>
                </a:ext>
              </a:extLst>
            </p:cNvPr>
            <p:cNvSpPr/>
            <p:nvPr/>
          </p:nvSpPr>
          <p:spPr>
            <a:xfrm>
              <a:off x="2750498" y="204243"/>
              <a:ext cx="531514" cy="531514"/>
            </a:xfrm>
            <a:custGeom>
              <a:avLst/>
              <a:gdLst/>
              <a:ahLst/>
              <a:cxnLst/>
              <a:rect l="l" t="t" r="r" b="b"/>
              <a:pathLst>
                <a:path w="531514" h="531514">
                  <a:moveTo>
                    <a:pt x="0" y="0"/>
                  </a:moveTo>
                  <a:lnTo>
                    <a:pt x="531514" y="0"/>
                  </a:lnTo>
                  <a:lnTo>
                    <a:pt x="531514" y="531514"/>
                  </a:lnTo>
                  <a:lnTo>
                    <a:pt x="0" y="53151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47" name="TextBox 40">
              <a:extLst>
                <a:ext uri="{FF2B5EF4-FFF2-40B4-BE49-F238E27FC236}">
                  <a16:creationId xmlns:a16="http://schemas.microsoft.com/office/drawing/2014/main" id="{8AB66439-BE23-4BEB-B6B6-AA977C413685}"/>
                </a:ext>
              </a:extLst>
            </p:cNvPr>
            <p:cNvSpPr txBox="1"/>
            <p:nvPr/>
          </p:nvSpPr>
          <p:spPr>
            <a:xfrm>
              <a:off x="837711" y="226772"/>
              <a:ext cx="1828800" cy="430203"/>
            </a:xfrm>
            <a:prstGeom prst="rect">
              <a:avLst/>
            </a:prstGeom>
          </p:spPr>
          <p:txBody>
            <a:bodyPr wrap="square" lIns="0" tIns="0" rIns="0" bIns="0" rtlCol="0" anchor="t">
              <a:spAutoFit/>
            </a:bodyPr>
            <a:lstStyle/>
            <a:p>
              <a:pPr marL="0" lvl="0" indent="0" algn="l">
                <a:lnSpc>
                  <a:spcPts val="2628"/>
                </a:lnSpc>
              </a:pPr>
              <a:r>
                <a:rPr lang="en-US" sz="2022" b="1" spc="20" dirty="0">
                  <a:solidFill>
                    <a:srgbClr val="FFFFFF"/>
                  </a:solidFill>
                  <a:latin typeface="Poppins Bold"/>
                  <a:ea typeface="Poppins Bold"/>
                  <a:cs typeface="Poppins Bold"/>
                  <a:sym typeface="Poppins Bold"/>
                </a:rPr>
                <a:t>SIGUIENTE</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629250" y="509054"/>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96211" y="144008"/>
            <a:ext cx="1433332" cy="1700832"/>
          </a:xfrm>
          <a:custGeom>
            <a:avLst/>
            <a:gdLst/>
            <a:ahLst/>
            <a:cxnLst/>
            <a:rect l="l" t="t" r="r" b="b"/>
            <a:pathLst>
              <a:path w="1433332" h="1700832">
                <a:moveTo>
                  <a:pt x="0" y="0"/>
                </a:moveTo>
                <a:lnTo>
                  <a:pt x="1433331" y="0"/>
                </a:lnTo>
                <a:lnTo>
                  <a:pt x="1433331" y="1700832"/>
                </a:lnTo>
                <a:lnTo>
                  <a:pt x="0" y="17008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2103034" y="2510271"/>
            <a:ext cx="3810788" cy="3166282"/>
            <a:chOff x="0" y="0"/>
            <a:chExt cx="1003664" cy="833918"/>
          </a:xfrm>
        </p:grpSpPr>
        <p:sp>
          <p:nvSpPr>
            <p:cNvPr id="6" name="Freeform 6"/>
            <p:cNvSpPr/>
            <p:nvPr/>
          </p:nvSpPr>
          <p:spPr>
            <a:xfrm>
              <a:off x="0" y="0"/>
              <a:ext cx="1003664" cy="833918"/>
            </a:xfrm>
            <a:custGeom>
              <a:avLst/>
              <a:gdLst/>
              <a:ahLst/>
              <a:cxnLst/>
              <a:rect l="l" t="t" r="r" b="b"/>
              <a:pathLst>
                <a:path w="1003664" h="833918">
                  <a:moveTo>
                    <a:pt x="111737" y="0"/>
                  </a:moveTo>
                  <a:lnTo>
                    <a:pt x="891928" y="0"/>
                  </a:lnTo>
                  <a:cubicBezTo>
                    <a:pt x="921562" y="0"/>
                    <a:pt x="949983" y="11772"/>
                    <a:pt x="970937" y="32727"/>
                  </a:cubicBezTo>
                  <a:cubicBezTo>
                    <a:pt x="991892" y="53682"/>
                    <a:pt x="1003664" y="82102"/>
                    <a:pt x="1003664" y="111737"/>
                  </a:cubicBezTo>
                  <a:lnTo>
                    <a:pt x="1003664" y="722181"/>
                  </a:lnTo>
                  <a:cubicBezTo>
                    <a:pt x="1003664" y="751815"/>
                    <a:pt x="991892" y="780236"/>
                    <a:pt x="970937" y="801191"/>
                  </a:cubicBezTo>
                  <a:cubicBezTo>
                    <a:pt x="949983" y="822146"/>
                    <a:pt x="921562" y="833918"/>
                    <a:pt x="891928" y="833918"/>
                  </a:cubicBezTo>
                  <a:lnTo>
                    <a:pt x="111737" y="833918"/>
                  </a:lnTo>
                  <a:cubicBezTo>
                    <a:pt x="82102" y="833918"/>
                    <a:pt x="53682" y="822146"/>
                    <a:pt x="32727" y="801191"/>
                  </a:cubicBezTo>
                  <a:cubicBezTo>
                    <a:pt x="11772" y="780236"/>
                    <a:pt x="0" y="751815"/>
                    <a:pt x="0" y="722181"/>
                  </a:cubicBezTo>
                  <a:lnTo>
                    <a:pt x="0" y="111737"/>
                  </a:lnTo>
                  <a:cubicBezTo>
                    <a:pt x="0" y="82102"/>
                    <a:pt x="11772" y="53682"/>
                    <a:pt x="32727" y="32727"/>
                  </a:cubicBezTo>
                  <a:cubicBezTo>
                    <a:pt x="53682" y="11772"/>
                    <a:pt x="82102" y="0"/>
                    <a:pt x="111737" y="0"/>
                  </a:cubicBezTo>
                  <a:close/>
                </a:path>
              </a:pathLst>
            </a:custGeom>
            <a:solidFill>
              <a:srgbClr val="009BF8"/>
            </a:solidFill>
          </p:spPr>
        </p:sp>
        <p:sp>
          <p:nvSpPr>
            <p:cNvPr id="7" name="TextBox 7"/>
            <p:cNvSpPr txBox="1"/>
            <p:nvPr/>
          </p:nvSpPr>
          <p:spPr>
            <a:xfrm>
              <a:off x="0" y="-133350"/>
              <a:ext cx="1003664" cy="967268"/>
            </a:xfrm>
            <a:prstGeom prst="rect">
              <a:avLst/>
            </a:prstGeom>
          </p:spPr>
          <p:txBody>
            <a:bodyPr lIns="50800" tIns="50800" rIns="50800" bIns="50800" rtlCol="0" anchor="ctr"/>
            <a:lstStyle/>
            <a:p>
              <a:pPr algn="ctr">
                <a:lnSpc>
                  <a:spcPts val="3520"/>
                </a:lnSpc>
              </a:pPr>
              <a:endParaRPr/>
            </a:p>
          </p:txBody>
        </p:sp>
      </p:grpSp>
      <p:grpSp>
        <p:nvGrpSpPr>
          <p:cNvPr id="8" name="Group 8"/>
          <p:cNvGrpSpPr/>
          <p:nvPr/>
        </p:nvGrpSpPr>
        <p:grpSpPr>
          <a:xfrm>
            <a:off x="2412769" y="2217002"/>
            <a:ext cx="3239500" cy="686529"/>
            <a:chOff x="0" y="0"/>
            <a:chExt cx="1204730" cy="255312"/>
          </a:xfrm>
        </p:grpSpPr>
        <p:sp>
          <p:nvSpPr>
            <p:cNvPr id="9" name="Freeform 9"/>
            <p:cNvSpPr/>
            <p:nvPr/>
          </p:nvSpPr>
          <p:spPr>
            <a:xfrm>
              <a:off x="0" y="0"/>
              <a:ext cx="1204730" cy="255312"/>
            </a:xfrm>
            <a:custGeom>
              <a:avLst/>
              <a:gdLst/>
              <a:ahLst/>
              <a:cxnLst/>
              <a:rect l="l" t="t" r="r" b="b"/>
              <a:pathLst>
                <a:path w="1204730" h="255312">
                  <a:moveTo>
                    <a:pt x="114713" y="0"/>
                  </a:moveTo>
                  <a:lnTo>
                    <a:pt x="1090017" y="0"/>
                  </a:lnTo>
                  <a:cubicBezTo>
                    <a:pt x="1153371" y="0"/>
                    <a:pt x="1204730" y="51359"/>
                    <a:pt x="1204730" y="114713"/>
                  </a:cubicBezTo>
                  <a:lnTo>
                    <a:pt x="1204730" y="140599"/>
                  </a:lnTo>
                  <a:cubicBezTo>
                    <a:pt x="1204730" y="203953"/>
                    <a:pt x="1153371" y="255312"/>
                    <a:pt x="1090017" y="255312"/>
                  </a:cubicBezTo>
                  <a:lnTo>
                    <a:pt x="114713" y="255312"/>
                  </a:lnTo>
                  <a:cubicBezTo>
                    <a:pt x="51359" y="255312"/>
                    <a:pt x="0" y="203953"/>
                    <a:pt x="0" y="140599"/>
                  </a:cubicBezTo>
                  <a:lnTo>
                    <a:pt x="0" y="114713"/>
                  </a:lnTo>
                  <a:cubicBezTo>
                    <a:pt x="0" y="51359"/>
                    <a:pt x="51359" y="0"/>
                    <a:pt x="114713" y="0"/>
                  </a:cubicBezTo>
                  <a:close/>
                </a:path>
              </a:pathLst>
            </a:custGeom>
            <a:solidFill>
              <a:srgbClr val="FFFFFF"/>
            </a:solidFill>
            <a:ln w="38100" cap="rnd">
              <a:solidFill>
                <a:srgbClr val="009BF8"/>
              </a:solidFill>
              <a:prstDash val="solid"/>
              <a:round/>
            </a:ln>
          </p:spPr>
        </p:sp>
        <p:sp>
          <p:nvSpPr>
            <p:cNvPr id="10" name="TextBox 10"/>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11" name="TextBox 11"/>
          <p:cNvSpPr txBox="1"/>
          <p:nvPr/>
        </p:nvSpPr>
        <p:spPr>
          <a:xfrm>
            <a:off x="2432561" y="1042683"/>
            <a:ext cx="6199783" cy="531927"/>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Lista de distribución</a:t>
            </a:r>
          </a:p>
        </p:txBody>
      </p:sp>
      <p:sp>
        <p:nvSpPr>
          <p:cNvPr id="12" name="TextBox 12"/>
          <p:cNvSpPr txBox="1"/>
          <p:nvPr/>
        </p:nvSpPr>
        <p:spPr>
          <a:xfrm>
            <a:off x="3340127" y="2448913"/>
            <a:ext cx="1336602" cy="260806"/>
          </a:xfrm>
          <a:prstGeom prst="rect">
            <a:avLst/>
          </a:prstGeom>
        </p:spPr>
        <p:txBody>
          <a:bodyPr lIns="0" tIns="0" rIns="0" bIns="0" rtlCol="0" anchor="t">
            <a:spAutoFit/>
          </a:bodyPr>
          <a:lstStyle/>
          <a:p>
            <a:pPr marL="0" lvl="0" indent="0" algn="l">
              <a:lnSpc>
                <a:spcPts val="1750"/>
              </a:lnSpc>
            </a:pPr>
            <a:r>
              <a:rPr lang="en-US" sz="1989">
                <a:solidFill>
                  <a:srgbClr val="009BF8"/>
                </a:solidFill>
                <a:latin typeface="Lovelo"/>
                <a:ea typeface="Lovelo"/>
                <a:cs typeface="Lovelo"/>
                <a:sym typeface="Lovelo"/>
              </a:rPr>
              <a:t>CONCEPTO</a:t>
            </a:r>
          </a:p>
        </p:txBody>
      </p:sp>
      <p:sp>
        <p:nvSpPr>
          <p:cNvPr id="13" name="TextBox 13"/>
          <p:cNvSpPr txBox="1"/>
          <p:nvPr/>
        </p:nvSpPr>
        <p:spPr>
          <a:xfrm>
            <a:off x="2385392" y="3377010"/>
            <a:ext cx="3246073" cy="1390541"/>
          </a:xfrm>
          <a:prstGeom prst="rect">
            <a:avLst/>
          </a:prstGeom>
        </p:spPr>
        <p:txBody>
          <a:bodyPr lIns="0" tIns="0" rIns="0" bIns="0" rtlCol="0" anchor="t">
            <a:spAutoFit/>
          </a:bodyPr>
          <a:lstStyle/>
          <a:p>
            <a:pPr algn="ctr">
              <a:lnSpc>
                <a:spcPts val="1843"/>
              </a:lnSpc>
            </a:pPr>
            <a:r>
              <a:rPr lang="en-US" sz="1707">
                <a:solidFill>
                  <a:srgbClr val="FFFFFF"/>
                </a:solidFill>
                <a:latin typeface="Poppins"/>
                <a:ea typeface="Poppins"/>
                <a:cs typeface="Poppins"/>
                <a:sym typeface="Poppins"/>
              </a:rPr>
              <a:t>Una lista de distribución es un grupo de correos electrónicos que permite enviar un mensaje a varias personas usando una sola dirección.</a:t>
            </a:r>
          </a:p>
        </p:txBody>
      </p:sp>
      <p:sp>
        <p:nvSpPr>
          <p:cNvPr id="14" name="TextBox 14"/>
          <p:cNvSpPr txBox="1"/>
          <p:nvPr/>
        </p:nvSpPr>
        <p:spPr>
          <a:xfrm>
            <a:off x="2551996" y="5803418"/>
            <a:ext cx="2912864" cy="277798"/>
          </a:xfrm>
          <a:prstGeom prst="rect">
            <a:avLst/>
          </a:prstGeom>
        </p:spPr>
        <p:txBody>
          <a:bodyPr lIns="0" tIns="0" rIns="0" bIns="0" rtlCol="0" anchor="t">
            <a:spAutoFit/>
          </a:bodyPr>
          <a:lstStyle/>
          <a:p>
            <a:pPr algn="ctr">
              <a:lnSpc>
                <a:spcPts val="2033"/>
              </a:lnSpc>
            </a:pPr>
            <a:r>
              <a:rPr lang="en-US" sz="1882" b="1">
                <a:solidFill>
                  <a:srgbClr val="000468"/>
                </a:solidFill>
                <a:latin typeface="Poppins Bold"/>
                <a:ea typeface="Poppins Bold"/>
                <a:cs typeface="Poppins Bold"/>
                <a:sym typeface="Poppins Bold"/>
              </a:rPr>
              <a:t>ventas@empresa.com</a:t>
            </a:r>
          </a:p>
        </p:txBody>
      </p:sp>
      <p:grpSp>
        <p:nvGrpSpPr>
          <p:cNvPr id="15" name="Group 15"/>
          <p:cNvGrpSpPr/>
          <p:nvPr/>
        </p:nvGrpSpPr>
        <p:grpSpPr>
          <a:xfrm>
            <a:off x="7239415" y="2510271"/>
            <a:ext cx="3810788" cy="3166282"/>
            <a:chOff x="0" y="0"/>
            <a:chExt cx="1003664" cy="833918"/>
          </a:xfrm>
        </p:grpSpPr>
        <p:sp>
          <p:nvSpPr>
            <p:cNvPr id="16" name="Freeform 16"/>
            <p:cNvSpPr/>
            <p:nvPr/>
          </p:nvSpPr>
          <p:spPr>
            <a:xfrm>
              <a:off x="0" y="0"/>
              <a:ext cx="1003664" cy="833918"/>
            </a:xfrm>
            <a:custGeom>
              <a:avLst/>
              <a:gdLst/>
              <a:ahLst/>
              <a:cxnLst/>
              <a:rect l="l" t="t" r="r" b="b"/>
              <a:pathLst>
                <a:path w="1003664" h="833918">
                  <a:moveTo>
                    <a:pt x="111737" y="0"/>
                  </a:moveTo>
                  <a:lnTo>
                    <a:pt x="891928" y="0"/>
                  </a:lnTo>
                  <a:cubicBezTo>
                    <a:pt x="921562" y="0"/>
                    <a:pt x="949983" y="11772"/>
                    <a:pt x="970937" y="32727"/>
                  </a:cubicBezTo>
                  <a:cubicBezTo>
                    <a:pt x="991892" y="53682"/>
                    <a:pt x="1003664" y="82102"/>
                    <a:pt x="1003664" y="111737"/>
                  </a:cubicBezTo>
                  <a:lnTo>
                    <a:pt x="1003664" y="722181"/>
                  </a:lnTo>
                  <a:cubicBezTo>
                    <a:pt x="1003664" y="751815"/>
                    <a:pt x="991892" y="780236"/>
                    <a:pt x="970937" y="801191"/>
                  </a:cubicBezTo>
                  <a:cubicBezTo>
                    <a:pt x="949983" y="822146"/>
                    <a:pt x="921562" y="833918"/>
                    <a:pt x="891928" y="833918"/>
                  </a:cubicBezTo>
                  <a:lnTo>
                    <a:pt x="111737" y="833918"/>
                  </a:lnTo>
                  <a:cubicBezTo>
                    <a:pt x="82102" y="833918"/>
                    <a:pt x="53682" y="822146"/>
                    <a:pt x="32727" y="801191"/>
                  </a:cubicBezTo>
                  <a:cubicBezTo>
                    <a:pt x="11772" y="780236"/>
                    <a:pt x="0" y="751815"/>
                    <a:pt x="0" y="722181"/>
                  </a:cubicBezTo>
                  <a:lnTo>
                    <a:pt x="0" y="111737"/>
                  </a:lnTo>
                  <a:cubicBezTo>
                    <a:pt x="0" y="82102"/>
                    <a:pt x="11772" y="53682"/>
                    <a:pt x="32727" y="32727"/>
                  </a:cubicBezTo>
                  <a:cubicBezTo>
                    <a:pt x="53682" y="11772"/>
                    <a:pt x="82102" y="0"/>
                    <a:pt x="111737" y="0"/>
                  </a:cubicBezTo>
                  <a:close/>
                </a:path>
              </a:pathLst>
            </a:custGeom>
            <a:solidFill>
              <a:srgbClr val="009BF8"/>
            </a:solidFill>
          </p:spPr>
        </p:sp>
        <p:sp>
          <p:nvSpPr>
            <p:cNvPr id="17" name="TextBox 17"/>
            <p:cNvSpPr txBox="1"/>
            <p:nvPr/>
          </p:nvSpPr>
          <p:spPr>
            <a:xfrm>
              <a:off x="0" y="-133350"/>
              <a:ext cx="1003664" cy="967268"/>
            </a:xfrm>
            <a:prstGeom prst="rect">
              <a:avLst/>
            </a:prstGeom>
          </p:spPr>
          <p:txBody>
            <a:bodyPr lIns="50800" tIns="50800" rIns="50800" bIns="50800" rtlCol="0" anchor="ctr"/>
            <a:lstStyle/>
            <a:p>
              <a:pPr algn="ctr">
                <a:lnSpc>
                  <a:spcPts val="3520"/>
                </a:lnSpc>
              </a:pPr>
              <a:endParaRPr/>
            </a:p>
          </p:txBody>
        </p:sp>
      </p:grpSp>
      <p:grpSp>
        <p:nvGrpSpPr>
          <p:cNvPr id="18" name="Group 18"/>
          <p:cNvGrpSpPr/>
          <p:nvPr/>
        </p:nvGrpSpPr>
        <p:grpSpPr>
          <a:xfrm>
            <a:off x="7549149" y="2217002"/>
            <a:ext cx="3239500" cy="686529"/>
            <a:chOff x="0" y="0"/>
            <a:chExt cx="1204730" cy="255312"/>
          </a:xfrm>
        </p:grpSpPr>
        <p:sp>
          <p:nvSpPr>
            <p:cNvPr id="19" name="Freeform 19"/>
            <p:cNvSpPr/>
            <p:nvPr/>
          </p:nvSpPr>
          <p:spPr>
            <a:xfrm>
              <a:off x="0" y="0"/>
              <a:ext cx="1204730" cy="255312"/>
            </a:xfrm>
            <a:custGeom>
              <a:avLst/>
              <a:gdLst/>
              <a:ahLst/>
              <a:cxnLst/>
              <a:rect l="l" t="t" r="r" b="b"/>
              <a:pathLst>
                <a:path w="1204730" h="255312">
                  <a:moveTo>
                    <a:pt x="114713" y="0"/>
                  </a:moveTo>
                  <a:lnTo>
                    <a:pt x="1090017" y="0"/>
                  </a:lnTo>
                  <a:cubicBezTo>
                    <a:pt x="1153371" y="0"/>
                    <a:pt x="1204730" y="51359"/>
                    <a:pt x="1204730" y="114713"/>
                  </a:cubicBezTo>
                  <a:lnTo>
                    <a:pt x="1204730" y="140599"/>
                  </a:lnTo>
                  <a:cubicBezTo>
                    <a:pt x="1204730" y="203953"/>
                    <a:pt x="1153371" y="255312"/>
                    <a:pt x="1090017" y="255312"/>
                  </a:cubicBezTo>
                  <a:lnTo>
                    <a:pt x="114713" y="255312"/>
                  </a:lnTo>
                  <a:cubicBezTo>
                    <a:pt x="51359" y="255312"/>
                    <a:pt x="0" y="203953"/>
                    <a:pt x="0" y="140599"/>
                  </a:cubicBezTo>
                  <a:lnTo>
                    <a:pt x="0" y="114713"/>
                  </a:lnTo>
                  <a:cubicBezTo>
                    <a:pt x="0" y="51359"/>
                    <a:pt x="51359" y="0"/>
                    <a:pt x="114713" y="0"/>
                  </a:cubicBezTo>
                  <a:close/>
                </a:path>
              </a:pathLst>
            </a:custGeom>
            <a:solidFill>
              <a:srgbClr val="FFFFFF"/>
            </a:solidFill>
            <a:ln w="38100" cap="rnd">
              <a:solidFill>
                <a:srgbClr val="009BF8"/>
              </a:solidFill>
              <a:prstDash val="solid"/>
              <a:round/>
            </a:ln>
          </p:spPr>
        </p:sp>
        <p:sp>
          <p:nvSpPr>
            <p:cNvPr id="20" name="TextBox 20"/>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1" name="TextBox 21"/>
          <p:cNvSpPr txBox="1"/>
          <p:nvPr/>
        </p:nvSpPr>
        <p:spPr>
          <a:xfrm>
            <a:off x="8120003" y="2448913"/>
            <a:ext cx="2097792" cy="260806"/>
          </a:xfrm>
          <a:prstGeom prst="rect">
            <a:avLst/>
          </a:prstGeom>
        </p:spPr>
        <p:txBody>
          <a:bodyPr lIns="0" tIns="0" rIns="0" bIns="0" rtlCol="0" anchor="t">
            <a:spAutoFit/>
          </a:bodyPr>
          <a:lstStyle/>
          <a:p>
            <a:pPr marL="0" lvl="0" indent="0" algn="l">
              <a:lnSpc>
                <a:spcPts val="1750"/>
              </a:lnSpc>
            </a:pPr>
            <a:r>
              <a:rPr lang="en-US" sz="1989">
                <a:solidFill>
                  <a:srgbClr val="009BF8"/>
                </a:solidFill>
                <a:latin typeface="Lovelo"/>
                <a:ea typeface="Lovelo"/>
                <a:cs typeface="Lovelo"/>
                <a:sym typeface="Lovelo"/>
              </a:rPr>
              <a:t>CARACTERÍSTICAS</a:t>
            </a:r>
          </a:p>
        </p:txBody>
      </p:sp>
      <p:sp>
        <p:nvSpPr>
          <p:cNvPr id="22" name="TextBox 22"/>
          <p:cNvSpPr txBox="1"/>
          <p:nvPr/>
        </p:nvSpPr>
        <p:spPr>
          <a:xfrm>
            <a:off x="7520964" y="3039667"/>
            <a:ext cx="3246073" cy="2321541"/>
          </a:xfrm>
          <a:prstGeom prst="rect">
            <a:avLst/>
          </a:prstGeom>
        </p:spPr>
        <p:txBody>
          <a:bodyPr lIns="0" tIns="0" rIns="0" bIns="0" rtlCol="0" anchor="t">
            <a:spAutoFit/>
          </a:bodyPr>
          <a:lstStyle/>
          <a:p>
            <a:pPr algn="l">
              <a:lnSpc>
                <a:spcPts val="1843"/>
              </a:lnSpc>
            </a:pPr>
            <a:endParaRPr/>
          </a:p>
          <a:p>
            <a:pPr marL="368559" lvl="1" indent="-184280" algn="l">
              <a:lnSpc>
                <a:spcPts val="1843"/>
              </a:lnSpc>
              <a:buFont typeface="Arial"/>
              <a:buChar char="•"/>
            </a:pPr>
            <a:r>
              <a:rPr lang="en-US" sz="1707">
                <a:solidFill>
                  <a:srgbClr val="FFFFFF"/>
                </a:solidFill>
                <a:latin typeface="Poppins"/>
                <a:ea typeface="Poppins"/>
                <a:cs typeface="Poppins"/>
                <a:sym typeface="Poppins"/>
              </a:rPr>
              <a:t>No tiene bandeja de entrada propia.</a:t>
            </a:r>
          </a:p>
          <a:p>
            <a:pPr marL="368559" lvl="1" indent="-184280" algn="l">
              <a:lnSpc>
                <a:spcPts val="1843"/>
              </a:lnSpc>
              <a:buFont typeface="Arial"/>
              <a:buChar char="•"/>
            </a:pPr>
            <a:r>
              <a:rPr lang="en-US" sz="1707">
                <a:solidFill>
                  <a:srgbClr val="FFFFFF"/>
                </a:solidFill>
                <a:latin typeface="Poppins"/>
                <a:ea typeface="Poppins"/>
                <a:cs typeface="Poppins"/>
                <a:sym typeface="Poppins"/>
              </a:rPr>
              <a:t>No almacena correos.</a:t>
            </a:r>
          </a:p>
          <a:p>
            <a:pPr marL="368559" lvl="1" indent="-184280" algn="l">
              <a:lnSpc>
                <a:spcPts val="1843"/>
              </a:lnSpc>
              <a:buFont typeface="Arial"/>
              <a:buChar char="•"/>
            </a:pPr>
            <a:r>
              <a:rPr lang="en-US" sz="1707">
                <a:solidFill>
                  <a:srgbClr val="FFFFFF"/>
                </a:solidFill>
                <a:latin typeface="Poppins"/>
                <a:ea typeface="Poppins"/>
                <a:cs typeface="Poppins"/>
                <a:sym typeface="Poppins"/>
              </a:rPr>
              <a:t>Solo distribuye mensajes.</a:t>
            </a:r>
          </a:p>
          <a:p>
            <a:pPr marL="368559" lvl="1" indent="-184280" algn="l">
              <a:lnSpc>
                <a:spcPts val="1843"/>
              </a:lnSpc>
              <a:buFont typeface="Arial"/>
              <a:buChar char="•"/>
            </a:pPr>
            <a:r>
              <a:rPr lang="en-US" sz="1707">
                <a:solidFill>
                  <a:srgbClr val="FFFFFF"/>
                </a:solidFill>
                <a:latin typeface="Poppins"/>
                <a:ea typeface="Poppins"/>
                <a:cs typeface="Poppins"/>
                <a:sym typeface="Poppins"/>
              </a:rPr>
              <a:t>Puede incluir usuarios internos y externos.</a:t>
            </a:r>
          </a:p>
          <a:p>
            <a:pPr marL="368559" lvl="1" indent="-184280" algn="l">
              <a:lnSpc>
                <a:spcPts val="1843"/>
              </a:lnSpc>
              <a:buFont typeface="Arial"/>
              <a:buChar char="•"/>
            </a:pPr>
            <a:r>
              <a:rPr lang="en-US" sz="1707">
                <a:solidFill>
                  <a:srgbClr val="FFFFFF"/>
                </a:solidFill>
                <a:latin typeface="Poppins"/>
                <a:ea typeface="Poppins"/>
                <a:cs typeface="Poppins"/>
                <a:sym typeface="Poppins"/>
              </a:rPr>
              <a:t>Se administra por TI o por un propietario del grupo.</a:t>
            </a:r>
          </a:p>
          <a:p>
            <a:pPr algn="l">
              <a:lnSpc>
                <a:spcPts val="1843"/>
              </a:lnSpc>
            </a:pPr>
            <a:endParaRPr lang="en-US" sz="1707">
              <a:solidFill>
                <a:srgbClr val="FFFFFF"/>
              </a:solidFill>
              <a:latin typeface="Poppins"/>
              <a:ea typeface="Poppins"/>
              <a:cs typeface="Poppins"/>
              <a:sym typeface="Poppins"/>
            </a:endParaRPr>
          </a:p>
        </p:txBody>
      </p:sp>
      <p:grpSp>
        <p:nvGrpSpPr>
          <p:cNvPr id="23" name="Group 23"/>
          <p:cNvGrpSpPr/>
          <p:nvPr/>
        </p:nvGrpSpPr>
        <p:grpSpPr>
          <a:xfrm>
            <a:off x="12374178" y="2510271"/>
            <a:ext cx="3810788" cy="3166282"/>
            <a:chOff x="0" y="0"/>
            <a:chExt cx="1003664" cy="833918"/>
          </a:xfrm>
        </p:grpSpPr>
        <p:sp>
          <p:nvSpPr>
            <p:cNvPr id="24" name="Freeform 24"/>
            <p:cNvSpPr/>
            <p:nvPr/>
          </p:nvSpPr>
          <p:spPr>
            <a:xfrm>
              <a:off x="0" y="0"/>
              <a:ext cx="1003664" cy="833918"/>
            </a:xfrm>
            <a:custGeom>
              <a:avLst/>
              <a:gdLst/>
              <a:ahLst/>
              <a:cxnLst/>
              <a:rect l="l" t="t" r="r" b="b"/>
              <a:pathLst>
                <a:path w="1003664" h="833918">
                  <a:moveTo>
                    <a:pt x="111737" y="0"/>
                  </a:moveTo>
                  <a:lnTo>
                    <a:pt x="891928" y="0"/>
                  </a:lnTo>
                  <a:cubicBezTo>
                    <a:pt x="921562" y="0"/>
                    <a:pt x="949983" y="11772"/>
                    <a:pt x="970937" y="32727"/>
                  </a:cubicBezTo>
                  <a:cubicBezTo>
                    <a:pt x="991892" y="53682"/>
                    <a:pt x="1003664" y="82102"/>
                    <a:pt x="1003664" y="111737"/>
                  </a:cubicBezTo>
                  <a:lnTo>
                    <a:pt x="1003664" y="722181"/>
                  </a:lnTo>
                  <a:cubicBezTo>
                    <a:pt x="1003664" y="751815"/>
                    <a:pt x="991892" y="780236"/>
                    <a:pt x="970937" y="801191"/>
                  </a:cubicBezTo>
                  <a:cubicBezTo>
                    <a:pt x="949983" y="822146"/>
                    <a:pt x="921562" y="833918"/>
                    <a:pt x="891928" y="833918"/>
                  </a:cubicBezTo>
                  <a:lnTo>
                    <a:pt x="111737" y="833918"/>
                  </a:lnTo>
                  <a:cubicBezTo>
                    <a:pt x="82102" y="833918"/>
                    <a:pt x="53682" y="822146"/>
                    <a:pt x="32727" y="801191"/>
                  </a:cubicBezTo>
                  <a:cubicBezTo>
                    <a:pt x="11772" y="780236"/>
                    <a:pt x="0" y="751815"/>
                    <a:pt x="0" y="722181"/>
                  </a:cubicBezTo>
                  <a:lnTo>
                    <a:pt x="0" y="111737"/>
                  </a:lnTo>
                  <a:cubicBezTo>
                    <a:pt x="0" y="82102"/>
                    <a:pt x="11772" y="53682"/>
                    <a:pt x="32727" y="32727"/>
                  </a:cubicBezTo>
                  <a:cubicBezTo>
                    <a:pt x="53682" y="11772"/>
                    <a:pt x="82102" y="0"/>
                    <a:pt x="111737" y="0"/>
                  </a:cubicBezTo>
                  <a:close/>
                </a:path>
              </a:pathLst>
            </a:custGeom>
            <a:solidFill>
              <a:srgbClr val="009BF8"/>
            </a:solidFill>
          </p:spPr>
        </p:sp>
        <p:sp>
          <p:nvSpPr>
            <p:cNvPr id="25" name="TextBox 25"/>
            <p:cNvSpPr txBox="1"/>
            <p:nvPr/>
          </p:nvSpPr>
          <p:spPr>
            <a:xfrm>
              <a:off x="0" y="-133350"/>
              <a:ext cx="1003664" cy="967268"/>
            </a:xfrm>
            <a:prstGeom prst="rect">
              <a:avLst/>
            </a:prstGeom>
          </p:spPr>
          <p:txBody>
            <a:bodyPr lIns="50800" tIns="50800" rIns="50800" bIns="50800" rtlCol="0" anchor="ctr"/>
            <a:lstStyle/>
            <a:p>
              <a:pPr algn="ctr">
                <a:lnSpc>
                  <a:spcPts val="3520"/>
                </a:lnSpc>
              </a:pPr>
              <a:endParaRPr/>
            </a:p>
          </p:txBody>
        </p:sp>
      </p:grpSp>
      <p:grpSp>
        <p:nvGrpSpPr>
          <p:cNvPr id="26" name="Group 26"/>
          <p:cNvGrpSpPr/>
          <p:nvPr/>
        </p:nvGrpSpPr>
        <p:grpSpPr>
          <a:xfrm>
            <a:off x="12683913" y="2217002"/>
            <a:ext cx="3239500" cy="686529"/>
            <a:chOff x="0" y="0"/>
            <a:chExt cx="1204730" cy="255312"/>
          </a:xfrm>
        </p:grpSpPr>
        <p:sp>
          <p:nvSpPr>
            <p:cNvPr id="27" name="Freeform 27"/>
            <p:cNvSpPr/>
            <p:nvPr/>
          </p:nvSpPr>
          <p:spPr>
            <a:xfrm>
              <a:off x="0" y="0"/>
              <a:ext cx="1204730" cy="255312"/>
            </a:xfrm>
            <a:custGeom>
              <a:avLst/>
              <a:gdLst/>
              <a:ahLst/>
              <a:cxnLst/>
              <a:rect l="l" t="t" r="r" b="b"/>
              <a:pathLst>
                <a:path w="1204730" h="255312">
                  <a:moveTo>
                    <a:pt x="114713" y="0"/>
                  </a:moveTo>
                  <a:lnTo>
                    <a:pt x="1090017" y="0"/>
                  </a:lnTo>
                  <a:cubicBezTo>
                    <a:pt x="1153371" y="0"/>
                    <a:pt x="1204730" y="51359"/>
                    <a:pt x="1204730" y="114713"/>
                  </a:cubicBezTo>
                  <a:lnTo>
                    <a:pt x="1204730" y="140599"/>
                  </a:lnTo>
                  <a:cubicBezTo>
                    <a:pt x="1204730" y="203953"/>
                    <a:pt x="1153371" y="255312"/>
                    <a:pt x="1090017" y="255312"/>
                  </a:cubicBezTo>
                  <a:lnTo>
                    <a:pt x="114713" y="255312"/>
                  </a:lnTo>
                  <a:cubicBezTo>
                    <a:pt x="51359" y="255312"/>
                    <a:pt x="0" y="203953"/>
                    <a:pt x="0" y="140599"/>
                  </a:cubicBezTo>
                  <a:lnTo>
                    <a:pt x="0" y="114713"/>
                  </a:lnTo>
                  <a:cubicBezTo>
                    <a:pt x="0" y="51359"/>
                    <a:pt x="51359" y="0"/>
                    <a:pt x="114713" y="0"/>
                  </a:cubicBezTo>
                  <a:close/>
                </a:path>
              </a:pathLst>
            </a:custGeom>
            <a:solidFill>
              <a:srgbClr val="FFFFFF"/>
            </a:solidFill>
            <a:ln w="38100" cap="rnd">
              <a:solidFill>
                <a:srgbClr val="009BF8"/>
              </a:solidFill>
              <a:prstDash val="solid"/>
              <a:round/>
            </a:ln>
          </p:spPr>
        </p:sp>
        <p:sp>
          <p:nvSpPr>
            <p:cNvPr id="28" name="TextBox 28"/>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9" name="TextBox 29"/>
          <p:cNvSpPr txBox="1"/>
          <p:nvPr/>
        </p:nvSpPr>
        <p:spPr>
          <a:xfrm>
            <a:off x="13200396" y="2448913"/>
            <a:ext cx="2206533" cy="260806"/>
          </a:xfrm>
          <a:prstGeom prst="rect">
            <a:avLst/>
          </a:prstGeom>
        </p:spPr>
        <p:txBody>
          <a:bodyPr lIns="0" tIns="0" rIns="0" bIns="0" rtlCol="0" anchor="t">
            <a:spAutoFit/>
          </a:bodyPr>
          <a:lstStyle/>
          <a:p>
            <a:pPr marL="0" lvl="0" indent="0" algn="l">
              <a:lnSpc>
                <a:spcPts val="1750"/>
              </a:lnSpc>
            </a:pPr>
            <a:r>
              <a:rPr lang="en-US" sz="1989">
                <a:solidFill>
                  <a:srgbClr val="009BF8"/>
                </a:solidFill>
                <a:latin typeface="Lovelo"/>
                <a:ea typeface="Lovelo"/>
                <a:cs typeface="Lovelo"/>
                <a:sym typeface="Lovelo"/>
              </a:rPr>
              <a:t>¿</a:t>
            </a:r>
            <a:r>
              <a:rPr lang="en-US" sz="1989" b="1">
                <a:solidFill>
                  <a:srgbClr val="009BF8"/>
                </a:solidFill>
                <a:latin typeface="Lovelo"/>
                <a:ea typeface="Lovelo"/>
                <a:cs typeface="Lovelo"/>
                <a:sym typeface="Lovelo"/>
              </a:rPr>
              <a:t>PARA QUÉ SIRVE?</a:t>
            </a:r>
          </a:p>
        </p:txBody>
      </p:sp>
      <p:sp>
        <p:nvSpPr>
          <p:cNvPr id="30" name="TextBox 30"/>
          <p:cNvSpPr txBox="1"/>
          <p:nvPr/>
        </p:nvSpPr>
        <p:spPr>
          <a:xfrm>
            <a:off x="12656536" y="3377010"/>
            <a:ext cx="3246073" cy="1407141"/>
          </a:xfrm>
          <a:prstGeom prst="rect">
            <a:avLst/>
          </a:prstGeom>
        </p:spPr>
        <p:txBody>
          <a:bodyPr lIns="0" tIns="0" rIns="0" bIns="0" rtlCol="0" anchor="t">
            <a:spAutoFit/>
          </a:bodyPr>
          <a:lstStyle/>
          <a:p>
            <a:pPr marL="368559" lvl="1" indent="-184280" algn="l">
              <a:lnSpc>
                <a:spcPts val="1843"/>
              </a:lnSpc>
              <a:buFont typeface="Arial"/>
              <a:buChar char="•"/>
            </a:pPr>
            <a:r>
              <a:rPr lang="en-US" sz="1707">
                <a:solidFill>
                  <a:srgbClr val="FFFFFF"/>
                </a:solidFill>
                <a:latin typeface="Poppins"/>
                <a:ea typeface="Poppins"/>
                <a:cs typeface="Poppins"/>
                <a:sym typeface="Poppins"/>
              </a:rPr>
              <a:t>Comunicados masivos.</a:t>
            </a:r>
          </a:p>
          <a:p>
            <a:pPr marL="368559" lvl="1" indent="-184280" algn="l">
              <a:lnSpc>
                <a:spcPts val="1843"/>
              </a:lnSpc>
              <a:buFont typeface="Arial"/>
              <a:buChar char="•"/>
            </a:pPr>
            <a:r>
              <a:rPr lang="en-US" sz="1707">
                <a:solidFill>
                  <a:srgbClr val="FFFFFF"/>
                </a:solidFill>
                <a:latin typeface="Poppins"/>
                <a:ea typeface="Poppins"/>
                <a:cs typeface="Poppins"/>
                <a:sym typeface="Poppins"/>
              </a:rPr>
              <a:t>Notificaciones internas.</a:t>
            </a:r>
          </a:p>
          <a:p>
            <a:pPr marL="368559" lvl="1" indent="-184280" algn="l">
              <a:lnSpc>
                <a:spcPts val="1843"/>
              </a:lnSpc>
              <a:buFont typeface="Arial"/>
              <a:buChar char="•"/>
            </a:pPr>
            <a:r>
              <a:rPr lang="en-US" sz="1707">
                <a:solidFill>
                  <a:srgbClr val="FFFFFF"/>
                </a:solidFill>
                <a:latin typeface="Poppins"/>
                <a:ea typeface="Poppins"/>
                <a:cs typeface="Poppins"/>
                <a:sym typeface="Poppins"/>
              </a:rPr>
              <a:t>Información a un área específica.</a:t>
            </a:r>
          </a:p>
          <a:p>
            <a:pPr marL="368559" lvl="1" indent="-184280" algn="l">
              <a:lnSpc>
                <a:spcPts val="1843"/>
              </a:lnSpc>
              <a:buFont typeface="Arial"/>
              <a:buChar char="•"/>
            </a:pPr>
            <a:r>
              <a:rPr lang="en-US" sz="1707">
                <a:solidFill>
                  <a:srgbClr val="FFFFFF"/>
                </a:solidFill>
                <a:latin typeface="Poppins"/>
                <a:ea typeface="Poppins"/>
                <a:cs typeface="Poppins"/>
                <a:sym typeface="Poppins"/>
              </a:rPr>
              <a:t>Envio a sedes o departamentos.</a:t>
            </a:r>
          </a:p>
        </p:txBody>
      </p:sp>
      <p:grpSp>
        <p:nvGrpSpPr>
          <p:cNvPr id="31" name="Group 31"/>
          <p:cNvGrpSpPr/>
          <p:nvPr/>
        </p:nvGrpSpPr>
        <p:grpSpPr>
          <a:xfrm>
            <a:off x="3134859" y="6510282"/>
            <a:ext cx="12272070" cy="2052331"/>
            <a:chOff x="0" y="0"/>
            <a:chExt cx="4258528" cy="712179"/>
          </a:xfrm>
        </p:grpSpPr>
        <p:sp>
          <p:nvSpPr>
            <p:cNvPr id="32" name="Freeform 32"/>
            <p:cNvSpPr/>
            <p:nvPr/>
          </p:nvSpPr>
          <p:spPr>
            <a:xfrm>
              <a:off x="0" y="0"/>
              <a:ext cx="4258528" cy="712179"/>
            </a:xfrm>
            <a:custGeom>
              <a:avLst/>
              <a:gdLst/>
              <a:ahLst/>
              <a:cxnLst/>
              <a:rect l="l" t="t" r="r" b="b"/>
              <a:pathLst>
                <a:path w="4258528" h="712179">
                  <a:moveTo>
                    <a:pt x="30281" y="0"/>
                  </a:moveTo>
                  <a:lnTo>
                    <a:pt x="4228247" y="0"/>
                  </a:lnTo>
                  <a:cubicBezTo>
                    <a:pt x="4236278" y="0"/>
                    <a:pt x="4243980" y="3190"/>
                    <a:pt x="4249659" y="8869"/>
                  </a:cubicBezTo>
                  <a:cubicBezTo>
                    <a:pt x="4255338" y="14548"/>
                    <a:pt x="4258528" y="22250"/>
                    <a:pt x="4258528" y="30281"/>
                  </a:cubicBezTo>
                  <a:lnTo>
                    <a:pt x="4258528" y="681898"/>
                  </a:lnTo>
                  <a:cubicBezTo>
                    <a:pt x="4258528" y="689929"/>
                    <a:pt x="4255338" y="697631"/>
                    <a:pt x="4249659" y="703310"/>
                  </a:cubicBezTo>
                  <a:cubicBezTo>
                    <a:pt x="4243980" y="708989"/>
                    <a:pt x="4236278" y="712179"/>
                    <a:pt x="4228247" y="712179"/>
                  </a:cubicBezTo>
                  <a:lnTo>
                    <a:pt x="30281" y="712179"/>
                  </a:lnTo>
                  <a:cubicBezTo>
                    <a:pt x="22250" y="712179"/>
                    <a:pt x="14548" y="708989"/>
                    <a:pt x="8869" y="703310"/>
                  </a:cubicBezTo>
                  <a:cubicBezTo>
                    <a:pt x="3190" y="697631"/>
                    <a:pt x="0" y="689929"/>
                    <a:pt x="0" y="681898"/>
                  </a:cubicBezTo>
                  <a:lnTo>
                    <a:pt x="0" y="30281"/>
                  </a:lnTo>
                  <a:cubicBezTo>
                    <a:pt x="0" y="22250"/>
                    <a:pt x="3190" y="14548"/>
                    <a:pt x="8869" y="8869"/>
                  </a:cubicBezTo>
                  <a:cubicBezTo>
                    <a:pt x="14548" y="3190"/>
                    <a:pt x="22250" y="0"/>
                    <a:pt x="30281" y="0"/>
                  </a:cubicBezTo>
                  <a:close/>
                </a:path>
              </a:pathLst>
            </a:custGeom>
            <a:ln w="38100" cap="rnd">
              <a:solidFill>
                <a:srgbClr val="009BF8"/>
              </a:solidFill>
              <a:prstDash val="solid"/>
              <a:round/>
            </a:ln>
          </p:spPr>
        </p:sp>
        <p:sp>
          <p:nvSpPr>
            <p:cNvPr id="33" name="TextBox 33"/>
            <p:cNvSpPr txBox="1"/>
            <p:nvPr/>
          </p:nvSpPr>
          <p:spPr>
            <a:xfrm>
              <a:off x="0" y="-133350"/>
              <a:ext cx="4258528" cy="845529"/>
            </a:xfrm>
            <a:prstGeom prst="rect">
              <a:avLst/>
            </a:prstGeom>
          </p:spPr>
          <p:txBody>
            <a:bodyPr lIns="50800" tIns="50800" rIns="50800" bIns="50800" rtlCol="0" anchor="ctr"/>
            <a:lstStyle/>
            <a:p>
              <a:pPr algn="ctr">
                <a:lnSpc>
                  <a:spcPts val="3520"/>
                </a:lnSpc>
              </a:pPr>
              <a:endParaRPr/>
            </a:p>
          </p:txBody>
        </p:sp>
      </p:grpSp>
      <p:grpSp>
        <p:nvGrpSpPr>
          <p:cNvPr id="34" name="Group 34"/>
          <p:cNvGrpSpPr/>
          <p:nvPr/>
        </p:nvGrpSpPr>
        <p:grpSpPr>
          <a:xfrm>
            <a:off x="7300707" y="6142408"/>
            <a:ext cx="3471747" cy="735748"/>
            <a:chOff x="0" y="0"/>
            <a:chExt cx="1204730" cy="255312"/>
          </a:xfrm>
        </p:grpSpPr>
        <p:sp>
          <p:nvSpPr>
            <p:cNvPr id="35" name="Freeform 35"/>
            <p:cNvSpPr/>
            <p:nvPr/>
          </p:nvSpPr>
          <p:spPr>
            <a:xfrm>
              <a:off x="0" y="0"/>
              <a:ext cx="1204730" cy="255312"/>
            </a:xfrm>
            <a:custGeom>
              <a:avLst/>
              <a:gdLst/>
              <a:ahLst/>
              <a:cxnLst/>
              <a:rect l="l" t="t" r="r" b="b"/>
              <a:pathLst>
                <a:path w="1204730" h="255312">
                  <a:moveTo>
                    <a:pt x="107039" y="0"/>
                  </a:moveTo>
                  <a:lnTo>
                    <a:pt x="1097691" y="0"/>
                  </a:lnTo>
                  <a:cubicBezTo>
                    <a:pt x="1156807" y="0"/>
                    <a:pt x="1204730" y="47923"/>
                    <a:pt x="1204730" y="107039"/>
                  </a:cubicBezTo>
                  <a:lnTo>
                    <a:pt x="1204730" y="148273"/>
                  </a:lnTo>
                  <a:cubicBezTo>
                    <a:pt x="1204730" y="176661"/>
                    <a:pt x="1193453" y="203887"/>
                    <a:pt x="1173379" y="223961"/>
                  </a:cubicBezTo>
                  <a:cubicBezTo>
                    <a:pt x="1153305" y="244034"/>
                    <a:pt x="1126079" y="255312"/>
                    <a:pt x="1097691" y="255312"/>
                  </a:cubicBezTo>
                  <a:lnTo>
                    <a:pt x="107039" y="255312"/>
                  </a:lnTo>
                  <a:cubicBezTo>
                    <a:pt x="78650" y="255312"/>
                    <a:pt x="51425" y="244034"/>
                    <a:pt x="31351" y="223961"/>
                  </a:cubicBezTo>
                  <a:cubicBezTo>
                    <a:pt x="11277" y="203887"/>
                    <a:pt x="0" y="176661"/>
                    <a:pt x="0" y="148273"/>
                  </a:cubicBezTo>
                  <a:lnTo>
                    <a:pt x="0" y="107039"/>
                  </a:lnTo>
                  <a:cubicBezTo>
                    <a:pt x="0" y="78650"/>
                    <a:pt x="11277" y="51425"/>
                    <a:pt x="31351" y="31351"/>
                  </a:cubicBezTo>
                  <a:cubicBezTo>
                    <a:pt x="51425" y="11277"/>
                    <a:pt x="78650" y="0"/>
                    <a:pt x="107039" y="0"/>
                  </a:cubicBezTo>
                  <a:close/>
                </a:path>
              </a:pathLst>
            </a:custGeom>
            <a:solidFill>
              <a:srgbClr val="009BF8"/>
            </a:solidFill>
            <a:ln cap="rnd">
              <a:noFill/>
              <a:prstDash val="solid"/>
              <a:round/>
            </a:ln>
          </p:spPr>
        </p:sp>
        <p:sp>
          <p:nvSpPr>
            <p:cNvPr id="36" name="TextBox 36"/>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37" name="TextBox 37"/>
          <p:cNvSpPr txBox="1"/>
          <p:nvPr/>
        </p:nvSpPr>
        <p:spPr>
          <a:xfrm>
            <a:off x="7757978" y="6407265"/>
            <a:ext cx="2557204" cy="263185"/>
          </a:xfrm>
          <a:prstGeom prst="rect">
            <a:avLst/>
          </a:prstGeom>
        </p:spPr>
        <p:txBody>
          <a:bodyPr lIns="0" tIns="0" rIns="0" bIns="0" rtlCol="0" anchor="t">
            <a:spAutoFit/>
          </a:bodyPr>
          <a:lstStyle/>
          <a:p>
            <a:pPr marL="0" lvl="0" indent="0" algn="l">
              <a:lnSpc>
                <a:spcPts val="1876"/>
              </a:lnSpc>
            </a:pPr>
            <a:r>
              <a:rPr lang="en-US" sz="2132">
                <a:solidFill>
                  <a:srgbClr val="FFFFFF"/>
                </a:solidFill>
                <a:latin typeface="Lovelo"/>
                <a:ea typeface="Lovelo"/>
                <a:cs typeface="Lovelo"/>
                <a:sym typeface="Lovelo"/>
              </a:rPr>
              <a:t>RECOMENDACIONES</a:t>
            </a:r>
          </a:p>
        </p:txBody>
      </p:sp>
      <p:sp>
        <p:nvSpPr>
          <p:cNvPr id="38" name="TextBox 38"/>
          <p:cNvSpPr txBox="1"/>
          <p:nvPr/>
        </p:nvSpPr>
        <p:spPr>
          <a:xfrm>
            <a:off x="2872549" y="6993174"/>
            <a:ext cx="12388474" cy="1287407"/>
          </a:xfrm>
          <a:prstGeom prst="rect">
            <a:avLst/>
          </a:prstGeom>
        </p:spPr>
        <p:txBody>
          <a:bodyPr lIns="0" tIns="0" rIns="0" bIns="0" rtlCol="0" anchor="t">
            <a:spAutoFit/>
          </a:bodyPr>
          <a:lstStyle/>
          <a:p>
            <a:pPr marL="1110616" lvl="2" indent="-370205" algn="l">
              <a:lnSpc>
                <a:spcPts val="3376"/>
              </a:lnSpc>
              <a:buFont typeface="Arial"/>
              <a:buChar char="⚬"/>
            </a:pPr>
            <a:r>
              <a:rPr lang="en-US" sz="2572">
                <a:solidFill>
                  <a:srgbClr val="000000"/>
                </a:solidFill>
                <a:latin typeface="Poppins"/>
                <a:ea typeface="Poppins"/>
                <a:cs typeface="Poppins"/>
                <a:sym typeface="Poppins"/>
              </a:rPr>
              <a:t>❌ No usar cuentas genéricas con contraseña compartida.</a:t>
            </a:r>
          </a:p>
          <a:p>
            <a:pPr marL="1110616" lvl="2" indent="-370205" algn="l">
              <a:lnSpc>
                <a:spcPts val="3376"/>
              </a:lnSpc>
              <a:buFont typeface="Arial"/>
              <a:buChar char="⚬"/>
            </a:pPr>
            <a:r>
              <a:rPr lang="en-US" sz="2572">
                <a:solidFill>
                  <a:srgbClr val="000000"/>
                </a:solidFill>
                <a:latin typeface="Poppins"/>
                <a:ea typeface="Poppins"/>
                <a:cs typeface="Poppins"/>
                <a:sym typeface="Poppins"/>
              </a:rPr>
              <a:t>✅ Si varias personas deben acceder → usar </a:t>
            </a:r>
            <a:r>
              <a:rPr lang="en-US" sz="2572" b="1">
                <a:solidFill>
                  <a:srgbClr val="000000"/>
                </a:solidFill>
                <a:latin typeface="Poppins Bold"/>
                <a:ea typeface="Poppins Bold"/>
                <a:cs typeface="Poppins Bold"/>
                <a:sym typeface="Poppins Bold"/>
              </a:rPr>
              <a:t>buzón compartido</a:t>
            </a:r>
            <a:r>
              <a:rPr lang="en-US" sz="2572">
                <a:solidFill>
                  <a:srgbClr val="000000"/>
                </a:solidFill>
                <a:latin typeface="Poppins"/>
                <a:ea typeface="Poppins"/>
                <a:cs typeface="Poppins"/>
                <a:sym typeface="Poppins"/>
              </a:rPr>
              <a:t>.</a:t>
            </a:r>
          </a:p>
          <a:p>
            <a:pPr marL="1110616" lvl="2" indent="-370205" algn="l">
              <a:lnSpc>
                <a:spcPts val="3376"/>
              </a:lnSpc>
              <a:buFont typeface="Arial"/>
              <a:buChar char="⚬"/>
            </a:pPr>
            <a:r>
              <a:rPr lang="en-US" sz="2572">
                <a:solidFill>
                  <a:srgbClr val="000000"/>
                </a:solidFill>
                <a:latin typeface="Poppins"/>
                <a:ea typeface="Poppins"/>
                <a:cs typeface="Poppins"/>
                <a:sym typeface="Poppins"/>
              </a:rPr>
              <a:t>✅ Si es para una persona → usar </a:t>
            </a:r>
            <a:r>
              <a:rPr lang="en-US" sz="2572" b="1">
                <a:solidFill>
                  <a:srgbClr val="000000"/>
                </a:solidFill>
                <a:latin typeface="Poppins Bold"/>
                <a:ea typeface="Poppins Bold"/>
                <a:cs typeface="Poppins Bold"/>
                <a:sym typeface="Poppins Bold"/>
              </a:rPr>
              <a:t>correo personal</a:t>
            </a:r>
            <a:r>
              <a:rPr lang="en-US" sz="2572">
                <a:solidFill>
                  <a:srgbClr val="000000"/>
                </a:solidFill>
                <a:latin typeface="Poppins"/>
                <a:ea typeface="Poppins"/>
                <a:cs typeface="Poppins"/>
                <a:sym typeface="Poppins"/>
              </a:rPr>
              <a:t>.</a:t>
            </a:r>
          </a:p>
        </p:txBody>
      </p:sp>
      <p:sp>
        <p:nvSpPr>
          <p:cNvPr id="39" name="Freeform 39"/>
          <p:cNvSpPr/>
          <p:nvPr/>
        </p:nvSpPr>
        <p:spPr>
          <a:xfrm>
            <a:off x="949991" y="711201"/>
            <a:ext cx="925772" cy="775965"/>
          </a:xfrm>
          <a:custGeom>
            <a:avLst/>
            <a:gdLst/>
            <a:ahLst/>
            <a:cxnLst/>
            <a:rect l="l" t="t" r="r" b="b"/>
            <a:pathLst>
              <a:path w="925772" h="775965">
                <a:moveTo>
                  <a:pt x="0" y="0"/>
                </a:moveTo>
                <a:lnTo>
                  <a:pt x="925772" y="0"/>
                </a:lnTo>
                <a:lnTo>
                  <a:pt x="925772" y="775966"/>
                </a:lnTo>
                <a:lnTo>
                  <a:pt x="0" y="77596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40" name="Group 35">
            <a:extLst>
              <a:ext uri="{FF2B5EF4-FFF2-40B4-BE49-F238E27FC236}">
                <a16:creationId xmlns:a16="http://schemas.microsoft.com/office/drawing/2014/main" id="{834F6FE3-FFBB-4F10-88E3-6B296741991B}"/>
              </a:ext>
            </a:extLst>
          </p:cNvPr>
          <p:cNvGrpSpPr/>
          <p:nvPr/>
        </p:nvGrpSpPr>
        <p:grpSpPr>
          <a:xfrm>
            <a:off x="14078317" y="8878423"/>
            <a:ext cx="3180983" cy="705000"/>
            <a:chOff x="0" y="0"/>
            <a:chExt cx="4241311" cy="940001"/>
          </a:xfrm>
        </p:grpSpPr>
        <p:grpSp>
          <p:nvGrpSpPr>
            <p:cNvPr id="41" name="Group 36">
              <a:extLst>
                <a:ext uri="{FF2B5EF4-FFF2-40B4-BE49-F238E27FC236}">
                  <a16:creationId xmlns:a16="http://schemas.microsoft.com/office/drawing/2014/main" id="{B3430DA9-33EB-4488-B1BF-653C3DA148B2}"/>
                </a:ext>
              </a:extLst>
            </p:cNvPr>
            <p:cNvGrpSpPr/>
            <p:nvPr/>
          </p:nvGrpSpPr>
          <p:grpSpPr>
            <a:xfrm>
              <a:off x="0" y="0"/>
              <a:ext cx="4241311" cy="940001"/>
              <a:chOff x="0" y="0"/>
              <a:chExt cx="746060" cy="165349"/>
            </a:xfrm>
          </p:grpSpPr>
          <p:sp>
            <p:nvSpPr>
              <p:cNvPr id="44" name="Freeform 37">
                <a:hlinkClick r:id="rId10" action="ppaction://hlinksldjump"/>
                <a:extLst>
                  <a:ext uri="{FF2B5EF4-FFF2-40B4-BE49-F238E27FC236}">
                    <a16:creationId xmlns:a16="http://schemas.microsoft.com/office/drawing/2014/main" id="{EBF0033A-872C-4CA1-977D-35ED591E75A3}"/>
                  </a:ext>
                </a:extLst>
              </p:cNvPr>
              <p:cNvSpPr/>
              <p:nvPr/>
            </p:nvSpPr>
            <p:spPr>
              <a:xfrm>
                <a:off x="0" y="0"/>
                <a:ext cx="746060" cy="165349"/>
              </a:xfrm>
              <a:custGeom>
                <a:avLst/>
                <a:gdLst/>
                <a:ahLst/>
                <a:cxnLst/>
                <a:rect l="l" t="t" r="r" b="b"/>
                <a:pathLst>
                  <a:path w="746060" h="165349">
                    <a:moveTo>
                      <a:pt x="82675" y="0"/>
                    </a:moveTo>
                    <a:lnTo>
                      <a:pt x="663386" y="0"/>
                    </a:lnTo>
                    <a:cubicBezTo>
                      <a:pt x="709046" y="0"/>
                      <a:pt x="746060" y="37015"/>
                      <a:pt x="746060" y="82675"/>
                    </a:cubicBezTo>
                    <a:lnTo>
                      <a:pt x="746060" y="82675"/>
                    </a:lnTo>
                    <a:cubicBezTo>
                      <a:pt x="746060" y="128334"/>
                      <a:pt x="709046" y="165349"/>
                      <a:pt x="663386" y="165349"/>
                    </a:cubicBezTo>
                    <a:lnTo>
                      <a:pt x="82675" y="165349"/>
                    </a:lnTo>
                    <a:cubicBezTo>
                      <a:pt x="37015" y="165349"/>
                      <a:pt x="0" y="128334"/>
                      <a:pt x="0" y="82675"/>
                    </a:cubicBezTo>
                    <a:lnTo>
                      <a:pt x="0" y="82675"/>
                    </a:lnTo>
                    <a:cubicBezTo>
                      <a:pt x="0" y="37015"/>
                      <a:pt x="37015" y="0"/>
                      <a:pt x="82675" y="0"/>
                    </a:cubicBezTo>
                    <a:close/>
                  </a:path>
                </a:pathLst>
              </a:custGeom>
              <a:solidFill>
                <a:srgbClr val="009BF8"/>
              </a:solidFill>
            </p:spPr>
          </p:sp>
          <p:sp>
            <p:nvSpPr>
              <p:cNvPr id="45" name="TextBox 38">
                <a:extLst>
                  <a:ext uri="{FF2B5EF4-FFF2-40B4-BE49-F238E27FC236}">
                    <a16:creationId xmlns:a16="http://schemas.microsoft.com/office/drawing/2014/main" id="{E4C1DFC9-440C-4C39-9EB8-8643D6311818}"/>
                  </a:ext>
                </a:extLst>
              </p:cNvPr>
              <p:cNvSpPr txBox="1"/>
              <p:nvPr/>
            </p:nvSpPr>
            <p:spPr>
              <a:xfrm>
                <a:off x="0" y="-133350"/>
                <a:ext cx="746060" cy="298699"/>
              </a:xfrm>
              <a:prstGeom prst="rect">
                <a:avLst/>
              </a:prstGeom>
            </p:spPr>
            <p:txBody>
              <a:bodyPr lIns="50800" tIns="50800" rIns="50800" bIns="50800" rtlCol="0" anchor="ctr"/>
              <a:lstStyle/>
              <a:p>
                <a:pPr algn="ctr">
                  <a:lnSpc>
                    <a:spcPts val="3520"/>
                  </a:lnSpc>
                </a:pPr>
                <a:endParaRPr/>
              </a:p>
            </p:txBody>
          </p:sp>
        </p:grpSp>
        <p:sp>
          <p:nvSpPr>
            <p:cNvPr id="42" name="Freeform 39">
              <a:extLst>
                <a:ext uri="{FF2B5EF4-FFF2-40B4-BE49-F238E27FC236}">
                  <a16:creationId xmlns:a16="http://schemas.microsoft.com/office/drawing/2014/main" id="{BB530282-1290-4E87-B0AA-F40F664FF73A}"/>
                </a:ext>
              </a:extLst>
            </p:cNvPr>
            <p:cNvSpPr/>
            <p:nvPr/>
          </p:nvSpPr>
          <p:spPr>
            <a:xfrm>
              <a:off x="2750498" y="204243"/>
              <a:ext cx="531514" cy="531514"/>
            </a:xfrm>
            <a:custGeom>
              <a:avLst/>
              <a:gdLst/>
              <a:ahLst/>
              <a:cxnLst/>
              <a:rect l="l" t="t" r="r" b="b"/>
              <a:pathLst>
                <a:path w="531514" h="531514">
                  <a:moveTo>
                    <a:pt x="0" y="0"/>
                  </a:moveTo>
                  <a:lnTo>
                    <a:pt x="531514" y="0"/>
                  </a:lnTo>
                  <a:lnTo>
                    <a:pt x="531514" y="531514"/>
                  </a:lnTo>
                  <a:lnTo>
                    <a:pt x="0" y="53151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43" name="TextBox 40">
              <a:extLst>
                <a:ext uri="{FF2B5EF4-FFF2-40B4-BE49-F238E27FC236}">
                  <a16:creationId xmlns:a16="http://schemas.microsoft.com/office/drawing/2014/main" id="{75737EF4-BEF4-4402-944D-38C457837F21}"/>
                </a:ext>
              </a:extLst>
            </p:cNvPr>
            <p:cNvSpPr txBox="1"/>
            <p:nvPr/>
          </p:nvSpPr>
          <p:spPr>
            <a:xfrm>
              <a:off x="1244111" y="249399"/>
              <a:ext cx="1422400" cy="430203"/>
            </a:xfrm>
            <a:prstGeom prst="rect">
              <a:avLst/>
            </a:prstGeom>
          </p:spPr>
          <p:txBody>
            <a:bodyPr wrap="square" lIns="0" tIns="0" rIns="0" bIns="0" rtlCol="0" anchor="t">
              <a:spAutoFit/>
            </a:bodyPr>
            <a:lstStyle/>
            <a:p>
              <a:pPr marL="0" lvl="0" indent="0" algn="l">
                <a:lnSpc>
                  <a:spcPts val="2628"/>
                </a:lnSpc>
              </a:pPr>
              <a:r>
                <a:rPr lang="en-US" sz="2022" b="1" spc="20" dirty="0">
                  <a:solidFill>
                    <a:srgbClr val="FFFFFF"/>
                  </a:solidFill>
                  <a:latin typeface="Poppins Bold"/>
                  <a:ea typeface="Poppins Bold"/>
                  <a:cs typeface="Poppins Bold"/>
                  <a:sym typeface="Poppins Bold"/>
                </a:rPr>
                <a:t>VOLVER</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629250" y="509054"/>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96211" y="144008"/>
            <a:ext cx="1433332" cy="1700832"/>
          </a:xfrm>
          <a:custGeom>
            <a:avLst/>
            <a:gdLst/>
            <a:ahLst/>
            <a:cxnLst/>
            <a:rect l="l" t="t" r="r" b="b"/>
            <a:pathLst>
              <a:path w="1433332" h="1700832">
                <a:moveTo>
                  <a:pt x="0" y="0"/>
                </a:moveTo>
                <a:lnTo>
                  <a:pt x="1433331" y="0"/>
                </a:lnTo>
                <a:lnTo>
                  <a:pt x="1433331" y="1700832"/>
                </a:lnTo>
                <a:lnTo>
                  <a:pt x="0" y="17008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2432561" y="1042683"/>
            <a:ext cx="1926431" cy="531927"/>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INTUNE</a:t>
            </a:r>
          </a:p>
        </p:txBody>
      </p:sp>
      <p:grpSp>
        <p:nvGrpSpPr>
          <p:cNvPr id="6" name="Group 6"/>
          <p:cNvGrpSpPr/>
          <p:nvPr/>
        </p:nvGrpSpPr>
        <p:grpSpPr>
          <a:xfrm>
            <a:off x="3771678" y="2155417"/>
            <a:ext cx="10825727" cy="1810451"/>
            <a:chOff x="0" y="0"/>
            <a:chExt cx="4258528" cy="712179"/>
          </a:xfrm>
        </p:grpSpPr>
        <p:sp>
          <p:nvSpPr>
            <p:cNvPr id="7" name="Freeform 7"/>
            <p:cNvSpPr/>
            <p:nvPr/>
          </p:nvSpPr>
          <p:spPr>
            <a:xfrm>
              <a:off x="0" y="0"/>
              <a:ext cx="4258528" cy="712179"/>
            </a:xfrm>
            <a:custGeom>
              <a:avLst/>
              <a:gdLst/>
              <a:ahLst/>
              <a:cxnLst/>
              <a:rect l="l" t="t" r="r" b="b"/>
              <a:pathLst>
                <a:path w="4258528" h="712179">
                  <a:moveTo>
                    <a:pt x="34327" y="0"/>
                  </a:moveTo>
                  <a:lnTo>
                    <a:pt x="4224201" y="0"/>
                  </a:lnTo>
                  <a:cubicBezTo>
                    <a:pt x="4243160" y="0"/>
                    <a:pt x="4258528" y="15369"/>
                    <a:pt x="4258528" y="34327"/>
                  </a:cubicBezTo>
                  <a:lnTo>
                    <a:pt x="4258528" y="677852"/>
                  </a:lnTo>
                  <a:cubicBezTo>
                    <a:pt x="4258528" y="696810"/>
                    <a:pt x="4243160" y="712179"/>
                    <a:pt x="4224201" y="712179"/>
                  </a:cubicBezTo>
                  <a:lnTo>
                    <a:pt x="34327" y="712179"/>
                  </a:lnTo>
                  <a:cubicBezTo>
                    <a:pt x="25223" y="712179"/>
                    <a:pt x="16492" y="708562"/>
                    <a:pt x="10054" y="702125"/>
                  </a:cubicBezTo>
                  <a:cubicBezTo>
                    <a:pt x="3617" y="695687"/>
                    <a:pt x="0" y="686956"/>
                    <a:pt x="0" y="677852"/>
                  </a:cubicBezTo>
                  <a:lnTo>
                    <a:pt x="0" y="34327"/>
                  </a:lnTo>
                  <a:cubicBezTo>
                    <a:pt x="0" y="15369"/>
                    <a:pt x="15369" y="0"/>
                    <a:pt x="34327" y="0"/>
                  </a:cubicBezTo>
                  <a:close/>
                </a:path>
              </a:pathLst>
            </a:custGeom>
            <a:ln w="38100" cap="rnd">
              <a:solidFill>
                <a:srgbClr val="009BF8"/>
              </a:solidFill>
              <a:prstDash val="solid"/>
              <a:round/>
            </a:ln>
          </p:spPr>
        </p:sp>
        <p:sp>
          <p:nvSpPr>
            <p:cNvPr id="8" name="TextBox 8"/>
            <p:cNvSpPr txBox="1"/>
            <p:nvPr/>
          </p:nvSpPr>
          <p:spPr>
            <a:xfrm>
              <a:off x="0" y="-133350"/>
              <a:ext cx="4258528" cy="845529"/>
            </a:xfrm>
            <a:prstGeom prst="rect">
              <a:avLst/>
            </a:prstGeom>
          </p:spPr>
          <p:txBody>
            <a:bodyPr lIns="50800" tIns="50800" rIns="50800" bIns="50800" rtlCol="0" anchor="ctr"/>
            <a:lstStyle/>
            <a:p>
              <a:pPr algn="ctr">
                <a:lnSpc>
                  <a:spcPts val="3520"/>
                </a:lnSpc>
              </a:pPr>
              <a:endParaRPr/>
            </a:p>
          </p:txBody>
        </p:sp>
      </p:grpSp>
      <p:grpSp>
        <p:nvGrpSpPr>
          <p:cNvPr id="9" name="Group 9"/>
          <p:cNvGrpSpPr/>
          <p:nvPr/>
        </p:nvGrpSpPr>
        <p:grpSpPr>
          <a:xfrm>
            <a:off x="4188828" y="1744764"/>
            <a:ext cx="3062579" cy="649035"/>
            <a:chOff x="0" y="0"/>
            <a:chExt cx="1204730" cy="255312"/>
          </a:xfrm>
        </p:grpSpPr>
        <p:sp>
          <p:nvSpPr>
            <p:cNvPr id="10" name="Freeform 10"/>
            <p:cNvSpPr/>
            <p:nvPr/>
          </p:nvSpPr>
          <p:spPr>
            <a:xfrm>
              <a:off x="0" y="0"/>
              <a:ext cx="1204730" cy="255312"/>
            </a:xfrm>
            <a:custGeom>
              <a:avLst/>
              <a:gdLst/>
              <a:ahLst/>
              <a:cxnLst/>
              <a:rect l="l" t="t" r="r" b="b"/>
              <a:pathLst>
                <a:path w="1204730" h="255312">
                  <a:moveTo>
                    <a:pt x="121340" y="0"/>
                  </a:moveTo>
                  <a:lnTo>
                    <a:pt x="1083390" y="0"/>
                  </a:lnTo>
                  <a:cubicBezTo>
                    <a:pt x="1150404" y="0"/>
                    <a:pt x="1204730" y="54326"/>
                    <a:pt x="1204730" y="121340"/>
                  </a:cubicBezTo>
                  <a:lnTo>
                    <a:pt x="1204730" y="133972"/>
                  </a:lnTo>
                  <a:cubicBezTo>
                    <a:pt x="1204730" y="200986"/>
                    <a:pt x="1150404" y="255312"/>
                    <a:pt x="1083390" y="255312"/>
                  </a:cubicBezTo>
                  <a:lnTo>
                    <a:pt x="121340" y="255312"/>
                  </a:lnTo>
                  <a:cubicBezTo>
                    <a:pt x="89158" y="255312"/>
                    <a:pt x="58295" y="242528"/>
                    <a:pt x="35540" y="219772"/>
                  </a:cubicBezTo>
                  <a:cubicBezTo>
                    <a:pt x="12784" y="197016"/>
                    <a:pt x="0" y="166153"/>
                    <a:pt x="0" y="133972"/>
                  </a:cubicBezTo>
                  <a:lnTo>
                    <a:pt x="0" y="121340"/>
                  </a:lnTo>
                  <a:cubicBezTo>
                    <a:pt x="0" y="54326"/>
                    <a:pt x="54326" y="0"/>
                    <a:pt x="121340" y="0"/>
                  </a:cubicBezTo>
                  <a:close/>
                </a:path>
              </a:pathLst>
            </a:custGeom>
            <a:solidFill>
              <a:srgbClr val="009BF8"/>
            </a:solidFill>
            <a:ln cap="rnd">
              <a:noFill/>
              <a:prstDash val="solid"/>
              <a:round/>
            </a:ln>
          </p:spPr>
        </p:sp>
        <p:sp>
          <p:nvSpPr>
            <p:cNvPr id="11" name="TextBox 11"/>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12" name="TextBox 12"/>
          <p:cNvSpPr txBox="1"/>
          <p:nvPr/>
        </p:nvSpPr>
        <p:spPr>
          <a:xfrm>
            <a:off x="4592207" y="1975615"/>
            <a:ext cx="2255821" cy="234956"/>
          </a:xfrm>
          <a:prstGeom prst="rect">
            <a:avLst/>
          </a:prstGeom>
        </p:spPr>
        <p:txBody>
          <a:bodyPr lIns="0" tIns="0" rIns="0" bIns="0" rtlCol="0" anchor="t">
            <a:spAutoFit/>
          </a:bodyPr>
          <a:lstStyle/>
          <a:p>
            <a:pPr marL="0" lvl="0" indent="0" algn="l">
              <a:lnSpc>
                <a:spcPts val="1655"/>
              </a:lnSpc>
            </a:pPr>
            <a:r>
              <a:rPr lang="en-US" sz="1880">
                <a:solidFill>
                  <a:srgbClr val="FFFFFF"/>
                </a:solidFill>
                <a:latin typeface="Lovelo"/>
                <a:ea typeface="Lovelo"/>
                <a:cs typeface="Lovelo"/>
                <a:sym typeface="Lovelo"/>
              </a:rPr>
              <a:t>📱¿QUÉ ES INTUNE?</a:t>
            </a:r>
          </a:p>
        </p:txBody>
      </p:sp>
      <p:sp>
        <p:nvSpPr>
          <p:cNvPr id="13" name="TextBox 13"/>
          <p:cNvSpPr txBox="1"/>
          <p:nvPr/>
        </p:nvSpPr>
        <p:spPr>
          <a:xfrm>
            <a:off x="4304526" y="2530420"/>
            <a:ext cx="9760032" cy="1022343"/>
          </a:xfrm>
          <a:prstGeom prst="rect">
            <a:avLst/>
          </a:prstGeom>
        </p:spPr>
        <p:txBody>
          <a:bodyPr lIns="0" tIns="0" rIns="0" bIns="0" rtlCol="0" anchor="t">
            <a:spAutoFit/>
          </a:bodyPr>
          <a:lstStyle/>
          <a:p>
            <a:pPr algn="l">
              <a:lnSpc>
                <a:spcPts val="2660"/>
              </a:lnSpc>
            </a:pPr>
            <a:r>
              <a:rPr lang="en-US" sz="2026">
                <a:solidFill>
                  <a:srgbClr val="000000"/>
                </a:solidFill>
                <a:latin typeface="Poppins"/>
                <a:ea typeface="Poppins"/>
                <a:cs typeface="Poppins"/>
                <a:sym typeface="Poppins"/>
              </a:rPr>
              <a:t>✅ Es una solución de administración de dispositivos y aplicaciones en la nube que forma parte de Microsoft Endpoint Manager dentro del ecosistema de Microsoft 365.</a:t>
            </a:r>
          </a:p>
        </p:txBody>
      </p:sp>
      <p:grpSp>
        <p:nvGrpSpPr>
          <p:cNvPr id="14" name="Group 14"/>
          <p:cNvGrpSpPr/>
          <p:nvPr/>
        </p:nvGrpSpPr>
        <p:grpSpPr>
          <a:xfrm>
            <a:off x="3771679" y="4559262"/>
            <a:ext cx="9944322" cy="1810451"/>
            <a:chOff x="0" y="0"/>
            <a:chExt cx="4258528" cy="712179"/>
          </a:xfrm>
        </p:grpSpPr>
        <p:sp>
          <p:nvSpPr>
            <p:cNvPr id="15" name="Freeform 15"/>
            <p:cNvSpPr/>
            <p:nvPr/>
          </p:nvSpPr>
          <p:spPr>
            <a:xfrm>
              <a:off x="0" y="0"/>
              <a:ext cx="4258528" cy="712179"/>
            </a:xfrm>
            <a:custGeom>
              <a:avLst/>
              <a:gdLst/>
              <a:ahLst/>
              <a:cxnLst/>
              <a:rect l="l" t="t" r="r" b="b"/>
              <a:pathLst>
                <a:path w="4258528" h="712179">
                  <a:moveTo>
                    <a:pt x="34327" y="0"/>
                  </a:moveTo>
                  <a:lnTo>
                    <a:pt x="4224201" y="0"/>
                  </a:lnTo>
                  <a:cubicBezTo>
                    <a:pt x="4243160" y="0"/>
                    <a:pt x="4258528" y="15369"/>
                    <a:pt x="4258528" y="34327"/>
                  </a:cubicBezTo>
                  <a:lnTo>
                    <a:pt x="4258528" y="677852"/>
                  </a:lnTo>
                  <a:cubicBezTo>
                    <a:pt x="4258528" y="696810"/>
                    <a:pt x="4243160" y="712179"/>
                    <a:pt x="4224201" y="712179"/>
                  </a:cubicBezTo>
                  <a:lnTo>
                    <a:pt x="34327" y="712179"/>
                  </a:lnTo>
                  <a:cubicBezTo>
                    <a:pt x="25223" y="712179"/>
                    <a:pt x="16492" y="708562"/>
                    <a:pt x="10054" y="702125"/>
                  </a:cubicBezTo>
                  <a:cubicBezTo>
                    <a:pt x="3617" y="695687"/>
                    <a:pt x="0" y="686956"/>
                    <a:pt x="0" y="677852"/>
                  </a:cubicBezTo>
                  <a:lnTo>
                    <a:pt x="0" y="34327"/>
                  </a:lnTo>
                  <a:cubicBezTo>
                    <a:pt x="0" y="15369"/>
                    <a:pt x="15369" y="0"/>
                    <a:pt x="34327" y="0"/>
                  </a:cubicBezTo>
                  <a:close/>
                </a:path>
              </a:pathLst>
            </a:custGeom>
            <a:ln w="38100" cap="rnd">
              <a:solidFill>
                <a:srgbClr val="009BF8"/>
              </a:solidFill>
              <a:prstDash val="solid"/>
              <a:round/>
            </a:ln>
          </p:spPr>
        </p:sp>
        <p:sp>
          <p:nvSpPr>
            <p:cNvPr id="16" name="TextBox 16"/>
            <p:cNvSpPr txBox="1"/>
            <p:nvPr/>
          </p:nvSpPr>
          <p:spPr>
            <a:xfrm>
              <a:off x="0" y="-133350"/>
              <a:ext cx="4258528" cy="845529"/>
            </a:xfrm>
            <a:prstGeom prst="rect">
              <a:avLst/>
            </a:prstGeom>
          </p:spPr>
          <p:txBody>
            <a:bodyPr lIns="50800" tIns="50800" rIns="50800" bIns="50800" rtlCol="0" anchor="ctr"/>
            <a:lstStyle/>
            <a:p>
              <a:pPr algn="ctr">
                <a:lnSpc>
                  <a:spcPts val="3520"/>
                </a:lnSpc>
              </a:pPr>
              <a:endParaRPr/>
            </a:p>
          </p:txBody>
        </p:sp>
      </p:grpSp>
      <p:grpSp>
        <p:nvGrpSpPr>
          <p:cNvPr id="17" name="Group 17"/>
          <p:cNvGrpSpPr/>
          <p:nvPr/>
        </p:nvGrpSpPr>
        <p:grpSpPr>
          <a:xfrm>
            <a:off x="4188828" y="4068140"/>
            <a:ext cx="3062579" cy="649035"/>
            <a:chOff x="0" y="0"/>
            <a:chExt cx="1204730" cy="255312"/>
          </a:xfrm>
        </p:grpSpPr>
        <p:sp>
          <p:nvSpPr>
            <p:cNvPr id="18" name="Freeform 18"/>
            <p:cNvSpPr/>
            <p:nvPr/>
          </p:nvSpPr>
          <p:spPr>
            <a:xfrm>
              <a:off x="0" y="0"/>
              <a:ext cx="1204730" cy="255312"/>
            </a:xfrm>
            <a:custGeom>
              <a:avLst/>
              <a:gdLst/>
              <a:ahLst/>
              <a:cxnLst/>
              <a:rect l="l" t="t" r="r" b="b"/>
              <a:pathLst>
                <a:path w="1204730" h="255312">
                  <a:moveTo>
                    <a:pt x="121340" y="0"/>
                  </a:moveTo>
                  <a:lnTo>
                    <a:pt x="1083390" y="0"/>
                  </a:lnTo>
                  <a:cubicBezTo>
                    <a:pt x="1150404" y="0"/>
                    <a:pt x="1204730" y="54326"/>
                    <a:pt x="1204730" y="121340"/>
                  </a:cubicBezTo>
                  <a:lnTo>
                    <a:pt x="1204730" y="133972"/>
                  </a:lnTo>
                  <a:cubicBezTo>
                    <a:pt x="1204730" y="200986"/>
                    <a:pt x="1150404" y="255312"/>
                    <a:pt x="1083390" y="255312"/>
                  </a:cubicBezTo>
                  <a:lnTo>
                    <a:pt x="121340" y="255312"/>
                  </a:lnTo>
                  <a:cubicBezTo>
                    <a:pt x="89158" y="255312"/>
                    <a:pt x="58295" y="242528"/>
                    <a:pt x="35540" y="219772"/>
                  </a:cubicBezTo>
                  <a:cubicBezTo>
                    <a:pt x="12784" y="197016"/>
                    <a:pt x="0" y="166153"/>
                    <a:pt x="0" y="133972"/>
                  </a:cubicBezTo>
                  <a:lnTo>
                    <a:pt x="0" y="121340"/>
                  </a:lnTo>
                  <a:cubicBezTo>
                    <a:pt x="0" y="54326"/>
                    <a:pt x="54326" y="0"/>
                    <a:pt x="121340" y="0"/>
                  </a:cubicBezTo>
                  <a:close/>
                </a:path>
              </a:pathLst>
            </a:custGeom>
            <a:solidFill>
              <a:srgbClr val="009BF8"/>
            </a:solidFill>
            <a:ln cap="rnd">
              <a:noFill/>
              <a:prstDash val="solid"/>
              <a:round/>
            </a:ln>
          </p:spPr>
        </p:sp>
        <p:sp>
          <p:nvSpPr>
            <p:cNvPr id="19" name="TextBox 19"/>
            <p:cNvSpPr txBox="1"/>
            <p:nvPr/>
          </p:nvSpPr>
          <p:spPr>
            <a:xfrm>
              <a:off x="0" y="-133350"/>
              <a:ext cx="1204730" cy="388662"/>
            </a:xfrm>
            <a:prstGeom prst="rect">
              <a:avLst/>
            </a:prstGeom>
          </p:spPr>
          <p:txBody>
            <a:bodyPr lIns="50800" tIns="50800" rIns="50800" bIns="50800" rtlCol="0" anchor="ctr"/>
            <a:lstStyle/>
            <a:p>
              <a:pPr algn="ctr">
                <a:lnSpc>
                  <a:spcPts val="3520"/>
                </a:lnSpc>
              </a:pPr>
              <a:endParaRPr/>
            </a:p>
          </p:txBody>
        </p:sp>
      </p:grpSp>
      <p:sp>
        <p:nvSpPr>
          <p:cNvPr id="20" name="TextBox 20"/>
          <p:cNvSpPr txBox="1"/>
          <p:nvPr/>
        </p:nvSpPr>
        <p:spPr>
          <a:xfrm>
            <a:off x="4508272" y="4298992"/>
            <a:ext cx="2423690" cy="234956"/>
          </a:xfrm>
          <a:prstGeom prst="rect">
            <a:avLst/>
          </a:prstGeom>
        </p:spPr>
        <p:txBody>
          <a:bodyPr lIns="0" tIns="0" rIns="0" bIns="0" rtlCol="0" anchor="t">
            <a:spAutoFit/>
          </a:bodyPr>
          <a:lstStyle/>
          <a:p>
            <a:pPr marL="0" lvl="0" indent="0" algn="l">
              <a:lnSpc>
                <a:spcPts val="1655"/>
              </a:lnSpc>
            </a:pPr>
            <a:r>
              <a:rPr lang="en-US" sz="1880">
                <a:solidFill>
                  <a:srgbClr val="FFFFFF"/>
                </a:solidFill>
                <a:latin typeface="Lovelo"/>
                <a:ea typeface="Lovelo"/>
                <a:cs typeface="Lovelo"/>
                <a:sym typeface="Lovelo"/>
              </a:rPr>
              <a:t>🔎¿PARA QUÉ SIRVE?</a:t>
            </a:r>
          </a:p>
        </p:txBody>
      </p:sp>
      <p:sp>
        <p:nvSpPr>
          <p:cNvPr id="21" name="TextBox 21"/>
          <p:cNvSpPr txBox="1"/>
          <p:nvPr/>
        </p:nvSpPr>
        <p:spPr>
          <a:xfrm>
            <a:off x="4304526" y="4781348"/>
            <a:ext cx="9760032" cy="1328178"/>
          </a:xfrm>
          <a:prstGeom prst="rect">
            <a:avLst/>
          </a:prstGeom>
        </p:spPr>
        <p:txBody>
          <a:bodyPr lIns="0" tIns="0" rIns="0" bIns="0" rtlCol="0" anchor="t">
            <a:spAutoFit/>
          </a:bodyPr>
          <a:lstStyle/>
          <a:p>
            <a:pPr algn="l">
              <a:lnSpc>
                <a:spcPts val="2658"/>
              </a:lnSpc>
            </a:pPr>
            <a:r>
              <a:rPr lang="en-US" sz="2026">
                <a:solidFill>
                  <a:srgbClr val="000000"/>
                </a:solidFill>
                <a:latin typeface="Poppins"/>
                <a:ea typeface="Poppins"/>
                <a:cs typeface="Poppins"/>
                <a:sym typeface="Poppins"/>
              </a:rPr>
              <a:t>✅ Gestión de dispositivos (MDM).</a:t>
            </a:r>
          </a:p>
          <a:p>
            <a:pPr algn="l">
              <a:lnSpc>
                <a:spcPts val="2658"/>
              </a:lnSpc>
            </a:pPr>
            <a:r>
              <a:rPr lang="en-US" sz="2026">
                <a:solidFill>
                  <a:srgbClr val="000000"/>
                </a:solidFill>
                <a:latin typeface="Poppins"/>
                <a:ea typeface="Poppins"/>
                <a:cs typeface="Poppins"/>
                <a:sym typeface="Poppins"/>
              </a:rPr>
              <a:t>✅ Gestión de aplicaciones (MAM).</a:t>
            </a:r>
          </a:p>
          <a:p>
            <a:pPr algn="l">
              <a:lnSpc>
                <a:spcPts val="2658"/>
              </a:lnSpc>
            </a:pPr>
            <a:r>
              <a:rPr lang="en-US" sz="2026">
                <a:solidFill>
                  <a:srgbClr val="000000"/>
                </a:solidFill>
                <a:latin typeface="Poppins"/>
                <a:ea typeface="Poppins"/>
                <a:cs typeface="Poppins"/>
                <a:sym typeface="Poppins"/>
              </a:rPr>
              <a:t>✅ Seguridad.</a:t>
            </a:r>
          </a:p>
          <a:p>
            <a:pPr algn="l">
              <a:lnSpc>
                <a:spcPts val="2658"/>
              </a:lnSpc>
            </a:pPr>
            <a:r>
              <a:rPr lang="en-US" sz="2026">
                <a:solidFill>
                  <a:srgbClr val="000000"/>
                </a:solidFill>
                <a:latin typeface="Poppins"/>
                <a:ea typeface="Poppins"/>
                <a:cs typeface="Poppins"/>
                <a:sym typeface="Poppins"/>
              </a:rPr>
              <a:t>✅ Administración remota.</a:t>
            </a:r>
          </a:p>
        </p:txBody>
      </p:sp>
      <p:grpSp>
        <p:nvGrpSpPr>
          <p:cNvPr id="22" name="Group 22"/>
          <p:cNvGrpSpPr/>
          <p:nvPr/>
        </p:nvGrpSpPr>
        <p:grpSpPr>
          <a:xfrm>
            <a:off x="3731138" y="6960236"/>
            <a:ext cx="9944322" cy="2316494"/>
            <a:chOff x="0" y="0"/>
            <a:chExt cx="4258528" cy="911242"/>
          </a:xfrm>
        </p:grpSpPr>
        <p:sp>
          <p:nvSpPr>
            <p:cNvPr id="23" name="Freeform 23"/>
            <p:cNvSpPr/>
            <p:nvPr/>
          </p:nvSpPr>
          <p:spPr>
            <a:xfrm>
              <a:off x="0" y="0"/>
              <a:ext cx="4258528" cy="911242"/>
            </a:xfrm>
            <a:custGeom>
              <a:avLst/>
              <a:gdLst/>
              <a:ahLst/>
              <a:cxnLst/>
              <a:rect l="l" t="t" r="r" b="b"/>
              <a:pathLst>
                <a:path w="4258528" h="911242">
                  <a:moveTo>
                    <a:pt x="34327" y="0"/>
                  </a:moveTo>
                  <a:lnTo>
                    <a:pt x="4224201" y="0"/>
                  </a:lnTo>
                  <a:cubicBezTo>
                    <a:pt x="4243160" y="0"/>
                    <a:pt x="4258528" y="15369"/>
                    <a:pt x="4258528" y="34327"/>
                  </a:cubicBezTo>
                  <a:lnTo>
                    <a:pt x="4258528" y="876915"/>
                  </a:lnTo>
                  <a:cubicBezTo>
                    <a:pt x="4258528" y="886019"/>
                    <a:pt x="4254912" y="894750"/>
                    <a:pt x="4248474" y="901188"/>
                  </a:cubicBezTo>
                  <a:cubicBezTo>
                    <a:pt x="4242036" y="907625"/>
                    <a:pt x="4233305" y="911242"/>
                    <a:pt x="4224201" y="911242"/>
                  </a:cubicBezTo>
                  <a:lnTo>
                    <a:pt x="34327" y="911242"/>
                  </a:lnTo>
                  <a:cubicBezTo>
                    <a:pt x="15369" y="911242"/>
                    <a:pt x="0" y="895873"/>
                    <a:pt x="0" y="876915"/>
                  </a:cubicBezTo>
                  <a:lnTo>
                    <a:pt x="0" y="34327"/>
                  </a:lnTo>
                  <a:cubicBezTo>
                    <a:pt x="0" y="15369"/>
                    <a:pt x="15369" y="0"/>
                    <a:pt x="34327" y="0"/>
                  </a:cubicBezTo>
                  <a:close/>
                </a:path>
              </a:pathLst>
            </a:custGeom>
            <a:ln w="38100" cap="rnd">
              <a:solidFill>
                <a:srgbClr val="009BF8"/>
              </a:solidFill>
              <a:prstDash val="solid"/>
              <a:round/>
            </a:ln>
          </p:spPr>
        </p:sp>
        <p:sp>
          <p:nvSpPr>
            <p:cNvPr id="24" name="TextBox 24"/>
            <p:cNvSpPr txBox="1"/>
            <p:nvPr/>
          </p:nvSpPr>
          <p:spPr>
            <a:xfrm>
              <a:off x="0" y="-133350"/>
              <a:ext cx="4258528" cy="1044592"/>
            </a:xfrm>
            <a:prstGeom prst="rect">
              <a:avLst/>
            </a:prstGeom>
          </p:spPr>
          <p:txBody>
            <a:bodyPr lIns="50800" tIns="50800" rIns="50800" bIns="50800" rtlCol="0" anchor="ctr"/>
            <a:lstStyle/>
            <a:p>
              <a:pPr algn="ctr">
                <a:lnSpc>
                  <a:spcPts val="3520"/>
                </a:lnSpc>
              </a:pPr>
              <a:endParaRPr/>
            </a:p>
          </p:txBody>
        </p:sp>
      </p:grpSp>
      <p:grpSp>
        <p:nvGrpSpPr>
          <p:cNvPr id="25" name="Group 25"/>
          <p:cNvGrpSpPr/>
          <p:nvPr/>
        </p:nvGrpSpPr>
        <p:grpSpPr>
          <a:xfrm>
            <a:off x="4148286" y="6469114"/>
            <a:ext cx="3436143" cy="649035"/>
            <a:chOff x="0" y="0"/>
            <a:chExt cx="1351679" cy="255312"/>
          </a:xfrm>
        </p:grpSpPr>
        <p:sp>
          <p:nvSpPr>
            <p:cNvPr id="26" name="Freeform 26"/>
            <p:cNvSpPr/>
            <p:nvPr/>
          </p:nvSpPr>
          <p:spPr>
            <a:xfrm>
              <a:off x="0" y="0"/>
              <a:ext cx="1351679" cy="255312"/>
            </a:xfrm>
            <a:custGeom>
              <a:avLst/>
              <a:gdLst/>
              <a:ahLst/>
              <a:cxnLst/>
              <a:rect l="l" t="t" r="r" b="b"/>
              <a:pathLst>
                <a:path w="1351679" h="255312">
                  <a:moveTo>
                    <a:pt x="108148" y="0"/>
                  </a:moveTo>
                  <a:lnTo>
                    <a:pt x="1243531" y="0"/>
                  </a:lnTo>
                  <a:cubicBezTo>
                    <a:pt x="1303260" y="0"/>
                    <a:pt x="1351679" y="48420"/>
                    <a:pt x="1351679" y="108148"/>
                  </a:cubicBezTo>
                  <a:lnTo>
                    <a:pt x="1351679" y="147164"/>
                  </a:lnTo>
                  <a:cubicBezTo>
                    <a:pt x="1351679" y="206892"/>
                    <a:pt x="1303260" y="255312"/>
                    <a:pt x="1243531" y="255312"/>
                  </a:cubicBezTo>
                  <a:lnTo>
                    <a:pt x="108148" y="255312"/>
                  </a:lnTo>
                  <a:cubicBezTo>
                    <a:pt x="79465" y="255312"/>
                    <a:pt x="51958" y="243917"/>
                    <a:pt x="31676" y="223636"/>
                  </a:cubicBezTo>
                  <a:cubicBezTo>
                    <a:pt x="11394" y="203354"/>
                    <a:pt x="0" y="175846"/>
                    <a:pt x="0" y="147164"/>
                  </a:cubicBezTo>
                  <a:lnTo>
                    <a:pt x="0" y="108148"/>
                  </a:lnTo>
                  <a:cubicBezTo>
                    <a:pt x="0" y="48420"/>
                    <a:pt x="48420" y="0"/>
                    <a:pt x="108148" y="0"/>
                  </a:cubicBezTo>
                  <a:close/>
                </a:path>
              </a:pathLst>
            </a:custGeom>
            <a:solidFill>
              <a:srgbClr val="009BF8"/>
            </a:solidFill>
            <a:ln cap="rnd">
              <a:noFill/>
              <a:prstDash val="solid"/>
              <a:round/>
            </a:ln>
          </p:spPr>
        </p:sp>
        <p:sp>
          <p:nvSpPr>
            <p:cNvPr id="27" name="TextBox 27"/>
            <p:cNvSpPr txBox="1"/>
            <p:nvPr/>
          </p:nvSpPr>
          <p:spPr>
            <a:xfrm>
              <a:off x="0" y="-133350"/>
              <a:ext cx="1351679" cy="388662"/>
            </a:xfrm>
            <a:prstGeom prst="rect">
              <a:avLst/>
            </a:prstGeom>
          </p:spPr>
          <p:txBody>
            <a:bodyPr lIns="50800" tIns="50800" rIns="50800" bIns="50800" rtlCol="0" anchor="ctr"/>
            <a:lstStyle/>
            <a:p>
              <a:pPr algn="ctr">
                <a:lnSpc>
                  <a:spcPts val="3520"/>
                </a:lnSpc>
              </a:pPr>
              <a:endParaRPr/>
            </a:p>
          </p:txBody>
        </p:sp>
      </p:grpSp>
      <p:sp>
        <p:nvSpPr>
          <p:cNvPr id="28" name="TextBox 28"/>
          <p:cNvSpPr txBox="1"/>
          <p:nvPr/>
        </p:nvSpPr>
        <p:spPr>
          <a:xfrm>
            <a:off x="4394659" y="6699966"/>
            <a:ext cx="2943398" cy="234956"/>
          </a:xfrm>
          <a:prstGeom prst="rect">
            <a:avLst/>
          </a:prstGeom>
        </p:spPr>
        <p:txBody>
          <a:bodyPr lIns="0" tIns="0" rIns="0" bIns="0" rtlCol="0" anchor="t">
            <a:spAutoFit/>
          </a:bodyPr>
          <a:lstStyle/>
          <a:p>
            <a:pPr marL="0" lvl="0" indent="0" algn="l">
              <a:lnSpc>
                <a:spcPts val="1655"/>
              </a:lnSpc>
            </a:pPr>
            <a:r>
              <a:rPr lang="en-US" sz="1880">
                <a:solidFill>
                  <a:srgbClr val="FFFFFF"/>
                </a:solidFill>
                <a:latin typeface="Lovelo"/>
                <a:ea typeface="Lovelo"/>
                <a:cs typeface="Lovelo"/>
                <a:sym typeface="Lovelo"/>
              </a:rPr>
              <a:t>🎯VENTAJAS PRINCIPALES</a:t>
            </a:r>
          </a:p>
        </p:txBody>
      </p:sp>
      <p:sp>
        <p:nvSpPr>
          <p:cNvPr id="29" name="TextBox 29"/>
          <p:cNvSpPr txBox="1"/>
          <p:nvPr/>
        </p:nvSpPr>
        <p:spPr>
          <a:xfrm>
            <a:off x="4263984" y="7270481"/>
            <a:ext cx="9760032" cy="1657904"/>
          </a:xfrm>
          <a:prstGeom prst="rect">
            <a:avLst/>
          </a:prstGeom>
        </p:spPr>
        <p:txBody>
          <a:bodyPr lIns="0" tIns="0" rIns="0" bIns="0" rtlCol="0" anchor="t">
            <a:spAutoFit/>
          </a:bodyPr>
          <a:lstStyle/>
          <a:p>
            <a:pPr algn="l">
              <a:lnSpc>
                <a:spcPts val="2658"/>
              </a:lnSpc>
            </a:pPr>
            <a:r>
              <a:rPr lang="en-US" sz="2026">
                <a:solidFill>
                  <a:srgbClr val="000000"/>
                </a:solidFill>
                <a:latin typeface="Poppins"/>
                <a:ea typeface="Poppins"/>
                <a:cs typeface="Poppins"/>
                <a:sym typeface="Poppins"/>
              </a:rPr>
              <a:t>✅ Gestión centralizada desde la nube.</a:t>
            </a:r>
          </a:p>
          <a:p>
            <a:pPr algn="l">
              <a:lnSpc>
                <a:spcPts val="2658"/>
              </a:lnSpc>
            </a:pPr>
            <a:r>
              <a:rPr lang="en-US" sz="2026">
                <a:solidFill>
                  <a:srgbClr val="000000"/>
                </a:solidFill>
                <a:latin typeface="Poppins"/>
                <a:ea typeface="Poppins"/>
                <a:cs typeface="Poppins"/>
                <a:sym typeface="Poppins"/>
              </a:rPr>
              <a:t>✅ Soporta trabajo remoto.</a:t>
            </a:r>
          </a:p>
          <a:p>
            <a:pPr algn="l">
              <a:lnSpc>
                <a:spcPts val="2658"/>
              </a:lnSpc>
            </a:pPr>
            <a:r>
              <a:rPr lang="en-US" sz="2026">
                <a:solidFill>
                  <a:srgbClr val="000000"/>
                </a:solidFill>
                <a:latin typeface="Poppins"/>
                <a:ea typeface="Poppins"/>
                <a:cs typeface="Poppins"/>
                <a:sym typeface="Poppins"/>
              </a:rPr>
              <a:t>✅ Mayor seguridad y cumplimiento.</a:t>
            </a:r>
          </a:p>
          <a:p>
            <a:pPr algn="l">
              <a:lnSpc>
                <a:spcPts val="2658"/>
              </a:lnSpc>
            </a:pPr>
            <a:r>
              <a:rPr lang="en-US" sz="2026">
                <a:solidFill>
                  <a:srgbClr val="000000"/>
                </a:solidFill>
                <a:latin typeface="Poppins"/>
                <a:ea typeface="Poppins"/>
                <a:cs typeface="Poppins"/>
                <a:sym typeface="Poppins"/>
              </a:rPr>
              <a:t>✅ Automatiza despliegues.</a:t>
            </a:r>
          </a:p>
          <a:p>
            <a:pPr algn="l">
              <a:lnSpc>
                <a:spcPts val="2658"/>
              </a:lnSpc>
            </a:pPr>
            <a:r>
              <a:rPr lang="en-US" sz="2026">
                <a:solidFill>
                  <a:srgbClr val="000000"/>
                </a:solidFill>
                <a:latin typeface="Poppins"/>
                <a:ea typeface="Poppins"/>
                <a:cs typeface="Poppins"/>
                <a:sym typeface="Poppins"/>
              </a:rPr>
              <a:t>✅ Reduce intervención manual de TI.</a:t>
            </a:r>
          </a:p>
        </p:txBody>
      </p:sp>
      <p:sp>
        <p:nvSpPr>
          <p:cNvPr id="30" name="Freeform 30"/>
          <p:cNvSpPr/>
          <p:nvPr/>
        </p:nvSpPr>
        <p:spPr>
          <a:xfrm>
            <a:off x="1024894" y="761776"/>
            <a:ext cx="775965" cy="775965"/>
          </a:xfrm>
          <a:custGeom>
            <a:avLst/>
            <a:gdLst/>
            <a:ahLst/>
            <a:cxnLst/>
            <a:rect l="l" t="t" r="r" b="b"/>
            <a:pathLst>
              <a:path w="775965" h="775965">
                <a:moveTo>
                  <a:pt x="0" y="0"/>
                </a:moveTo>
                <a:lnTo>
                  <a:pt x="775965" y="0"/>
                </a:lnTo>
                <a:lnTo>
                  <a:pt x="775965" y="775966"/>
                </a:lnTo>
                <a:lnTo>
                  <a:pt x="0" y="77596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37" name="Group 35">
            <a:extLst>
              <a:ext uri="{FF2B5EF4-FFF2-40B4-BE49-F238E27FC236}">
                <a16:creationId xmlns:a16="http://schemas.microsoft.com/office/drawing/2014/main" id="{0DE99234-00B2-4DA2-ACDB-F6B01D7DC687}"/>
              </a:ext>
            </a:extLst>
          </p:cNvPr>
          <p:cNvGrpSpPr/>
          <p:nvPr/>
        </p:nvGrpSpPr>
        <p:grpSpPr>
          <a:xfrm>
            <a:off x="14078317" y="8878423"/>
            <a:ext cx="3180983" cy="705000"/>
            <a:chOff x="0" y="0"/>
            <a:chExt cx="4241311" cy="940001"/>
          </a:xfrm>
        </p:grpSpPr>
        <p:grpSp>
          <p:nvGrpSpPr>
            <p:cNvPr id="38" name="Group 36">
              <a:extLst>
                <a:ext uri="{FF2B5EF4-FFF2-40B4-BE49-F238E27FC236}">
                  <a16:creationId xmlns:a16="http://schemas.microsoft.com/office/drawing/2014/main" id="{7CB611BC-5D57-41D2-B7E3-337AB3CDBEAD}"/>
                </a:ext>
              </a:extLst>
            </p:cNvPr>
            <p:cNvGrpSpPr/>
            <p:nvPr/>
          </p:nvGrpSpPr>
          <p:grpSpPr>
            <a:xfrm>
              <a:off x="0" y="0"/>
              <a:ext cx="4241311" cy="940001"/>
              <a:chOff x="0" y="0"/>
              <a:chExt cx="746060" cy="165349"/>
            </a:xfrm>
          </p:grpSpPr>
          <p:sp>
            <p:nvSpPr>
              <p:cNvPr id="41" name="Freeform 37">
                <a:hlinkClick r:id="rId10" action="ppaction://hlinksldjump"/>
                <a:extLst>
                  <a:ext uri="{FF2B5EF4-FFF2-40B4-BE49-F238E27FC236}">
                    <a16:creationId xmlns:a16="http://schemas.microsoft.com/office/drawing/2014/main" id="{E7831427-2076-405C-BBD6-96901AB3460A}"/>
                  </a:ext>
                </a:extLst>
              </p:cNvPr>
              <p:cNvSpPr/>
              <p:nvPr/>
            </p:nvSpPr>
            <p:spPr>
              <a:xfrm>
                <a:off x="0" y="0"/>
                <a:ext cx="746060" cy="165349"/>
              </a:xfrm>
              <a:custGeom>
                <a:avLst/>
                <a:gdLst/>
                <a:ahLst/>
                <a:cxnLst/>
                <a:rect l="l" t="t" r="r" b="b"/>
                <a:pathLst>
                  <a:path w="746060" h="165349">
                    <a:moveTo>
                      <a:pt x="82675" y="0"/>
                    </a:moveTo>
                    <a:lnTo>
                      <a:pt x="663386" y="0"/>
                    </a:lnTo>
                    <a:cubicBezTo>
                      <a:pt x="709046" y="0"/>
                      <a:pt x="746060" y="37015"/>
                      <a:pt x="746060" y="82675"/>
                    </a:cubicBezTo>
                    <a:lnTo>
                      <a:pt x="746060" y="82675"/>
                    </a:lnTo>
                    <a:cubicBezTo>
                      <a:pt x="746060" y="128334"/>
                      <a:pt x="709046" y="165349"/>
                      <a:pt x="663386" y="165349"/>
                    </a:cubicBezTo>
                    <a:lnTo>
                      <a:pt x="82675" y="165349"/>
                    </a:lnTo>
                    <a:cubicBezTo>
                      <a:pt x="37015" y="165349"/>
                      <a:pt x="0" y="128334"/>
                      <a:pt x="0" y="82675"/>
                    </a:cubicBezTo>
                    <a:lnTo>
                      <a:pt x="0" y="82675"/>
                    </a:lnTo>
                    <a:cubicBezTo>
                      <a:pt x="0" y="37015"/>
                      <a:pt x="37015" y="0"/>
                      <a:pt x="82675" y="0"/>
                    </a:cubicBezTo>
                    <a:close/>
                  </a:path>
                </a:pathLst>
              </a:custGeom>
              <a:solidFill>
                <a:srgbClr val="009BF8"/>
              </a:solidFill>
            </p:spPr>
          </p:sp>
          <p:sp>
            <p:nvSpPr>
              <p:cNvPr id="42" name="TextBox 38">
                <a:extLst>
                  <a:ext uri="{FF2B5EF4-FFF2-40B4-BE49-F238E27FC236}">
                    <a16:creationId xmlns:a16="http://schemas.microsoft.com/office/drawing/2014/main" id="{3C19A988-F7E8-44AC-A0EF-103EEDA979E2}"/>
                  </a:ext>
                </a:extLst>
              </p:cNvPr>
              <p:cNvSpPr txBox="1"/>
              <p:nvPr/>
            </p:nvSpPr>
            <p:spPr>
              <a:xfrm>
                <a:off x="0" y="-133350"/>
                <a:ext cx="746060" cy="298699"/>
              </a:xfrm>
              <a:prstGeom prst="rect">
                <a:avLst/>
              </a:prstGeom>
            </p:spPr>
            <p:txBody>
              <a:bodyPr lIns="50800" tIns="50800" rIns="50800" bIns="50800" rtlCol="0" anchor="ctr"/>
              <a:lstStyle/>
              <a:p>
                <a:pPr algn="ctr">
                  <a:lnSpc>
                    <a:spcPts val="3520"/>
                  </a:lnSpc>
                </a:pPr>
                <a:endParaRPr/>
              </a:p>
            </p:txBody>
          </p:sp>
        </p:grpSp>
        <p:sp>
          <p:nvSpPr>
            <p:cNvPr id="39" name="Freeform 39">
              <a:extLst>
                <a:ext uri="{FF2B5EF4-FFF2-40B4-BE49-F238E27FC236}">
                  <a16:creationId xmlns:a16="http://schemas.microsoft.com/office/drawing/2014/main" id="{E6F64A98-4FA0-4FF1-8A52-B6172AE06A60}"/>
                </a:ext>
              </a:extLst>
            </p:cNvPr>
            <p:cNvSpPr/>
            <p:nvPr/>
          </p:nvSpPr>
          <p:spPr>
            <a:xfrm>
              <a:off x="2750498" y="204243"/>
              <a:ext cx="531514" cy="531514"/>
            </a:xfrm>
            <a:custGeom>
              <a:avLst/>
              <a:gdLst/>
              <a:ahLst/>
              <a:cxnLst/>
              <a:rect l="l" t="t" r="r" b="b"/>
              <a:pathLst>
                <a:path w="531514" h="531514">
                  <a:moveTo>
                    <a:pt x="0" y="0"/>
                  </a:moveTo>
                  <a:lnTo>
                    <a:pt x="531514" y="0"/>
                  </a:lnTo>
                  <a:lnTo>
                    <a:pt x="531514" y="531514"/>
                  </a:lnTo>
                  <a:lnTo>
                    <a:pt x="0" y="53151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40" name="TextBox 40">
              <a:extLst>
                <a:ext uri="{FF2B5EF4-FFF2-40B4-BE49-F238E27FC236}">
                  <a16:creationId xmlns:a16="http://schemas.microsoft.com/office/drawing/2014/main" id="{E55A5DCD-F4BA-48D4-8C99-985665FD9995}"/>
                </a:ext>
              </a:extLst>
            </p:cNvPr>
            <p:cNvSpPr txBox="1"/>
            <p:nvPr/>
          </p:nvSpPr>
          <p:spPr>
            <a:xfrm>
              <a:off x="1244111" y="249399"/>
              <a:ext cx="1422400" cy="430203"/>
            </a:xfrm>
            <a:prstGeom prst="rect">
              <a:avLst/>
            </a:prstGeom>
          </p:spPr>
          <p:txBody>
            <a:bodyPr wrap="square" lIns="0" tIns="0" rIns="0" bIns="0" rtlCol="0" anchor="t">
              <a:spAutoFit/>
            </a:bodyPr>
            <a:lstStyle/>
            <a:p>
              <a:pPr marL="0" lvl="0" indent="0" algn="l">
                <a:lnSpc>
                  <a:spcPts val="2628"/>
                </a:lnSpc>
              </a:pPr>
              <a:r>
                <a:rPr lang="en-US" sz="2022" b="1" spc="20" dirty="0">
                  <a:solidFill>
                    <a:srgbClr val="FFFFFF"/>
                  </a:solidFill>
                  <a:latin typeface="Poppins Bold"/>
                  <a:ea typeface="Poppins Bold"/>
                  <a:cs typeface="Poppins Bold"/>
                  <a:sym typeface="Poppins Bold"/>
                </a:rPr>
                <a:t>VOLVER</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9976" y="10066906"/>
            <a:ext cx="23130739" cy="2888923"/>
          </a:xfrm>
          <a:custGeom>
            <a:avLst/>
            <a:gdLst/>
            <a:ahLst/>
            <a:cxnLst/>
            <a:rect l="l" t="t" r="r" b="b"/>
            <a:pathLst>
              <a:path w="23130739" h="2888923">
                <a:moveTo>
                  <a:pt x="0" y="0"/>
                </a:moveTo>
                <a:lnTo>
                  <a:pt x="23130738" y="0"/>
                </a:lnTo>
                <a:lnTo>
                  <a:pt x="23130738" y="2888923"/>
                </a:lnTo>
                <a:lnTo>
                  <a:pt x="0" y="28889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629250" y="509054"/>
            <a:ext cx="681247" cy="505444"/>
          </a:xfrm>
          <a:custGeom>
            <a:avLst/>
            <a:gdLst/>
            <a:ahLst/>
            <a:cxnLst/>
            <a:rect l="l" t="t" r="r" b="b"/>
            <a:pathLst>
              <a:path w="681247" h="505444">
                <a:moveTo>
                  <a:pt x="0" y="0"/>
                </a:moveTo>
                <a:lnTo>
                  <a:pt x="681247" y="0"/>
                </a:lnTo>
                <a:lnTo>
                  <a:pt x="681247" y="505444"/>
                </a:lnTo>
                <a:lnTo>
                  <a:pt x="0" y="505444"/>
                </a:lnTo>
                <a:lnTo>
                  <a:pt x="0" y="0"/>
                </a:lnTo>
                <a:close/>
              </a:path>
            </a:pathLst>
          </a:custGeom>
          <a:blipFill>
            <a:blip r:embed="rId4">
              <a:extLst>
                <a:ext uri="{96DAC541-7B7A-43D3-8B79-37D633B846F1}">
                  <asvg:svgBlip xmlns:asvg="http://schemas.microsoft.com/office/drawing/2016/SVG/main" r:embed="rId5"/>
                </a:ext>
              </a:extLst>
            </a:blip>
            <a:stretch>
              <a:fillRect t="-542" b="-544"/>
            </a:stretch>
          </a:blipFill>
        </p:spPr>
      </p:sp>
      <p:sp>
        <p:nvSpPr>
          <p:cNvPr id="4" name="Freeform 4"/>
          <p:cNvSpPr/>
          <p:nvPr/>
        </p:nvSpPr>
        <p:spPr>
          <a:xfrm>
            <a:off x="696211" y="144008"/>
            <a:ext cx="1433332" cy="1700832"/>
          </a:xfrm>
          <a:custGeom>
            <a:avLst/>
            <a:gdLst/>
            <a:ahLst/>
            <a:cxnLst/>
            <a:rect l="l" t="t" r="r" b="b"/>
            <a:pathLst>
              <a:path w="1433332" h="1700832">
                <a:moveTo>
                  <a:pt x="0" y="0"/>
                </a:moveTo>
                <a:lnTo>
                  <a:pt x="1433331" y="0"/>
                </a:lnTo>
                <a:lnTo>
                  <a:pt x="1433331" y="1700832"/>
                </a:lnTo>
                <a:lnTo>
                  <a:pt x="0" y="17008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2069402" y="2426677"/>
            <a:ext cx="14149196" cy="3024391"/>
          </a:xfrm>
          <a:custGeom>
            <a:avLst/>
            <a:gdLst/>
            <a:ahLst/>
            <a:cxnLst/>
            <a:rect l="l" t="t" r="r" b="b"/>
            <a:pathLst>
              <a:path w="14149196" h="3024391">
                <a:moveTo>
                  <a:pt x="0" y="0"/>
                </a:moveTo>
                <a:lnTo>
                  <a:pt x="14149196" y="0"/>
                </a:lnTo>
                <a:lnTo>
                  <a:pt x="14149196" y="3024391"/>
                </a:lnTo>
                <a:lnTo>
                  <a:pt x="0" y="3024391"/>
                </a:lnTo>
                <a:lnTo>
                  <a:pt x="0" y="0"/>
                </a:lnTo>
                <a:close/>
              </a:path>
            </a:pathLst>
          </a:custGeom>
          <a:blipFill>
            <a:blip r:embed="rId8"/>
            <a:stretch>
              <a:fillRect/>
            </a:stretch>
          </a:blipFill>
        </p:spPr>
      </p:sp>
      <p:sp>
        <p:nvSpPr>
          <p:cNvPr id="6" name="TextBox 6"/>
          <p:cNvSpPr txBox="1"/>
          <p:nvPr/>
        </p:nvSpPr>
        <p:spPr>
          <a:xfrm>
            <a:off x="2432561" y="1042683"/>
            <a:ext cx="9187529" cy="531927"/>
          </a:xfrm>
          <a:prstGeom prst="rect">
            <a:avLst/>
          </a:prstGeom>
        </p:spPr>
        <p:txBody>
          <a:bodyPr lIns="0" tIns="0" rIns="0" bIns="0" rtlCol="0" anchor="t">
            <a:spAutoFit/>
          </a:bodyPr>
          <a:lstStyle/>
          <a:p>
            <a:pPr algn="l">
              <a:lnSpc>
                <a:spcPts val="3886"/>
              </a:lnSpc>
            </a:pPr>
            <a:r>
              <a:rPr lang="en-US" sz="4417">
                <a:solidFill>
                  <a:srgbClr val="009BF8"/>
                </a:solidFill>
                <a:latin typeface="Lovelo"/>
                <a:ea typeface="Lovelo"/>
                <a:cs typeface="Lovelo"/>
                <a:sym typeface="Lovelo"/>
              </a:rPr>
              <a:t>DevoluciÓn equipos hp 2026</a:t>
            </a:r>
          </a:p>
        </p:txBody>
      </p:sp>
      <p:grpSp>
        <p:nvGrpSpPr>
          <p:cNvPr id="7" name="Group 7"/>
          <p:cNvGrpSpPr/>
          <p:nvPr/>
        </p:nvGrpSpPr>
        <p:grpSpPr>
          <a:xfrm>
            <a:off x="2069402" y="6179806"/>
            <a:ext cx="14149196" cy="2316494"/>
            <a:chOff x="0" y="0"/>
            <a:chExt cx="5565884" cy="911242"/>
          </a:xfrm>
        </p:grpSpPr>
        <p:sp>
          <p:nvSpPr>
            <p:cNvPr id="8" name="Freeform 8"/>
            <p:cNvSpPr/>
            <p:nvPr/>
          </p:nvSpPr>
          <p:spPr>
            <a:xfrm>
              <a:off x="0" y="0"/>
              <a:ext cx="5565884" cy="911242"/>
            </a:xfrm>
            <a:custGeom>
              <a:avLst/>
              <a:gdLst/>
              <a:ahLst/>
              <a:cxnLst/>
              <a:rect l="l" t="t" r="r" b="b"/>
              <a:pathLst>
                <a:path w="5565884" h="911242">
                  <a:moveTo>
                    <a:pt x="26264" y="0"/>
                  </a:moveTo>
                  <a:lnTo>
                    <a:pt x="5539620" y="0"/>
                  </a:lnTo>
                  <a:cubicBezTo>
                    <a:pt x="5546586" y="0"/>
                    <a:pt x="5553266" y="2767"/>
                    <a:pt x="5558192" y="7692"/>
                  </a:cubicBezTo>
                  <a:cubicBezTo>
                    <a:pt x="5563117" y="12618"/>
                    <a:pt x="5565884" y="19298"/>
                    <a:pt x="5565884" y="26264"/>
                  </a:cubicBezTo>
                  <a:lnTo>
                    <a:pt x="5565884" y="884978"/>
                  </a:lnTo>
                  <a:cubicBezTo>
                    <a:pt x="5565884" y="899483"/>
                    <a:pt x="5554126" y="911242"/>
                    <a:pt x="5539620" y="911242"/>
                  </a:cubicBezTo>
                  <a:lnTo>
                    <a:pt x="26264" y="911242"/>
                  </a:lnTo>
                  <a:cubicBezTo>
                    <a:pt x="11759" y="911242"/>
                    <a:pt x="0" y="899483"/>
                    <a:pt x="0" y="884978"/>
                  </a:cubicBezTo>
                  <a:lnTo>
                    <a:pt x="0" y="26264"/>
                  </a:lnTo>
                  <a:cubicBezTo>
                    <a:pt x="0" y="11759"/>
                    <a:pt x="11759" y="0"/>
                    <a:pt x="26264" y="0"/>
                  </a:cubicBezTo>
                  <a:close/>
                </a:path>
              </a:pathLst>
            </a:custGeom>
            <a:ln w="38100" cap="rnd">
              <a:solidFill>
                <a:srgbClr val="009BF8"/>
              </a:solidFill>
              <a:prstDash val="solid"/>
              <a:round/>
            </a:ln>
          </p:spPr>
        </p:sp>
        <p:sp>
          <p:nvSpPr>
            <p:cNvPr id="9" name="TextBox 9"/>
            <p:cNvSpPr txBox="1"/>
            <p:nvPr/>
          </p:nvSpPr>
          <p:spPr>
            <a:xfrm>
              <a:off x="0" y="-133350"/>
              <a:ext cx="5565884" cy="1044592"/>
            </a:xfrm>
            <a:prstGeom prst="rect">
              <a:avLst/>
            </a:prstGeom>
          </p:spPr>
          <p:txBody>
            <a:bodyPr lIns="50800" tIns="50800" rIns="50800" bIns="50800" rtlCol="0" anchor="ctr"/>
            <a:lstStyle/>
            <a:p>
              <a:pPr algn="ctr">
                <a:lnSpc>
                  <a:spcPts val="3520"/>
                </a:lnSpc>
              </a:pPr>
              <a:endParaRPr/>
            </a:p>
          </p:txBody>
        </p:sp>
      </p:grpSp>
      <p:grpSp>
        <p:nvGrpSpPr>
          <p:cNvPr id="10" name="Group 10"/>
          <p:cNvGrpSpPr/>
          <p:nvPr/>
        </p:nvGrpSpPr>
        <p:grpSpPr>
          <a:xfrm>
            <a:off x="2486552" y="5688685"/>
            <a:ext cx="3436143" cy="649035"/>
            <a:chOff x="0" y="0"/>
            <a:chExt cx="1351679" cy="255312"/>
          </a:xfrm>
        </p:grpSpPr>
        <p:sp>
          <p:nvSpPr>
            <p:cNvPr id="11" name="Freeform 11"/>
            <p:cNvSpPr/>
            <p:nvPr/>
          </p:nvSpPr>
          <p:spPr>
            <a:xfrm>
              <a:off x="0" y="0"/>
              <a:ext cx="1351679" cy="255312"/>
            </a:xfrm>
            <a:custGeom>
              <a:avLst/>
              <a:gdLst/>
              <a:ahLst/>
              <a:cxnLst/>
              <a:rect l="l" t="t" r="r" b="b"/>
              <a:pathLst>
                <a:path w="1351679" h="255312">
                  <a:moveTo>
                    <a:pt x="108148" y="0"/>
                  </a:moveTo>
                  <a:lnTo>
                    <a:pt x="1243531" y="0"/>
                  </a:lnTo>
                  <a:cubicBezTo>
                    <a:pt x="1303260" y="0"/>
                    <a:pt x="1351679" y="48420"/>
                    <a:pt x="1351679" y="108148"/>
                  </a:cubicBezTo>
                  <a:lnTo>
                    <a:pt x="1351679" y="147164"/>
                  </a:lnTo>
                  <a:cubicBezTo>
                    <a:pt x="1351679" y="206892"/>
                    <a:pt x="1303260" y="255312"/>
                    <a:pt x="1243531" y="255312"/>
                  </a:cubicBezTo>
                  <a:lnTo>
                    <a:pt x="108148" y="255312"/>
                  </a:lnTo>
                  <a:cubicBezTo>
                    <a:pt x="79465" y="255312"/>
                    <a:pt x="51958" y="243917"/>
                    <a:pt x="31676" y="223636"/>
                  </a:cubicBezTo>
                  <a:cubicBezTo>
                    <a:pt x="11394" y="203354"/>
                    <a:pt x="0" y="175846"/>
                    <a:pt x="0" y="147164"/>
                  </a:cubicBezTo>
                  <a:lnTo>
                    <a:pt x="0" y="108148"/>
                  </a:lnTo>
                  <a:cubicBezTo>
                    <a:pt x="0" y="48420"/>
                    <a:pt x="48420" y="0"/>
                    <a:pt x="108148" y="0"/>
                  </a:cubicBezTo>
                  <a:close/>
                </a:path>
              </a:pathLst>
            </a:custGeom>
            <a:solidFill>
              <a:srgbClr val="009BF8"/>
            </a:solidFill>
            <a:ln cap="rnd">
              <a:noFill/>
              <a:prstDash val="solid"/>
              <a:round/>
            </a:ln>
          </p:spPr>
        </p:sp>
        <p:sp>
          <p:nvSpPr>
            <p:cNvPr id="12" name="TextBox 12"/>
            <p:cNvSpPr txBox="1"/>
            <p:nvPr/>
          </p:nvSpPr>
          <p:spPr>
            <a:xfrm>
              <a:off x="0" y="-133350"/>
              <a:ext cx="1351679" cy="388662"/>
            </a:xfrm>
            <a:prstGeom prst="rect">
              <a:avLst/>
            </a:prstGeom>
          </p:spPr>
          <p:txBody>
            <a:bodyPr lIns="50800" tIns="50800" rIns="50800" bIns="50800" rtlCol="0" anchor="ctr"/>
            <a:lstStyle/>
            <a:p>
              <a:pPr algn="ctr">
                <a:lnSpc>
                  <a:spcPts val="3520"/>
                </a:lnSpc>
              </a:pPr>
              <a:endParaRPr/>
            </a:p>
          </p:txBody>
        </p:sp>
      </p:grpSp>
      <p:sp>
        <p:nvSpPr>
          <p:cNvPr id="13" name="TextBox 13"/>
          <p:cNvSpPr txBox="1"/>
          <p:nvPr/>
        </p:nvSpPr>
        <p:spPr>
          <a:xfrm>
            <a:off x="2732924" y="5919536"/>
            <a:ext cx="2943398" cy="234956"/>
          </a:xfrm>
          <a:prstGeom prst="rect">
            <a:avLst/>
          </a:prstGeom>
        </p:spPr>
        <p:txBody>
          <a:bodyPr lIns="0" tIns="0" rIns="0" bIns="0" rtlCol="0" anchor="t">
            <a:spAutoFit/>
          </a:bodyPr>
          <a:lstStyle/>
          <a:p>
            <a:pPr marL="0" lvl="0" indent="0" algn="l">
              <a:lnSpc>
                <a:spcPts val="1655"/>
              </a:lnSpc>
            </a:pPr>
            <a:r>
              <a:rPr lang="en-US" sz="1880">
                <a:solidFill>
                  <a:srgbClr val="FFFFFF"/>
                </a:solidFill>
                <a:latin typeface="Lovelo"/>
                <a:ea typeface="Lovelo"/>
                <a:cs typeface="Lovelo"/>
                <a:sym typeface="Lovelo"/>
              </a:rPr>
              <a:t>OBSERVACIONES</a:t>
            </a:r>
          </a:p>
        </p:txBody>
      </p:sp>
      <p:sp>
        <p:nvSpPr>
          <p:cNvPr id="14" name="TextBox 14"/>
          <p:cNvSpPr txBox="1"/>
          <p:nvPr/>
        </p:nvSpPr>
        <p:spPr>
          <a:xfrm>
            <a:off x="2738960" y="6654914"/>
            <a:ext cx="12810079" cy="1328178"/>
          </a:xfrm>
          <a:prstGeom prst="rect">
            <a:avLst/>
          </a:prstGeom>
        </p:spPr>
        <p:txBody>
          <a:bodyPr lIns="0" tIns="0" rIns="0" bIns="0" rtlCol="0" anchor="t">
            <a:spAutoFit/>
          </a:bodyPr>
          <a:lstStyle/>
          <a:p>
            <a:pPr algn="l">
              <a:lnSpc>
                <a:spcPts val="2658"/>
              </a:lnSpc>
            </a:pPr>
            <a:r>
              <a:rPr lang="en-US" sz="2026">
                <a:solidFill>
                  <a:srgbClr val="000000"/>
                </a:solidFill>
                <a:latin typeface="Poppins"/>
                <a:ea typeface="Poppins"/>
                <a:cs typeface="Poppins"/>
                <a:sym typeface="Poppins"/>
              </a:rPr>
              <a:t>Los equipos cuentan con procesadores fabricados en marzo de 2021. De acuerdo con la política de ciclo de vida de Microsoft, el soporte para hardware compatible con sistemas operativos actuales suele contemplar una vigencia aproximada de 6 a 8 años, por lo que se sugiere considerar su renovación dentro del marco de soporte vigente.</a:t>
            </a:r>
          </a:p>
        </p:txBody>
      </p:sp>
      <p:sp>
        <p:nvSpPr>
          <p:cNvPr id="15" name="Freeform 15"/>
          <p:cNvSpPr/>
          <p:nvPr/>
        </p:nvSpPr>
        <p:spPr>
          <a:xfrm>
            <a:off x="902418" y="761776"/>
            <a:ext cx="1020917" cy="703374"/>
          </a:xfrm>
          <a:custGeom>
            <a:avLst/>
            <a:gdLst/>
            <a:ahLst/>
            <a:cxnLst/>
            <a:rect l="l" t="t" r="r" b="b"/>
            <a:pathLst>
              <a:path w="1020917" h="703374">
                <a:moveTo>
                  <a:pt x="0" y="0"/>
                </a:moveTo>
                <a:lnTo>
                  <a:pt x="1020917" y="0"/>
                </a:lnTo>
                <a:lnTo>
                  <a:pt x="1020917" y="703374"/>
                </a:lnTo>
                <a:lnTo>
                  <a:pt x="0" y="703374"/>
                </a:lnTo>
                <a:lnTo>
                  <a:pt x="0" y="0"/>
                </a:lnTo>
                <a:close/>
              </a:path>
            </a:pathLst>
          </a:custGeom>
          <a:blipFill>
            <a:blip r:embed="rId9">
              <a:extLst>
                <a:ext uri="{96DAC541-7B7A-43D3-8B79-37D633B846F1}">
                  <asvg:svgBlip xmlns:asvg="http://schemas.microsoft.com/office/drawing/2016/SVG/main" r:embed="rId10"/>
                </a:ext>
              </a:extLst>
            </a:blip>
            <a:stretch>
              <a:fillRect t="-484" b="-486"/>
            </a:stretch>
          </a:blipFill>
        </p:spPr>
      </p:sp>
      <p:grpSp>
        <p:nvGrpSpPr>
          <p:cNvPr id="22" name="Group 35">
            <a:extLst>
              <a:ext uri="{FF2B5EF4-FFF2-40B4-BE49-F238E27FC236}">
                <a16:creationId xmlns:a16="http://schemas.microsoft.com/office/drawing/2014/main" id="{295DD80D-816F-44AA-8AC0-2F23D8369F96}"/>
              </a:ext>
            </a:extLst>
          </p:cNvPr>
          <p:cNvGrpSpPr/>
          <p:nvPr/>
        </p:nvGrpSpPr>
        <p:grpSpPr>
          <a:xfrm>
            <a:off x="14078317" y="8878423"/>
            <a:ext cx="3180983" cy="705000"/>
            <a:chOff x="0" y="0"/>
            <a:chExt cx="4241311" cy="940001"/>
          </a:xfrm>
        </p:grpSpPr>
        <p:grpSp>
          <p:nvGrpSpPr>
            <p:cNvPr id="23" name="Group 36">
              <a:extLst>
                <a:ext uri="{FF2B5EF4-FFF2-40B4-BE49-F238E27FC236}">
                  <a16:creationId xmlns:a16="http://schemas.microsoft.com/office/drawing/2014/main" id="{4AB3A231-103F-4C2D-9521-3E215477278A}"/>
                </a:ext>
              </a:extLst>
            </p:cNvPr>
            <p:cNvGrpSpPr/>
            <p:nvPr/>
          </p:nvGrpSpPr>
          <p:grpSpPr>
            <a:xfrm>
              <a:off x="0" y="0"/>
              <a:ext cx="4241311" cy="940001"/>
              <a:chOff x="0" y="0"/>
              <a:chExt cx="746060" cy="165349"/>
            </a:xfrm>
          </p:grpSpPr>
          <p:sp>
            <p:nvSpPr>
              <p:cNvPr id="26" name="Freeform 37">
                <a:hlinkClick r:id="rId11" action="ppaction://hlinksldjump"/>
                <a:extLst>
                  <a:ext uri="{FF2B5EF4-FFF2-40B4-BE49-F238E27FC236}">
                    <a16:creationId xmlns:a16="http://schemas.microsoft.com/office/drawing/2014/main" id="{CB4AB224-242E-47B2-A06D-92E1F7CB6D71}"/>
                  </a:ext>
                </a:extLst>
              </p:cNvPr>
              <p:cNvSpPr/>
              <p:nvPr/>
            </p:nvSpPr>
            <p:spPr>
              <a:xfrm>
                <a:off x="0" y="0"/>
                <a:ext cx="746060" cy="165349"/>
              </a:xfrm>
              <a:custGeom>
                <a:avLst/>
                <a:gdLst/>
                <a:ahLst/>
                <a:cxnLst/>
                <a:rect l="l" t="t" r="r" b="b"/>
                <a:pathLst>
                  <a:path w="746060" h="165349">
                    <a:moveTo>
                      <a:pt x="82675" y="0"/>
                    </a:moveTo>
                    <a:lnTo>
                      <a:pt x="663386" y="0"/>
                    </a:lnTo>
                    <a:cubicBezTo>
                      <a:pt x="709046" y="0"/>
                      <a:pt x="746060" y="37015"/>
                      <a:pt x="746060" y="82675"/>
                    </a:cubicBezTo>
                    <a:lnTo>
                      <a:pt x="746060" y="82675"/>
                    </a:lnTo>
                    <a:cubicBezTo>
                      <a:pt x="746060" y="128334"/>
                      <a:pt x="709046" y="165349"/>
                      <a:pt x="663386" y="165349"/>
                    </a:cubicBezTo>
                    <a:lnTo>
                      <a:pt x="82675" y="165349"/>
                    </a:lnTo>
                    <a:cubicBezTo>
                      <a:pt x="37015" y="165349"/>
                      <a:pt x="0" y="128334"/>
                      <a:pt x="0" y="82675"/>
                    </a:cubicBezTo>
                    <a:lnTo>
                      <a:pt x="0" y="82675"/>
                    </a:lnTo>
                    <a:cubicBezTo>
                      <a:pt x="0" y="37015"/>
                      <a:pt x="37015" y="0"/>
                      <a:pt x="82675" y="0"/>
                    </a:cubicBezTo>
                    <a:close/>
                  </a:path>
                </a:pathLst>
              </a:custGeom>
              <a:solidFill>
                <a:srgbClr val="009BF8"/>
              </a:solidFill>
            </p:spPr>
          </p:sp>
          <p:sp>
            <p:nvSpPr>
              <p:cNvPr id="27" name="TextBox 38">
                <a:extLst>
                  <a:ext uri="{FF2B5EF4-FFF2-40B4-BE49-F238E27FC236}">
                    <a16:creationId xmlns:a16="http://schemas.microsoft.com/office/drawing/2014/main" id="{219D7871-59A0-4617-80A1-D6BFB1129F92}"/>
                  </a:ext>
                </a:extLst>
              </p:cNvPr>
              <p:cNvSpPr txBox="1"/>
              <p:nvPr/>
            </p:nvSpPr>
            <p:spPr>
              <a:xfrm>
                <a:off x="0" y="-133350"/>
                <a:ext cx="746060" cy="298699"/>
              </a:xfrm>
              <a:prstGeom prst="rect">
                <a:avLst/>
              </a:prstGeom>
            </p:spPr>
            <p:txBody>
              <a:bodyPr lIns="50800" tIns="50800" rIns="50800" bIns="50800" rtlCol="0" anchor="ctr"/>
              <a:lstStyle/>
              <a:p>
                <a:pPr algn="ctr">
                  <a:lnSpc>
                    <a:spcPts val="3520"/>
                  </a:lnSpc>
                </a:pPr>
                <a:endParaRPr/>
              </a:p>
            </p:txBody>
          </p:sp>
        </p:grpSp>
        <p:sp>
          <p:nvSpPr>
            <p:cNvPr id="24" name="Freeform 39">
              <a:extLst>
                <a:ext uri="{FF2B5EF4-FFF2-40B4-BE49-F238E27FC236}">
                  <a16:creationId xmlns:a16="http://schemas.microsoft.com/office/drawing/2014/main" id="{3EAD3594-8D62-4E98-B093-21654F460201}"/>
                </a:ext>
              </a:extLst>
            </p:cNvPr>
            <p:cNvSpPr/>
            <p:nvPr/>
          </p:nvSpPr>
          <p:spPr>
            <a:xfrm>
              <a:off x="2750498" y="204243"/>
              <a:ext cx="531514" cy="531514"/>
            </a:xfrm>
            <a:custGeom>
              <a:avLst/>
              <a:gdLst/>
              <a:ahLst/>
              <a:cxnLst/>
              <a:rect l="l" t="t" r="r" b="b"/>
              <a:pathLst>
                <a:path w="531514" h="531514">
                  <a:moveTo>
                    <a:pt x="0" y="0"/>
                  </a:moveTo>
                  <a:lnTo>
                    <a:pt x="531514" y="0"/>
                  </a:lnTo>
                  <a:lnTo>
                    <a:pt x="531514" y="531514"/>
                  </a:lnTo>
                  <a:lnTo>
                    <a:pt x="0" y="53151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5" name="TextBox 40">
              <a:extLst>
                <a:ext uri="{FF2B5EF4-FFF2-40B4-BE49-F238E27FC236}">
                  <a16:creationId xmlns:a16="http://schemas.microsoft.com/office/drawing/2014/main" id="{EEB61814-6FEF-4390-91D6-5EFE8B539D0C}"/>
                </a:ext>
              </a:extLst>
            </p:cNvPr>
            <p:cNvSpPr txBox="1"/>
            <p:nvPr/>
          </p:nvSpPr>
          <p:spPr>
            <a:xfrm>
              <a:off x="1244111" y="249399"/>
              <a:ext cx="1422400" cy="430203"/>
            </a:xfrm>
            <a:prstGeom prst="rect">
              <a:avLst/>
            </a:prstGeom>
          </p:spPr>
          <p:txBody>
            <a:bodyPr wrap="square" lIns="0" tIns="0" rIns="0" bIns="0" rtlCol="0" anchor="t">
              <a:spAutoFit/>
            </a:bodyPr>
            <a:lstStyle/>
            <a:p>
              <a:pPr marL="0" lvl="0" indent="0" algn="l">
                <a:lnSpc>
                  <a:spcPts val="2628"/>
                </a:lnSpc>
              </a:pPr>
              <a:r>
                <a:rPr lang="en-US" sz="2022" b="1" spc="20" dirty="0">
                  <a:solidFill>
                    <a:srgbClr val="FFFFFF"/>
                  </a:solidFill>
                  <a:latin typeface="Poppins Bold"/>
                  <a:ea typeface="Poppins Bold"/>
                  <a:cs typeface="Poppins Bold"/>
                  <a:sym typeface="Poppins Bold"/>
                </a:rPr>
                <a:t>VOLVER</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1052</Words>
  <Application>Microsoft Office PowerPoint</Application>
  <PresentationFormat>Personalizado</PresentationFormat>
  <Paragraphs>281</Paragraphs>
  <Slides>18</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Muli Bold</vt:lpstr>
      <vt:lpstr>Poppins</vt:lpstr>
      <vt:lpstr>Arial</vt:lpstr>
      <vt:lpstr>Calibri</vt:lpstr>
      <vt:lpstr>Muli</vt:lpstr>
      <vt:lpstr>Lovelo</vt:lpstr>
      <vt:lpstr>Poppins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COMITÉ - OBEJTIVOS 2026</dc:title>
  <dc:creator>USER</dc:creator>
  <cp:lastModifiedBy>Workplace - Gestión Central</cp:lastModifiedBy>
  <cp:revision>5</cp:revision>
  <dcterms:created xsi:type="dcterms:W3CDTF">2006-08-16T00:00:00Z</dcterms:created>
  <dcterms:modified xsi:type="dcterms:W3CDTF">2026-03-05T22:13:32Z</dcterms:modified>
  <dc:identifier>DAHC_5P0TX4</dc:identifier>
</cp:coreProperties>
</file>